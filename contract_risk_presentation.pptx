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charts/chart1.xml" ContentType="application/vnd.openxmlformats-officedocument.drawingml.chart+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Macro-F1</c:v>
                </c:pt>
              </c:strCache>
            </c:strRef>
          </c:tx>
          <c:spPr>
            <a:solidFill>
              <a:srgbClr val="c9933a"/>
            </a:solidFill>
            <a:ln w="0">
              <a:noFill/>
            </a:ln>
          </c:spPr>
          <c:invertIfNegative val="0"/>
          <c:dPt>
            <c:idx val="0"/>
            <c:invertIfNegative val="0"/>
            <c:spPr>
              <a:solidFill>
                <a:srgbClr val="c9933a"/>
              </a:solidFill>
              <a:ln w="0">
                <a:noFill/>
              </a:ln>
            </c:spPr>
          </c:dPt>
          <c:dPt>
            <c:idx val="1"/>
            <c:invertIfNegative val="0"/>
            <c:spPr>
              <a:solidFill>
                <a:srgbClr val="2a4060"/>
              </a:solidFill>
              <a:ln w="0">
                <a:noFill/>
              </a:ln>
            </c:spPr>
          </c:dPt>
          <c:dPt>
            <c:idx val="2"/>
            <c:invertIfNegative val="0"/>
            <c:spPr>
              <a:solidFill>
                <a:srgbClr val="e8ad50"/>
              </a:solidFill>
              <a:ln w="0">
                <a:noFill/>
              </a:ln>
            </c:spPr>
          </c:dPt>
          <c:dPt>
            <c:idx val="3"/>
            <c:invertIfNegative val="0"/>
            <c:spPr>
              <a:solidFill>
                <a:srgbClr val="b8ccdf"/>
              </a:solidFill>
              <a:ln w="0">
                <a:noFill/>
              </a:ln>
            </c:spPr>
          </c:dPt>
          <c:dPt>
            <c:idx val="4"/>
            <c:invertIfNegative val="0"/>
            <c:spPr>
              <a:solidFill>
                <a:srgbClr val="3d5a7a"/>
              </a:solidFill>
              <a:ln w="0">
                <a:noFill/>
              </a:ln>
            </c:spPr>
          </c:dPt>
          <c:dPt>
            <c:idx val="5"/>
            <c:invertIfNegative val="0"/>
            <c:spPr>
              <a:solidFill>
                <a:srgbClr val="2a4060"/>
              </a:solidFill>
              <a:ln w="0">
                <a:noFill/>
              </a:ln>
            </c:spPr>
          </c:dPt>
          <c:dPt>
            <c:idx val="6"/>
            <c:invertIfNegative val="0"/>
            <c:spPr>
              <a:solidFill>
                <a:srgbClr val="1e3050"/>
              </a:solidFill>
              <a:ln w="0">
                <a:noFill/>
              </a:ln>
            </c:spPr>
          </c:dPt>
          <c:dLbls>
            <c:numFmt formatCode="#,##0" sourceLinked="0"/>
            <c:dLbl>
              <c:idx val="0"/>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1"/>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2"/>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3"/>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4"/>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5"/>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dLbl>
              <c:idx val="6"/>
              <c:numFmt formatCode="#,##0" sourceLinked="0"/>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dLbl>
            <c:txPr>
              <a:bodyPr wrap="square"/>
              <a:lstStyle/>
              <a:p>
                <a:pPr>
                  <a:defRPr b="0" sz="1200" strike="noStrike" u="none">
                    <a:solidFill>
                      <a:srgbClr val="f5edd6"/>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LR Baseline</c:v>
                </c:pt>
                <c:pt idx="1">
                  <c:v>RF Classical</c:v>
                </c:pt>
                <c:pt idx="2">
                  <c:v>RF+Threshold</c:v>
                </c:pt>
                <c:pt idx="3">
                  <c:v>LR C=5 Best AUROC</c:v>
                </c:pt>
                <c:pt idx="4">
                  <c:v>MLP-A Best</c:v>
                </c:pt>
                <c:pt idx="5">
                  <c:v>MLP-B</c:v>
                </c:pt>
                <c:pt idx="6">
                  <c:v>MLP-C</c:v>
                </c:pt>
              </c:strCache>
            </c:strRef>
          </c:cat>
          <c:val>
            <c:numRef>
              <c:f>0</c:f>
              <c:numCache>
                <c:formatCode>General</c:formatCode>
                <c:ptCount val="7"/>
                <c:pt idx="0">
                  <c:v>0.6358</c:v>
                </c:pt>
                <c:pt idx="1">
                  <c:v>0.5145</c:v>
                </c:pt>
                <c:pt idx="2">
                  <c:v>0.6533</c:v>
                </c:pt>
                <c:pt idx="3">
                  <c:v>0.6406</c:v>
                </c:pt>
                <c:pt idx="4">
                  <c:v>0.5119</c:v>
                </c:pt>
                <c:pt idx="5">
                  <c:v>0.4465</c:v>
                </c:pt>
                <c:pt idx="6">
                  <c:v>0.4192</c:v>
                </c:pt>
              </c:numCache>
            </c:numRef>
          </c:val>
        </c:ser>
        <c:gapWidth val="150"/>
        <c:overlap val="0"/>
        <c:axId val="75654958"/>
        <c:axId val="59685834"/>
      </c:barChart>
      <c:catAx>
        <c:axId val="75654958"/>
        <c:scaling>
          <c:orientation val="minMax"/>
        </c:scaling>
        <c:delete val="0"/>
        <c:axPos val="b"/>
        <c:numFmt formatCode="General" sourceLinked="0"/>
        <c:majorTickMark val="out"/>
        <c:minorTickMark val="none"/>
        <c:tickLblPos val="low"/>
        <c:spPr>
          <a:ln w="12600">
            <a:noFill/>
          </a:ln>
        </c:spPr>
        <c:txPr>
          <a:bodyPr/>
          <a:lstStyle/>
          <a:p>
            <a:pPr>
              <a:defRPr b="0" sz="1200" strike="noStrike" u="none">
                <a:solidFill>
                  <a:srgbClr val="8ca0bb"/>
                </a:solidFill>
                <a:uFillTx/>
                <a:latin typeface="Arial"/>
              </a:defRPr>
            </a:pPr>
          </a:p>
        </c:txPr>
        <c:crossAx val="59685834"/>
        <c:crosses val="autoZero"/>
        <c:auto val="1"/>
        <c:lblAlgn val="ctr"/>
        <c:lblOffset val="100"/>
        <c:noMultiLvlLbl val="0"/>
      </c:catAx>
      <c:valAx>
        <c:axId val="59685834"/>
        <c:scaling>
          <c:orientation val="minMax"/>
        </c:scaling>
        <c:delete val="0"/>
        <c:axPos val="l"/>
        <c:majorGridlines>
          <c:spPr>
            <a:ln w="6480">
              <a:solidFill>
                <a:srgbClr val="1e3050"/>
              </a:solidFill>
              <a:round/>
            </a:ln>
          </c:spPr>
        </c:majorGridlines>
        <c:numFmt formatCode="General" sourceLinked="0"/>
        <c:majorTickMark val="out"/>
        <c:minorTickMark val="none"/>
        <c:tickLblPos val="nextTo"/>
        <c:spPr>
          <a:ln w="12600">
            <a:noFill/>
          </a:ln>
        </c:spPr>
        <c:txPr>
          <a:bodyPr/>
          <a:lstStyle/>
          <a:p>
            <a:pPr>
              <a:defRPr b="0" sz="1200" strike="noStrike" u="none">
                <a:solidFill>
                  <a:srgbClr val="8ca0bb"/>
                </a:solidFill>
                <a:uFillTx/>
                <a:latin typeface="Arial"/>
              </a:defRPr>
            </a:pPr>
          </a:p>
        </c:txPr>
        <c:crossAx val="75654958"/>
        <c:crosses val="autoZero"/>
        <c:crossBetween val="between"/>
      </c:valAx>
      <c:spPr>
        <a:noFill/>
        <a:ln w="0">
          <a:noFill/>
        </a:ln>
      </c:spPr>
    </c:plotArea>
    <c:plotVisOnly val="1"/>
    <c:dispBlanksAs val="span"/>
  </c:chart>
  <c:spPr>
    <a:solidFill>
      <a:srgbClr val="0a1628"/>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C46DB6F6-6A6E-4991-AEBC-E390AB3F034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685800" y="1143000"/>
            <a:ext cx="5485680" cy="3085560"/>
          </a:xfrm>
          <a:prstGeom prst="rect">
            <a:avLst/>
          </a:prstGeom>
          <a:ln w="0">
            <a:noFill/>
          </a:ln>
        </p:spPr>
      </p:sp>
      <p:sp>
        <p:nvSpPr>
          <p:cNvPr id="5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47"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1EEB400-9BBD-40EF-A62A-B7783CCB18DE}"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685800" y="1143000"/>
            <a:ext cx="5485680" cy="3085560"/>
          </a:xfrm>
          <a:prstGeom prst="rect">
            <a:avLst/>
          </a:prstGeom>
          <a:ln w="0">
            <a:noFill/>
          </a:ln>
        </p:spPr>
      </p:sp>
      <p:sp>
        <p:nvSpPr>
          <p:cNvPr id="54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0"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65593009-A3C2-4073-A489-224CE633FE61}"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685800" y="1143000"/>
            <a:ext cx="5485680" cy="3085560"/>
          </a:xfrm>
          <a:prstGeom prst="rect">
            <a:avLst/>
          </a:prstGeom>
          <a:ln w="0">
            <a:noFill/>
          </a:ln>
        </p:spPr>
      </p:sp>
      <p:sp>
        <p:nvSpPr>
          <p:cNvPr id="5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3"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42CD2ADA-9622-4BCA-973D-2E1B0B9840FD}"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685800" y="1143000"/>
            <a:ext cx="5485680" cy="3085560"/>
          </a:xfrm>
          <a:prstGeom prst="rect">
            <a:avLst/>
          </a:prstGeom>
          <a:ln w="0">
            <a:noFill/>
          </a:ln>
        </p:spPr>
      </p:sp>
      <p:sp>
        <p:nvSpPr>
          <p:cNvPr id="55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6"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AF5F1C8F-F79F-4D22-A1F4-A07B74F5475A}"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685800" y="1143000"/>
            <a:ext cx="5485680" cy="3085560"/>
          </a:xfrm>
          <a:prstGeom prst="rect">
            <a:avLst/>
          </a:prstGeom>
          <a:ln w="0">
            <a:noFill/>
          </a:ln>
        </p:spPr>
      </p:sp>
      <p:sp>
        <p:nvSpPr>
          <p:cNvPr id="55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9"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D34B57D2-8C92-4705-B384-71D9830E7FF2}"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685800" y="1143000"/>
            <a:ext cx="5485680" cy="3085560"/>
          </a:xfrm>
          <a:prstGeom prst="rect">
            <a:avLst/>
          </a:prstGeom>
          <a:ln w="0">
            <a:noFill/>
          </a:ln>
        </p:spPr>
      </p:sp>
      <p:sp>
        <p:nvSpPr>
          <p:cNvPr id="56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62"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7E2FAB2-4B2D-4AAB-8EE7-E7B898537650}"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685800" y="1143000"/>
            <a:ext cx="5485680" cy="3085560"/>
          </a:xfrm>
          <a:prstGeom prst="rect">
            <a:avLst/>
          </a:prstGeom>
          <a:ln w="0">
            <a:noFill/>
          </a:ln>
        </p:spPr>
      </p:sp>
      <p:sp>
        <p:nvSpPr>
          <p:cNvPr id="56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65"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9A3E26DF-2318-4286-8940-CE5DCE61E6FC}" type="slidenum">
              <a:rPr b="0" lang="en-US" sz="1200" strike="noStrike" u="none">
                <a:solidFill>
                  <a:schemeClr val="dk1"/>
                </a:solidFill>
                <a:effectLst/>
                <a:uFillTx/>
                <a:latin typeface="+mn-lt"/>
                <a:ea typeface="+mn-ea"/>
              </a:rPr>
              <a:t>1</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685800" y="1143000"/>
            <a:ext cx="5485680" cy="3085560"/>
          </a:xfrm>
          <a:prstGeom prst="rect">
            <a:avLst/>
          </a:prstGeom>
          <a:ln w="0">
            <a:noFill/>
          </a:ln>
        </p:spPr>
      </p:sp>
      <p:sp>
        <p:nvSpPr>
          <p:cNvPr id="56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68"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5239D7A1-452C-4938-BBF4-FD5B974C296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685800" y="1143000"/>
            <a:ext cx="5485680" cy="3085560"/>
          </a:xfrm>
          <a:prstGeom prst="rect">
            <a:avLst/>
          </a:prstGeom>
          <a:ln w="0">
            <a:noFill/>
          </a:ln>
        </p:spPr>
      </p:sp>
      <p:sp>
        <p:nvSpPr>
          <p:cNvPr id="57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71"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65C682F-26A3-488B-A5F9-C2AC7E892A3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685800" y="1143000"/>
            <a:ext cx="5485680" cy="3085560"/>
          </a:xfrm>
          <a:prstGeom prst="rect">
            <a:avLst/>
          </a:prstGeom>
          <a:ln w="0">
            <a:noFill/>
          </a:ln>
        </p:spPr>
      </p:sp>
      <p:sp>
        <p:nvSpPr>
          <p:cNvPr id="57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74"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1787C480-9C2A-476D-AE69-595040DD77D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685800" y="1143000"/>
            <a:ext cx="5485680" cy="3085560"/>
          </a:xfrm>
          <a:prstGeom prst="rect">
            <a:avLst/>
          </a:prstGeom>
          <a:ln w="0">
            <a:noFill/>
          </a:ln>
        </p:spPr>
      </p:sp>
      <p:sp>
        <p:nvSpPr>
          <p:cNvPr id="57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77"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31AE346-7798-4B28-B76C-DFFC074736E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685800" y="1143000"/>
            <a:ext cx="5485680" cy="3085560"/>
          </a:xfrm>
          <a:prstGeom prst="rect">
            <a:avLst/>
          </a:prstGeom>
          <a:ln w="0">
            <a:noFill/>
          </a:ln>
        </p:spPr>
      </p:sp>
      <p:sp>
        <p:nvSpPr>
          <p:cNvPr id="57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0"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054D9A7-81C2-47BC-9F2F-699C4FD5F24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685800" y="1143000"/>
            <a:ext cx="5485680" cy="3085560"/>
          </a:xfrm>
          <a:prstGeom prst="rect">
            <a:avLst/>
          </a:prstGeom>
          <a:ln w="0">
            <a:noFill/>
          </a:ln>
        </p:spPr>
      </p:sp>
      <p:sp>
        <p:nvSpPr>
          <p:cNvPr id="58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3"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742B6BA5-E6DE-40C6-91BA-2CA7C4DFB12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685800" y="1143000"/>
            <a:ext cx="5485680" cy="3085560"/>
          </a:xfrm>
          <a:prstGeom prst="rect">
            <a:avLst/>
          </a:prstGeom>
          <a:ln w="0">
            <a:noFill/>
          </a:ln>
        </p:spPr>
      </p:sp>
      <p:sp>
        <p:nvSpPr>
          <p:cNvPr id="58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6"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3FEC2F05-B15C-4609-9983-1E2FBEC82E1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685800" y="1143000"/>
            <a:ext cx="5485680" cy="3085560"/>
          </a:xfrm>
          <a:prstGeom prst="rect">
            <a:avLst/>
          </a:prstGeom>
          <a:ln w="0">
            <a:noFill/>
          </a:ln>
        </p:spPr>
      </p:sp>
      <p:sp>
        <p:nvSpPr>
          <p:cNvPr id="58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9"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EEAFE60D-571F-4050-BEE4-3F923DD9FB9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685800" y="1143000"/>
            <a:ext cx="5485680" cy="3085560"/>
          </a:xfrm>
          <a:prstGeom prst="rect">
            <a:avLst/>
          </a:prstGeom>
          <a:ln w="0">
            <a:noFill/>
          </a:ln>
        </p:spPr>
      </p:sp>
      <p:sp>
        <p:nvSpPr>
          <p:cNvPr id="59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92"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6E934DE-EE99-48C6-ACEC-0C5D7D84B6F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a:t>
            </a:r>
            <a:r>
              <a:rPr b="0" lang="en-US" sz="4400" strike="noStrike" u="none">
                <a:solidFill>
                  <a:srgbClr val="000000"/>
                </a:solidFill>
                <a:effectLst/>
                <a:uFillTx/>
                <a:latin typeface="Arial"/>
              </a:rPr>
              <a:t>edit the </a:t>
            </a:r>
            <a:r>
              <a:rPr b="0" lang="en-US" sz="4400" strike="noStrike" u="none">
                <a:solidFill>
                  <a:srgbClr val="000000"/>
                </a:solidFill>
                <a:effectLst/>
                <a:uFillTx/>
                <a:latin typeface="Arial"/>
              </a:rPr>
              <a:t>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8"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 name="Shape 1"/>
          <p:cNvSpPr/>
          <p:nvPr/>
        </p:nvSpPr>
        <p:spPr>
          <a:xfrm>
            <a:off x="6253920" y="1133280"/>
            <a:ext cx="3474000" cy="3474000"/>
          </a:xfrm>
          <a:prstGeom prst="ellipse">
            <a:avLst/>
          </a:prstGeom>
          <a:solidFill>
            <a:srgbClr val="c9933a">
              <a:alpha val="7000"/>
            </a:srgbClr>
          </a:solidFill>
          <a:ln w="12700">
            <a:solidFill>
              <a:srgbClr val="c9933a">
                <a:alpha val="10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 name="Shape 2"/>
          <p:cNvSpPr/>
          <p:nvPr/>
        </p:nvSpPr>
        <p:spPr>
          <a:xfrm>
            <a:off x="6766560" y="1645920"/>
            <a:ext cx="2376720" cy="2376720"/>
          </a:xfrm>
          <a:prstGeom prst="ellipse">
            <a:avLst/>
          </a:prstGeom>
          <a:solidFill>
            <a:srgbClr val="c9933a">
              <a:alpha val="12000"/>
            </a:srgbClr>
          </a:solidFill>
          <a:ln w="12700">
            <a:solidFill>
              <a:srgbClr val="c9933a">
                <a:alpha val="15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 name="Text 3"/>
          <p:cNvSpPr/>
          <p:nvPr/>
        </p:nvSpPr>
        <p:spPr>
          <a:xfrm>
            <a:off x="502920" y="960120"/>
            <a:ext cx="6400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249" strike="noStrike" u="none">
                <a:solidFill>
                  <a:srgbClr val="c9933a"/>
                </a:solidFill>
                <a:effectLst/>
                <a:uFillTx/>
                <a:latin typeface="Calibri"/>
                <a:ea typeface="Calibri"/>
              </a:rPr>
              <a:t>MPS APPLIED MACHINE INTELLIGENCE  ·  NORTHEASTERN ROUX INSTITUTE</a:t>
            </a:r>
            <a:endParaRPr b="0" lang="en-US" sz="900" strike="noStrike" u="none">
              <a:solidFill>
                <a:srgbClr val="ffffff"/>
              </a:solidFill>
              <a:effectLst/>
              <a:uFillTx/>
              <a:latin typeface="Arial"/>
            </a:endParaRPr>
          </a:p>
        </p:txBody>
      </p:sp>
      <p:sp>
        <p:nvSpPr>
          <p:cNvPr id="12" name="Text 4"/>
          <p:cNvSpPr/>
          <p:nvPr/>
        </p:nvSpPr>
        <p:spPr>
          <a:xfrm>
            <a:off x="457200" y="1325880"/>
            <a:ext cx="6582960" cy="19195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5200" strike="noStrike" u="none">
                <a:solidFill>
                  <a:srgbClr val="f5edd6"/>
                </a:solidFill>
                <a:effectLst/>
                <a:uFillTx/>
                <a:latin typeface="Georgia"/>
                <a:ea typeface="Georgia"/>
              </a:rPr>
              <a:t>Contract Risk</a:t>
            </a:r>
            <a:endParaRPr b="0" lang="en-US" sz="5200" strike="noStrike" u="none">
              <a:solidFill>
                <a:srgbClr val="ffffff"/>
              </a:solidFill>
              <a:effectLst/>
              <a:uFillTx/>
              <a:latin typeface="Arial"/>
            </a:endParaRPr>
          </a:p>
          <a:p>
            <a:pPr defTabSz="914400">
              <a:lnSpc>
                <a:spcPct val="110000"/>
              </a:lnSpc>
              <a:tabLst>
                <a:tab algn="l" pos="0"/>
              </a:tabLst>
            </a:pPr>
            <a:r>
              <a:rPr b="1" lang="en-US" sz="5200" strike="noStrike" u="none">
                <a:solidFill>
                  <a:srgbClr val="f5edd6"/>
                </a:solidFill>
                <a:effectLst/>
                <a:uFillTx/>
                <a:latin typeface="Georgia"/>
                <a:ea typeface="Georgia"/>
              </a:rPr>
              <a:t>Scoring Engine</a:t>
            </a:r>
            <a:endParaRPr b="0" lang="en-US" sz="5200" strike="noStrike" u="none">
              <a:solidFill>
                <a:srgbClr val="ffffff"/>
              </a:solidFill>
              <a:effectLst/>
              <a:uFillTx/>
              <a:latin typeface="Arial"/>
            </a:endParaRPr>
          </a:p>
        </p:txBody>
      </p:sp>
      <p:sp>
        <p:nvSpPr>
          <p:cNvPr id="13" name="Text 5"/>
          <p:cNvSpPr/>
          <p:nvPr/>
        </p:nvSpPr>
        <p:spPr>
          <a:xfrm>
            <a:off x="457200" y="3337560"/>
            <a:ext cx="64000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50" strike="noStrike" u="none">
                <a:solidFill>
                  <a:srgbClr val="b8ccdf"/>
                </a:solidFill>
                <a:effectLst/>
                <a:uFillTx/>
                <a:latin typeface="Calibri"/>
                <a:ea typeface="Calibri"/>
              </a:rPr>
              <a:t>How AI reads contracts so your legal team doesn't have to</a:t>
            </a:r>
            <a:endParaRPr b="0" lang="en-US" sz="1550" strike="noStrike" u="none">
              <a:solidFill>
                <a:srgbClr val="ffffff"/>
              </a:solidFill>
              <a:effectLst/>
              <a:uFillTx/>
              <a:latin typeface="Arial"/>
            </a:endParaRPr>
          </a:p>
        </p:txBody>
      </p:sp>
      <p:sp>
        <p:nvSpPr>
          <p:cNvPr id="14" name="Shape 6"/>
          <p:cNvSpPr/>
          <p:nvPr/>
        </p:nvSpPr>
        <p:spPr>
          <a:xfrm>
            <a:off x="457200" y="3840480"/>
            <a:ext cx="1645200" cy="45000"/>
          </a:xfrm>
          <a:prstGeom prst="rect">
            <a:avLst/>
          </a:prstGeom>
          <a:solidFill>
            <a:srgbClr val="c9933a"/>
          </a:solidFill>
          <a:ln w="12700">
            <a:solidFill>
              <a:srgbClr val="c9933a"/>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15" name="Text 7"/>
          <p:cNvSpPr/>
          <p:nvPr/>
        </p:nvSpPr>
        <p:spPr>
          <a:xfrm>
            <a:off x="457200" y="4023360"/>
            <a:ext cx="45712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8ca0bb"/>
                </a:solidFill>
                <a:effectLst/>
                <a:uFillTx/>
                <a:latin typeface="Calibri"/>
                <a:ea typeface="Calibri"/>
              </a:rPr>
              <a:t>Fresnel Fabian  ·  2026</a:t>
            </a:r>
            <a:endParaRPr b="0" lang="en-US" sz="1100" strike="noStrike" u="none">
              <a:solidFill>
                <a:srgbClr val="ffffff"/>
              </a:solidFill>
              <a:effectLst/>
              <a:uFillTx/>
              <a:latin typeface="Arial"/>
            </a:endParaRPr>
          </a:p>
        </p:txBody>
      </p:sp>
      <p:sp>
        <p:nvSpPr>
          <p:cNvPr id="16" name="Shape 8"/>
          <p:cNvSpPr/>
          <p:nvPr/>
        </p:nvSpPr>
        <p:spPr>
          <a:xfrm>
            <a:off x="457200" y="4526280"/>
            <a:ext cx="1919520" cy="438120"/>
          </a:xfrm>
          <a:prstGeom prst="rect">
            <a:avLst/>
          </a:prstGeom>
          <a:solidFill>
            <a:srgbClr val="162440"/>
          </a:solidFill>
          <a:ln w="9525">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 name="Text 9"/>
          <p:cNvSpPr/>
          <p:nvPr/>
        </p:nvSpPr>
        <p:spPr>
          <a:xfrm>
            <a:off x="567000" y="4553640"/>
            <a:ext cx="1736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510  Contracts trained</a:t>
            </a:r>
            <a:endParaRPr b="0" lang="en-US" sz="1050" strike="noStrike" u="none">
              <a:solidFill>
                <a:srgbClr val="ffffff"/>
              </a:solidFill>
              <a:effectLst/>
              <a:uFillTx/>
              <a:latin typeface="Arial"/>
            </a:endParaRPr>
          </a:p>
        </p:txBody>
      </p:sp>
      <p:sp>
        <p:nvSpPr>
          <p:cNvPr id="18" name="Shape 10"/>
          <p:cNvSpPr/>
          <p:nvPr/>
        </p:nvSpPr>
        <p:spPr>
          <a:xfrm>
            <a:off x="2560320" y="4526280"/>
            <a:ext cx="1919520" cy="438120"/>
          </a:xfrm>
          <a:prstGeom prst="rect">
            <a:avLst/>
          </a:prstGeom>
          <a:solidFill>
            <a:srgbClr val="162440"/>
          </a:solidFill>
          <a:ln w="9525">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 name="Text 11"/>
          <p:cNvSpPr/>
          <p:nvPr/>
        </p:nvSpPr>
        <p:spPr>
          <a:xfrm>
            <a:off x="2670120" y="4553640"/>
            <a:ext cx="1736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41  Clause types</a:t>
            </a:r>
            <a:endParaRPr b="0" lang="en-US" sz="1050" strike="noStrike" u="none">
              <a:solidFill>
                <a:srgbClr val="ffffff"/>
              </a:solidFill>
              <a:effectLst/>
              <a:uFillTx/>
              <a:latin typeface="Arial"/>
            </a:endParaRPr>
          </a:p>
        </p:txBody>
      </p:sp>
      <p:sp>
        <p:nvSpPr>
          <p:cNvPr id="20" name="Shape 12"/>
          <p:cNvSpPr/>
          <p:nvPr/>
        </p:nvSpPr>
        <p:spPr>
          <a:xfrm>
            <a:off x="4663440" y="4526280"/>
            <a:ext cx="1919520" cy="438120"/>
          </a:xfrm>
          <a:prstGeom prst="rect">
            <a:avLst/>
          </a:prstGeom>
          <a:solidFill>
            <a:srgbClr val="162440"/>
          </a:solidFill>
          <a:ln w="9525">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 name="Text 13"/>
          <p:cNvSpPr/>
          <p:nvPr/>
        </p:nvSpPr>
        <p:spPr>
          <a:xfrm>
            <a:off x="4773240" y="4553640"/>
            <a:ext cx="1736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5  Model iterations</a:t>
            </a:r>
            <a:endParaRPr b="0" lang="en-US" sz="10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22"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THE PROBLEM</a:t>
            </a:r>
            <a:endParaRPr b="0" lang="en-US" sz="900" strike="noStrike" u="none">
              <a:solidFill>
                <a:srgbClr val="ffffff"/>
              </a:solidFill>
              <a:effectLst/>
              <a:uFillTx/>
              <a:latin typeface="Arial"/>
            </a:endParaRPr>
          </a:p>
        </p:txBody>
      </p:sp>
      <p:sp>
        <p:nvSpPr>
          <p:cNvPr id="24" name="Text 2"/>
          <p:cNvSpPr/>
          <p:nvPr/>
        </p:nvSpPr>
        <p:spPr>
          <a:xfrm>
            <a:off x="457200" y="475560"/>
            <a:ext cx="822888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f5edd6"/>
                </a:solidFill>
                <a:effectLst/>
                <a:uFillTx/>
                <a:latin typeface="Georgia"/>
                <a:ea typeface="Georgia"/>
              </a:rPr>
              <a:t>Legal review is bottlenecked and expensive</a:t>
            </a:r>
            <a:endParaRPr b="0" lang="en-US" sz="2800" strike="noStrike" u="none">
              <a:solidFill>
                <a:srgbClr val="ffffff"/>
              </a:solidFill>
              <a:effectLst/>
              <a:uFillTx/>
              <a:latin typeface="Arial"/>
            </a:endParaRPr>
          </a:p>
        </p:txBody>
      </p:sp>
      <p:sp>
        <p:nvSpPr>
          <p:cNvPr id="25" name="Shape 3"/>
          <p:cNvSpPr/>
          <p:nvPr/>
        </p:nvSpPr>
        <p:spPr>
          <a:xfrm>
            <a:off x="457200" y="1828800"/>
            <a:ext cx="1828440" cy="10508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 name="Shape 4"/>
          <p:cNvSpPr/>
          <p:nvPr/>
        </p:nvSpPr>
        <p:spPr>
          <a:xfrm>
            <a:off x="457200" y="1828800"/>
            <a:ext cx="1828080" cy="45000"/>
          </a:xfrm>
          <a:prstGeom prst="rect">
            <a:avLst/>
          </a:prstGeom>
          <a:solidFill>
            <a:srgbClr val="c0392b"/>
          </a:solidFill>
          <a:ln w="12700">
            <a:solidFill>
              <a:srgbClr val="c0392b"/>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27" name="Text 5"/>
          <p:cNvSpPr/>
          <p:nvPr/>
        </p:nvSpPr>
        <p:spPr>
          <a:xfrm>
            <a:off x="457200" y="1920240"/>
            <a:ext cx="18284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c0392b"/>
                </a:solidFill>
                <a:effectLst/>
                <a:uFillTx/>
                <a:latin typeface="Georgia"/>
                <a:ea typeface="Georgia"/>
              </a:rPr>
              <a:t>$300-$800</a:t>
            </a:r>
            <a:endParaRPr b="0" lang="en-US" sz="2800" strike="noStrike" u="none">
              <a:solidFill>
                <a:srgbClr val="ffffff"/>
              </a:solidFill>
              <a:effectLst/>
              <a:uFillTx/>
              <a:latin typeface="Arial"/>
            </a:endParaRPr>
          </a:p>
        </p:txBody>
      </p:sp>
      <p:sp>
        <p:nvSpPr>
          <p:cNvPr id="28" name="Text 6"/>
          <p:cNvSpPr/>
          <p:nvPr/>
        </p:nvSpPr>
        <p:spPr>
          <a:xfrm>
            <a:off x="594360" y="2487240"/>
            <a:ext cx="155376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50" strike="noStrike" u="none">
                <a:solidFill>
                  <a:srgbClr val="8ca0bb"/>
                </a:solidFill>
                <a:effectLst/>
                <a:uFillTx/>
                <a:latin typeface="Calibri"/>
                <a:ea typeface="Calibri"/>
              </a:rPr>
              <a:t>per hour, attorney review</a:t>
            </a:r>
            <a:endParaRPr b="0" lang="en-US" sz="950" strike="noStrike" u="none">
              <a:solidFill>
                <a:srgbClr val="ffffff"/>
              </a:solidFill>
              <a:effectLst/>
              <a:uFillTx/>
              <a:latin typeface="Arial"/>
            </a:endParaRPr>
          </a:p>
        </p:txBody>
      </p:sp>
      <p:sp>
        <p:nvSpPr>
          <p:cNvPr id="29" name="Shape 7"/>
          <p:cNvSpPr/>
          <p:nvPr/>
        </p:nvSpPr>
        <p:spPr>
          <a:xfrm>
            <a:off x="2633400" y="1828800"/>
            <a:ext cx="1828080" cy="10508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 name="Shape 8"/>
          <p:cNvSpPr/>
          <p:nvPr/>
        </p:nvSpPr>
        <p:spPr>
          <a:xfrm>
            <a:off x="2633400" y="1828800"/>
            <a:ext cx="1828080" cy="45000"/>
          </a:xfrm>
          <a:prstGeom prst="rect">
            <a:avLst/>
          </a:prstGeom>
          <a:solidFill>
            <a:srgbClr val="c9933a"/>
          </a:solidFill>
          <a:ln w="12700">
            <a:solidFill>
              <a:srgbClr val="c9933a"/>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31" name="Text 9"/>
          <p:cNvSpPr/>
          <p:nvPr/>
        </p:nvSpPr>
        <p:spPr>
          <a:xfrm>
            <a:off x="2770560" y="1920240"/>
            <a:ext cx="155376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c9933a"/>
                </a:solidFill>
                <a:effectLst/>
                <a:uFillTx/>
                <a:latin typeface="Georgia"/>
                <a:ea typeface="Georgia"/>
              </a:rPr>
              <a:t>200–500</a:t>
            </a:r>
            <a:endParaRPr b="0" lang="en-US" sz="3000" strike="noStrike" u="none">
              <a:solidFill>
                <a:srgbClr val="ffffff"/>
              </a:solidFill>
              <a:effectLst/>
              <a:uFillTx/>
              <a:latin typeface="Arial"/>
            </a:endParaRPr>
          </a:p>
        </p:txBody>
      </p:sp>
      <p:sp>
        <p:nvSpPr>
          <p:cNvPr id="32" name="Text 10"/>
          <p:cNvSpPr/>
          <p:nvPr/>
        </p:nvSpPr>
        <p:spPr>
          <a:xfrm>
            <a:off x="2770560" y="2487240"/>
            <a:ext cx="155376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50" strike="noStrike" u="none">
                <a:solidFill>
                  <a:srgbClr val="8ca0bb"/>
                </a:solidFill>
                <a:effectLst/>
                <a:uFillTx/>
                <a:latin typeface="Calibri"/>
                <a:ea typeface="Calibri"/>
              </a:rPr>
              <a:t>contracts signed per year</a:t>
            </a:r>
            <a:endParaRPr b="0" lang="en-US" sz="950" strike="noStrike" u="none">
              <a:solidFill>
                <a:srgbClr val="ffffff"/>
              </a:solidFill>
              <a:effectLst/>
              <a:uFillTx/>
              <a:latin typeface="Arial"/>
            </a:endParaRPr>
          </a:p>
        </p:txBody>
      </p:sp>
      <p:sp>
        <p:nvSpPr>
          <p:cNvPr id="33" name="Shape 11"/>
          <p:cNvSpPr/>
          <p:nvPr/>
        </p:nvSpPr>
        <p:spPr>
          <a:xfrm>
            <a:off x="4809600" y="1828800"/>
            <a:ext cx="1828080" cy="10508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 name="Shape 12"/>
          <p:cNvSpPr/>
          <p:nvPr/>
        </p:nvSpPr>
        <p:spPr>
          <a:xfrm>
            <a:off x="4809600" y="1828800"/>
            <a:ext cx="1828080" cy="45000"/>
          </a:xfrm>
          <a:prstGeom prst="rect">
            <a:avLst/>
          </a:prstGeom>
          <a:solidFill>
            <a:srgbClr val="c0392b"/>
          </a:solidFill>
          <a:ln w="12700">
            <a:solidFill>
              <a:srgbClr val="c0392b"/>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35" name="Text 13"/>
          <p:cNvSpPr/>
          <p:nvPr/>
        </p:nvSpPr>
        <p:spPr>
          <a:xfrm>
            <a:off x="4946760" y="1920240"/>
            <a:ext cx="155376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c0392b"/>
                </a:solidFill>
                <a:effectLst/>
                <a:uFillTx/>
                <a:latin typeface="Georgia"/>
                <a:ea typeface="Georgia"/>
              </a:rPr>
              <a:t>$200K+</a:t>
            </a:r>
            <a:endParaRPr b="0" lang="en-US" sz="3000" strike="noStrike" u="none">
              <a:solidFill>
                <a:srgbClr val="ffffff"/>
              </a:solidFill>
              <a:effectLst/>
              <a:uFillTx/>
              <a:latin typeface="Arial"/>
            </a:endParaRPr>
          </a:p>
        </p:txBody>
      </p:sp>
      <p:sp>
        <p:nvSpPr>
          <p:cNvPr id="36" name="Text 14"/>
          <p:cNvSpPr/>
          <p:nvPr/>
        </p:nvSpPr>
        <p:spPr>
          <a:xfrm>
            <a:off x="4946760" y="2487240"/>
            <a:ext cx="155376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50" strike="noStrike" u="none">
                <a:solidFill>
                  <a:srgbClr val="8ca0bb"/>
                </a:solidFill>
                <a:effectLst/>
                <a:uFillTx/>
                <a:latin typeface="Calibri"/>
                <a:ea typeface="Calibri"/>
              </a:rPr>
              <a:t>cost of a missed liability clause</a:t>
            </a:r>
            <a:endParaRPr b="0" lang="en-US" sz="950" strike="noStrike" u="none">
              <a:solidFill>
                <a:srgbClr val="ffffff"/>
              </a:solidFill>
              <a:effectLst/>
              <a:uFillTx/>
              <a:latin typeface="Arial"/>
            </a:endParaRPr>
          </a:p>
        </p:txBody>
      </p:sp>
      <p:sp>
        <p:nvSpPr>
          <p:cNvPr id="37" name="Shape 15"/>
          <p:cNvSpPr/>
          <p:nvPr/>
        </p:nvSpPr>
        <p:spPr>
          <a:xfrm>
            <a:off x="6986160" y="1828800"/>
            <a:ext cx="1828080" cy="10508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 name="Shape 16"/>
          <p:cNvSpPr/>
          <p:nvPr/>
        </p:nvSpPr>
        <p:spPr>
          <a:xfrm>
            <a:off x="6986160" y="1828800"/>
            <a:ext cx="1828080" cy="45000"/>
          </a:xfrm>
          <a:prstGeom prst="rect">
            <a:avLst/>
          </a:prstGeom>
          <a:solidFill>
            <a:srgbClr val="1e6b40"/>
          </a:solidFill>
          <a:ln w="12700">
            <a:solidFill>
              <a:srgbClr val="1e6b40"/>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39" name="Text 17"/>
          <p:cNvSpPr/>
          <p:nvPr/>
        </p:nvSpPr>
        <p:spPr>
          <a:xfrm>
            <a:off x="7123320" y="1920240"/>
            <a:ext cx="155376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e6b40"/>
                </a:solidFill>
                <a:effectLst/>
                <a:uFillTx/>
                <a:latin typeface="Georgia"/>
                <a:ea typeface="Georgia"/>
              </a:rPr>
              <a:t>40%</a:t>
            </a:r>
            <a:endParaRPr b="0" lang="en-US" sz="3000" strike="noStrike" u="none">
              <a:solidFill>
                <a:srgbClr val="ffffff"/>
              </a:solidFill>
              <a:effectLst/>
              <a:uFillTx/>
              <a:latin typeface="Arial"/>
            </a:endParaRPr>
          </a:p>
        </p:txBody>
      </p:sp>
      <p:sp>
        <p:nvSpPr>
          <p:cNvPr id="40" name="Text 18"/>
          <p:cNvSpPr/>
          <p:nvPr/>
        </p:nvSpPr>
        <p:spPr>
          <a:xfrm>
            <a:off x="7123320" y="2487240"/>
            <a:ext cx="155376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50" strike="noStrike" u="none">
                <a:solidFill>
                  <a:srgbClr val="8ca0bb"/>
                </a:solidFill>
                <a:effectLst/>
                <a:uFillTx/>
                <a:latin typeface="Calibri"/>
                <a:ea typeface="Calibri"/>
              </a:rPr>
              <a:t>of contracts are low-risk noise</a:t>
            </a:r>
            <a:endParaRPr b="0" lang="en-US" sz="950" strike="noStrike" u="none">
              <a:solidFill>
                <a:srgbClr val="ffffff"/>
              </a:solidFill>
              <a:effectLst/>
              <a:uFillTx/>
              <a:latin typeface="Arial"/>
            </a:endParaRPr>
          </a:p>
        </p:txBody>
      </p:sp>
      <p:sp>
        <p:nvSpPr>
          <p:cNvPr id="41" name="Text 19"/>
          <p:cNvSpPr/>
          <p:nvPr/>
        </p:nvSpPr>
        <p:spPr>
          <a:xfrm>
            <a:off x="457200" y="2999160"/>
            <a:ext cx="2742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201" strike="noStrike" u="none">
                <a:solidFill>
                  <a:srgbClr val="c9933a"/>
                </a:solidFill>
                <a:effectLst/>
                <a:uFillTx/>
                <a:latin typeface="Calibri"/>
                <a:ea typeface="Calibri"/>
              </a:rPr>
              <a:t>The core pain</a:t>
            </a:r>
            <a:endParaRPr b="0" lang="en-US" sz="1100" strike="noStrike" u="none">
              <a:solidFill>
                <a:srgbClr val="ffffff"/>
              </a:solidFill>
              <a:effectLst/>
              <a:uFillTx/>
              <a:latin typeface="Arial"/>
            </a:endParaRPr>
          </a:p>
        </p:txBody>
      </p:sp>
      <p:sp>
        <p:nvSpPr>
          <p:cNvPr id="42" name="Shape 20"/>
          <p:cNvSpPr/>
          <p:nvPr/>
        </p:nvSpPr>
        <p:spPr>
          <a:xfrm>
            <a:off x="457200" y="3310200"/>
            <a:ext cx="8228880" cy="2919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 name="Shape 21"/>
          <p:cNvSpPr/>
          <p:nvPr/>
        </p:nvSpPr>
        <p:spPr>
          <a:xfrm>
            <a:off x="457200" y="3310200"/>
            <a:ext cx="54000" cy="2919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 name="Text 22"/>
          <p:cNvSpPr/>
          <p:nvPr/>
        </p:nvSpPr>
        <p:spPr>
          <a:xfrm>
            <a:off x="658440" y="3328560"/>
            <a:ext cx="7863120" cy="246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Attorneys spend 60–70% of review time on contracts that are routine and low-risk</a:t>
            </a:r>
            <a:endParaRPr b="0" lang="en-US" sz="1100" strike="noStrike" u="none">
              <a:solidFill>
                <a:srgbClr val="ffffff"/>
              </a:solidFill>
              <a:effectLst/>
              <a:uFillTx/>
              <a:latin typeface="Arial"/>
            </a:endParaRPr>
          </a:p>
        </p:txBody>
      </p:sp>
      <p:sp>
        <p:nvSpPr>
          <p:cNvPr id="45" name="Shape 23"/>
          <p:cNvSpPr/>
          <p:nvPr/>
        </p:nvSpPr>
        <p:spPr>
          <a:xfrm>
            <a:off x="457200" y="3657600"/>
            <a:ext cx="8228880" cy="2919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 name="Shape 24"/>
          <p:cNvSpPr/>
          <p:nvPr/>
        </p:nvSpPr>
        <p:spPr>
          <a:xfrm>
            <a:off x="457200" y="3657600"/>
            <a:ext cx="54000" cy="2919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 name="Text 25"/>
          <p:cNvSpPr/>
          <p:nvPr/>
        </p:nvSpPr>
        <p:spPr>
          <a:xfrm>
            <a:off x="658440" y="3675960"/>
            <a:ext cx="7863120" cy="246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A single missed "Uncapped Liability" or "IP Assignment" clause can cost six figures</a:t>
            </a:r>
            <a:endParaRPr b="0" lang="en-US" sz="1100" strike="noStrike" u="none">
              <a:solidFill>
                <a:srgbClr val="ffffff"/>
              </a:solidFill>
              <a:effectLst/>
              <a:uFillTx/>
              <a:latin typeface="Arial"/>
            </a:endParaRPr>
          </a:p>
        </p:txBody>
      </p:sp>
      <p:sp>
        <p:nvSpPr>
          <p:cNvPr id="48" name="Shape 26"/>
          <p:cNvSpPr/>
          <p:nvPr/>
        </p:nvSpPr>
        <p:spPr>
          <a:xfrm>
            <a:off x="457200" y="4005000"/>
            <a:ext cx="8228880" cy="2919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 name="Shape 27"/>
          <p:cNvSpPr/>
          <p:nvPr/>
        </p:nvSpPr>
        <p:spPr>
          <a:xfrm>
            <a:off x="457200" y="4005000"/>
            <a:ext cx="54000" cy="2919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 name="Text 28"/>
          <p:cNvSpPr/>
          <p:nvPr/>
        </p:nvSpPr>
        <p:spPr>
          <a:xfrm>
            <a:off x="658440" y="4023360"/>
            <a:ext cx="7863120" cy="246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Mid-market companies (the target) have 2–3 lawyers reviewing 400+ contracts per year</a:t>
            </a:r>
            <a:endParaRPr b="0" lang="en-US" sz="1100" strike="noStrike" u="none">
              <a:solidFill>
                <a:srgbClr val="ffffff"/>
              </a:solidFill>
              <a:effectLst/>
              <a:uFillTx/>
              <a:latin typeface="Arial"/>
            </a:endParaRPr>
          </a:p>
        </p:txBody>
      </p:sp>
      <p:sp>
        <p:nvSpPr>
          <p:cNvPr id="51" name="Shape 29"/>
          <p:cNvSpPr/>
          <p:nvPr/>
        </p:nvSpPr>
        <p:spPr>
          <a:xfrm>
            <a:off x="457200" y="4352400"/>
            <a:ext cx="8228880" cy="2919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 name="Shape 30"/>
          <p:cNvSpPr/>
          <p:nvPr/>
        </p:nvSpPr>
        <p:spPr>
          <a:xfrm>
            <a:off x="457200" y="4352400"/>
            <a:ext cx="54000" cy="2919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 name="Text 31"/>
          <p:cNvSpPr/>
          <p:nvPr/>
        </p:nvSpPr>
        <p:spPr>
          <a:xfrm>
            <a:off x="658440" y="4370760"/>
            <a:ext cx="7863120" cy="246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No triage system exists — every contract gets the same expensive attorney time</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54"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5"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THE SOLUTION</a:t>
            </a:r>
            <a:endParaRPr b="0" lang="en-US" sz="900" strike="noStrike" u="none">
              <a:solidFill>
                <a:srgbClr val="ffffff"/>
              </a:solidFill>
              <a:effectLst/>
              <a:uFillTx/>
              <a:latin typeface="Arial"/>
            </a:endParaRPr>
          </a:p>
        </p:txBody>
      </p:sp>
      <p:sp>
        <p:nvSpPr>
          <p:cNvPr id="56" name="Text 2"/>
          <p:cNvSpPr/>
          <p:nvPr/>
        </p:nvSpPr>
        <p:spPr>
          <a:xfrm>
            <a:off x="457200" y="502920"/>
            <a:ext cx="8228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5edd6"/>
                </a:solidFill>
                <a:effectLst/>
                <a:uFillTx/>
                <a:latin typeface="Georgia"/>
                <a:ea typeface="Georgia"/>
              </a:rPr>
              <a:t>Lex: AI-powered contract triage</a:t>
            </a:r>
            <a:endParaRPr b="0" lang="en-US" sz="3400" strike="noStrike" u="none">
              <a:solidFill>
                <a:srgbClr val="ffffff"/>
              </a:solidFill>
              <a:effectLst/>
              <a:uFillTx/>
              <a:latin typeface="Arial"/>
            </a:endParaRPr>
          </a:p>
        </p:txBody>
      </p:sp>
      <p:sp>
        <p:nvSpPr>
          <p:cNvPr id="57" name="Text 3"/>
          <p:cNvSpPr/>
          <p:nvPr/>
        </p:nvSpPr>
        <p:spPr>
          <a:xfrm>
            <a:off x="457200" y="1234440"/>
            <a:ext cx="8228880" cy="593640"/>
          </a:xfrm>
          <a:prstGeom prst="rect">
            <a:avLst/>
          </a:prstGeom>
          <a:noFill/>
          <a:ln w="0">
            <a:noFill/>
          </a:ln>
        </p:spPr>
        <p:style>
          <a:lnRef idx="0"/>
          <a:fillRef idx="0"/>
          <a:effectRef idx="0"/>
          <a:fontRef idx="minor"/>
        </p:style>
        <p:txBody>
          <a:bodyPr lIns="0" rIns="0" tIns="0" bIns="0" anchor="ctr">
            <a:noAutofit/>
          </a:bodyPr>
          <a:p>
            <a:pPr defTabSz="914400">
              <a:lnSpc>
                <a:spcPct val="140000"/>
              </a:lnSpc>
              <a:tabLst>
                <a:tab algn="l" pos="0"/>
              </a:tabLst>
            </a:pPr>
            <a:r>
              <a:rPr b="0" lang="en-US" sz="1250" strike="noStrike" u="none">
                <a:solidFill>
                  <a:srgbClr val="b8ccdf"/>
                </a:solidFill>
                <a:effectLst/>
                <a:uFillTx/>
                <a:latin typeface="Calibri"/>
                <a:ea typeface="Calibri"/>
              </a:rPr>
              <a:t>Reads all 41 risky clause types in under 60 seconds. Outputs a ranked risk scorecard with</a:t>
            </a:r>
            <a:endParaRPr b="0" lang="en-US" sz="1250" strike="noStrike" u="none">
              <a:solidFill>
                <a:srgbClr val="ffffff"/>
              </a:solidFill>
              <a:effectLst/>
              <a:uFillTx/>
              <a:latin typeface="Arial"/>
            </a:endParaRPr>
          </a:p>
          <a:p>
            <a:pPr defTabSz="914400">
              <a:lnSpc>
                <a:spcPct val="140000"/>
              </a:lnSpc>
              <a:tabLst>
                <a:tab algn="l" pos="0"/>
              </a:tabLst>
            </a:pPr>
            <a:r>
              <a:rPr b="0" lang="en-US" sz="1250" strike="noStrike" u="none">
                <a:solidFill>
                  <a:srgbClr val="b8ccdf"/>
                </a:solidFill>
                <a:effectLst/>
                <a:uFillTx/>
                <a:latin typeface="Calibri"/>
                <a:ea typeface="Calibri"/>
              </a:rPr>
              <a:t>exact clause text — so attorneys only review what actually needs their attention.</a:t>
            </a:r>
            <a:endParaRPr b="0" lang="en-US" sz="1250" strike="noStrike" u="none">
              <a:solidFill>
                <a:srgbClr val="ffffff"/>
              </a:solidFill>
              <a:effectLst/>
              <a:uFillTx/>
              <a:latin typeface="Arial"/>
            </a:endParaRPr>
          </a:p>
        </p:txBody>
      </p:sp>
      <p:sp>
        <p:nvSpPr>
          <p:cNvPr id="58" name="Shape 4"/>
          <p:cNvSpPr/>
          <p:nvPr/>
        </p:nvSpPr>
        <p:spPr>
          <a:xfrm>
            <a:off x="365760" y="1920240"/>
            <a:ext cx="2651040" cy="26053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9" name="Shape 5"/>
          <p:cNvSpPr/>
          <p:nvPr/>
        </p:nvSpPr>
        <p:spPr>
          <a:xfrm>
            <a:off x="365760" y="1920240"/>
            <a:ext cx="2651040" cy="63360"/>
          </a:xfrm>
          <a:prstGeom prst="rect">
            <a:avLst/>
          </a:prstGeom>
          <a:solidFill>
            <a:srgbClr val="1e6b40"/>
          </a:solidFill>
          <a:ln w="12700">
            <a:solidFill>
              <a:srgbClr val="1e6b40"/>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60" name="Text 6"/>
          <p:cNvSpPr/>
          <p:nvPr/>
        </p:nvSpPr>
        <p:spPr>
          <a:xfrm>
            <a:off x="502920" y="2030040"/>
            <a:ext cx="237672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1e6b40"/>
                </a:solidFill>
                <a:effectLst/>
                <a:uFillTx/>
                <a:latin typeface="Calibri"/>
                <a:ea typeface="Calibri"/>
              </a:rPr>
              <a:t>AUTO-CLEAR</a:t>
            </a:r>
            <a:endParaRPr b="0" lang="en-US" sz="1000" strike="noStrike" u="none">
              <a:solidFill>
                <a:srgbClr val="ffffff"/>
              </a:solidFill>
              <a:effectLst/>
              <a:uFillTx/>
              <a:latin typeface="Arial"/>
            </a:endParaRPr>
          </a:p>
        </p:txBody>
      </p:sp>
      <p:sp>
        <p:nvSpPr>
          <p:cNvPr id="61" name="Text 7"/>
          <p:cNvSpPr/>
          <p:nvPr/>
        </p:nvSpPr>
        <p:spPr>
          <a:xfrm>
            <a:off x="502920" y="2377440"/>
            <a:ext cx="23767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800" strike="noStrike" u="none">
                <a:solidFill>
                  <a:srgbClr val="1e6b40"/>
                </a:solidFill>
                <a:effectLst/>
                <a:uFillTx/>
                <a:latin typeface="Georgia"/>
                <a:ea typeface="Georgia"/>
              </a:rPr>
              <a:t>40%</a:t>
            </a:r>
            <a:endParaRPr b="0" lang="en-US" sz="3800" strike="noStrike" u="none">
              <a:solidFill>
                <a:srgbClr val="ffffff"/>
              </a:solidFill>
              <a:effectLst/>
              <a:uFillTx/>
              <a:latin typeface="Arial"/>
            </a:endParaRPr>
          </a:p>
        </p:txBody>
      </p:sp>
      <p:sp>
        <p:nvSpPr>
          <p:cNvPr id="62" name="Text 8"/>
          <p:cNvSpPr/>
          <p:nvPr/>
        </p:nvSpPr>
        <p:spPr>
          <a:xfrm>
            <a:off x="502920" y="3090600"/>
            <a:ext cx="2376720" cy="7308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100" strike="noStrike" u="none">
                <a:solidFill>
                  <a:srgbClr val="b8ccdf"/>
                </a:solidFill>
                <a:effectLst/>
                <a:uFillTx/>
                <a:latin typeface="Calibri"/>
                <a:ea typeface="Calibri"/>
              </a:rPr>
              <a:t>Routine contracts</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with no significant</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risk clauses detected</a:t>
            </a:r>
            <a:endParaRPr b="0" lang="en-US" sz="1100" strike="noStrike" u="none">
              <a:solidFill>
                <a:srgbClr val="ffffff"/>
              </a:solidFill>
              <a:effectLst/>
              <a:uFillTx/>
              <a:latin typeface="Arial"/>
            </a:endParaRPr>
          </a:p>
        </p:txBody>
      </p:sp>
      <p:sp>
        <p:nvSpPr>
          <p:cNvPr id="63" name="Shape 9"/>
          <p:cNvSpPr/>
          <p:nvPr/>
        </p:nvSpPr>
        <p:spPr>
          <a:xfrm>
            <a:off x="502920" y="4114800"/>
            <a:ext cx="2376720" cy="360"/>
          </a:xfrm>
          <a:prstGeom prst="rect">
            <a:avLst/>
          </a:prstGeom>
          <a:solidFill>
            <a:srgbClr val="1e6b40">
              <a:alpha val="15000"/>
            </a:srgbClr>
          </a:solidFill>
          <a:ln w="6350">
            <a:solidFill>
              <a:srgbClr val="1e6b40">
                <a:alpha val="30000"/>
              </a:srgbClr>
            </a:solidFill>
            <a:round/>
          </a:ln>
        </p:spPr>
        <p:style>
          <a:lnRef idx="0"/>
          <a:fillRef idx="0"/>
          <a:effectRef idx="0"/>
          <a:fontRef idx="minor"/>
        </p:style>
        <p:txBody>
          <a:bodyPr lIns="90000" rIns="90000" tIns="-44280" bIns="-44280" anchor="t">
            <a:noAutofit/>
          </a:bodyPr>
          <a:p>
            <a:pPr>
              <a:lnSpc>
                <a:spcPct val="100000"/>
              </a:lnSpc>
            </a:pPr>
            <a:endParaRPr b="0" lang="en-US" sz="1800" strike="noStrike" u="none">
              <a:solidFill>
                <a:srgbClr val="ffffff"/>
              </a:solidFill>
              <a:effectLst/>
              <a:uFillTx/>
              <a:latin typeface="Arial"/>
            </a:endParaRPr>
          </a:p>
        </p:txBody>
      </p:sp>
      <p:sp>
        <p:nvSpPr>
          <p:cNvPr id="64" name="Text 10"/>
          <p:cNvSpPr/>
          <p:nvPr/>
        </p:nvSpPr>
        <p:spPr>
          <a:xfrm>
            <a:off x="502920" y="4160520"/>
            <a:ext cx="23767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trike="noStrike" u="none">
                <a:solidFill>
                  <a:srgbClr val="1e6b40"/>
                </a:solidFill>
                <a:effectLst/>
                <a:uFillTx/>
                <a:latin typeface="Calibri"/>
                <a:ea typeface="Calibri"/>
              </a:rPr>
              <a:t>Saves 40% of attorney hours</a:t>
            </a:r>
            <a:endParaRPr b="0" lang="en-US" sz="950" strike="noStrike" u="none">
              <a:solidFill>
                <a:srgbClr val="ffffff"/>
              </a:solidFill>
              <a:effectLst/>
              <a:uFillTx/>
              <a:latin typeface="Arial"/>
            </a:endParaRPr>
          </a:p>
        </p:txBody>
      </p:sp>
      <p:sp>
        <p:nvSpPr>
          <p:cNvPr id="65" name="Shape 11"/>
          <p:cNvSpPr/>
          <p:nvPr/>
        </p:nvSpPr>
        <p:spPr>
          <a:xfrm>
            <a:off x="3200400" y="1920240"/>
            <a:ext cx="2651040" cy="26053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6" name="Shape 12"/>
          <p:cNvSpPr/>
          <p:nvPr/>
        </p:nvSpPr>
        <p:spPr>
          <a:xfrm>
            <a:off x="3200400" y="1920240"/>
            <a:ext cx="2651040" cy="63360"/>
          </a:xfrm>
          <a:prstGeom prst="rect">
            <a:avLst/>
          </a:prstGeom>
          <a:solidFill>
            <a:srgbClr val="b87332"/>
          </a:solidFill>
          <a:ln w="12700">
            <a:solidFill>
              <a:srgbClr val="b87332"/>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67" name="Text 13"/>
          <p:cNvSpPr/>
          <p:nvPr/>
        </p:nvSpPr>
        <p:spPr>
          <a:xfrm>
            <a:off x="3337560" y="2030040"/>
            <a:ext cx="237672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b87332"/>
                </a:solidFill>
                <a:effectLst/>
                <a:uFillTx/>
                <a:latin typeface="Calibri"/>
                <a:ea typeface="Calibri"/>
              </a:rPr>
              <a:t>FLAG FOR REVIEW</a:t>
            </a:r>
            <a:endParaRPr b="0" lang="en-US" sz="1000" strike="noStrike" u="none">
              <a:solidFill>
                <a:srgbClr val="ffffff"/>
              </a:solidFill>
              <a:effectLst/>
              <a:uFillTx/>
              <a:latin typeface="Arial"/>
            </a:endParaRPr>
          </a:p>
        </p:txBody>
      </p:sp>
      <p:sp>
        <p:nvSpPr>
          <p:cNvPr id="68" name="Text 14"/>
          <p:cNvSpPr/>
          <p:nvPr/>
        </p:nvSpPr>
        <p:spPr>
          <a:xfrm>
            <a:off x="3337560" y="2377440"/>
            <a:ext cx="23767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800" strike="noStrike" u="none">
                <a:solidFill>
                  <a:srgbClr val="b87332"/>
                </a:solidFill>
                <a:effectLst/>
                <a:uFillTx/>
                <a:latin typeface="Georgia"/>
                <a:ea typeface="Georgia"/>
              </a:rPr>
              <a:t>45%</a:t>
            </a:r>
            <a:endParaRPr b="0" lang="en-US" sz="3800" strike="noStrike" u="none">
              <a:solidFill>
                <a:srgbClr val="ffffff"/>
              </a:solidFill>
              <a:effectLst/>
              <a:uFillTx/>
              <a:latin typeface="Arial"/>
            </a:endParaRPr>
          </a:p>
        </p:txBody>
      </p:sp>
      <p:sp>
        <p:nvSpPr>
          <p:cNvPr id="69" name="Text 15"/>
          <p:cNvSpPr/>
          <p:nvPr/>
        </p:nvSpPr>
        <p:spPr>
          <a:xfrm>
            <a:off x="3337560" y="3090600"/>
            <a:ext cx="2376720" cy="7308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100" strike="noStrike" u="none">
                <a:solidFill>
                  <a:srgbClr val="b8ccdf"/>
                </a:solidFill>
                <a:effectLst/>
                <a:uFillTx/>
                <a:latin typeface="Calibri"/>
                <a:ea typeface="Calibri"/>
              </a:rPr>
              <a:t>Moderate risk</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clauses present,</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schedule standard SLA</a:t>
            </a:r>
            <a:endParaRPr b="0" lang="en-US" sz="1100" strike="noStrike" u="none">
              <a:solidFill>
                <a:srgbClr val="ffffff"/>
              </a:solidFill>
              <a:effectLst/>
              <a:uFillTx/>
              <a:latin typeface="Arial"/>
            </a:endParaRPr>
          </a:p>
        </p:txBody>
      </p:sp>
      <p:sp>
        <p:nvSpPr>
          <p:cNvPr id="70" name="Shape 16"/>
          <p:cNvSpPr/>
          <p:nvPr/>
        </p:nvSpPr>
        <p:spPr>
          <a:xfrm>
            <a:off x="3337560" y="4114800"/>
            <a:ext cx="2376720" cy="360"/>
          </a:xfrm>
          <a:prstGeom prst="rect">
            <a:avLst/>
          </a:prstGeom>
          <a:solidFill>
            <a:srgbClr val="b87332">
              <a:alpha val="15000"/>
            </a:srgbClr>
          </a:solidFill>
          <a:ln w="6350">
            <a:solidFill>
              <a:srgbClr val="b87332">
                <a:alpha val="30000"/>
              </a:srgbClr>
            </a:solidFill>
            <a:round/>
          </a:ln>
        </p:spPr>
        <p:style>
          <a:lnRef idx="0"/>
          <a:fillRef idx="0"/>
          <a:effectRef idx="0"/>
          <a:fontRef idx="minor"/>
        </p:style>
        <p:txBody>
          <a:bodyPr lIns="90000" rIns="90000" tIns="-44280" bIns="-44280" anchor="t">
            <a:noAutofit/>
          </a:bodyPr>
          <a:p>
            <a:pPr>
              <a:lnSpc>
                <a:spcPct val="100000"/>
              </a:lnSpc>
            </a:pPr>
            <a:endParaRPr b="0" lang="en-US" sz="1800" strike="noStrike" u="none">
              <a:solidFill>
                <a:srgbClr val="ffffff"/>
              </a:solidFill>
              <a:effectLst/>
              <a:uFillTx/>
              <a:latin typeface="Arial"/>
            </a:endParaRPr>
          </a:p>
        </p:txBody>
      </p:sp>
      <p:sp>
        <p:nvSpPr>
          <p:cNvPr id="71" name="Text 17"/>
          <p:cNvSpPr/>
          <p:nvPr/>
        </p:nvSpPr>
        <p:spPr>
          <a:xfrm>
            <a:off x="3337560" y="4160520"/>
            <a:ext cx="23767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trike="noStrike" u="none">
                <a:solidFill>
                  <a:srgbClr val="b87332"/>
                </a:solidFill>
                <a:effectLst/>
                <a:uFillTx/>
                <a:latin typeface="Calibri"/>
                <a:ea typeface="Calibri"/>
              </a:rPr>
              <a:t>Prioritizes the queue</a:t>
            </a:r>
            <a:endParaRPr b="0" lang="en-US" sz="950" strike="noStrike" u="none">
              <a:solidFill>
                <a:srgbClr val="ffffff"/>
              </a:solidFill>
              <a:effectLst/>
              <a:uFillTx/>
              <a:latin typeface="Arial"/>
            </a:endParaRPr>
          </a:p>
        </p:txBody>
      </p:sp>
      <p:sp>
        <p:nvSpPr>
          <p:cNvPr id="72" name="Shape 18"/>
          <p:cNvSpPr/>
          <p:nvPr/>
        </p:nvSpPr>
        <p:spPr>
          <a:xfrm>
            <a:off x="6035040" y="1920240"/>
            <a:ext cx="2651040" cy="26053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3" name="Shape 19"/>
          <p:cNvSpPr/>
          <p:nvPr/>
        </p:nvSpPr>
        <p:spPr>
          <a:xfrm>
            <a:off x="6035040" y="1920240"/>
            <a:ext cx="2651040" cy="63360"/>
          </a:xfrm>
          <a:prstGeom prst="rect">
            <a:avLst/>
          </a:prstGeom>
          <a:solidFill>
            <a:srgbClr val="c0392b"/>
          </a:solidFill>
          <a:ln w="12700">
            <a:solidFill>
              <a:srgbClr val="c0392b"/>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74" name="Text 20"/>
          <p:cNvSpPr/>
          <p:nvPr/>
        </p:nvSpPr>
        <p:spPr>
          <a:xfrm>
            <a:off x="6172200" y="2030040"/>
            <a:ext cx="237672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0392b"/>
                </a:solidFill>
                <a:effectLst/>
                <a:uFillTx/>
                <a:latin typeface="Calibri"/>
                <a:ea typeface="Calibri"/>
              </a:rPr>
              <a:t>URGENT REVIEW</a:t>
            </a:r>
            <a:endParaRPr b="0" lang="en-US" sz="1000" strike="noStrike" u="none">
              <a:solidFill>
                <a:srgbClr val="ffffff"/>
              </a:solidFill>
              <a:effectLst/>
              <a:uFillTx/>
              <a:latin typeface="Arial"/>
            </a:endParaRPr>
          </a:p>
        </p:txBody>
      </p:sp>
      <p:sp>
        <p:nvSpPr>
          <p:cNvPr id="75" name="Text 21"/>
          <p:cNvSpPr/>
          <p:nvPr/>
        </p:nvSpPr>
        <p:spPr>
          <a:xfrm>
            <a:off x="6172200" y="2377440"/>
            <a:ext cx="23767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800" strike="noStrike" u="none">
                <a:solidFill>
                  <a:srgbClr val="c0392b"/>
                </a:solidFill>
                <a:effectLst/>
                <a:uFillTx/>
                <a:latin typeface="Georgia"/>
                <a:ea typeface="Georgia"/>
              </a:rPr>
              <a:t>15%</a:t>
            </a:r>
            <a:endParaRPr b="0" lang="en-US" sz="3800" strike="noStrike" u="none">
              <a:solidFill>
                <a:srgbClr val="ffffff"/>
              </a:solidFill>
              <a:effectLst/>
              <a:uFillTx/>
              <a:latin typeface="Arial"/>
            </a:endParaRPr>
          </a:p>
        </p:txBody>
      </p:sp>
      <p:sp>
        <p:nvSpPr>
          <p:cNvPr id="76" name="Text 22"/>
          <p:cNvSpPr/>
          <p:nvPr/>
        </p:nvSpPr>
        <p:spPr>
          <a:xfrm>
            <a:off x="6172200" y="3090600"/>
            <a:ext cx="2376720" cy="7308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100" strike="noStrike" u="none">
                <a:solidFill>
                  <a:srgbClr val="b8ccdf"/>
                </a:solidFill>
                <a:effectLst/>
                <a:uFillTx/>
                <a:latin typeface="Calibri"/>
                <a:ea typeface="Calibri"/>
              </a:rPr>
              <a:t>High-risk clauses</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detected — requires</a:t>
            </a:r>
            <a:endParaRPr b="0" lang="en-US" sz="1100" strike="noStrike" u="none">
              <a:solidFill>
                <a:srgbClr val="ffffff"/>
              </a:solidFill>
              <a:effectLst/>
              <a:uFillTx/>
              <a:latin typeface="Arial"/>
            </a:endParaRPr>
          </a:p>
          <a:p>
            <a:pPr defTabSz="914400">
              <a:lnSpc>
                <a:spcPct val="135000"/>
              </a:lnSpc>
              <a:tabLst>
                <a:tab algn="l" pos="0"/>
              </a:tabLst>
            </a:pPr>
            <a:r>
              <a:rPr b="0" lang="en-US" sz="1100" strike="noStrike" u="none">
                <a:solidFill>
                  <a:srgbClr val="b8ccdf"/>
                </a:solidFill>
                <a:effectLst/>
                <a:uFillTx/>
                <a:latin typeface="Calibri"/>
                <a:ea typeface="Calibri"/>
              </a:rPr>
              <a:t>immediate attorney review</a:t>
            </a:r>
            <a:endParaRPr b="0" lang="en-US" sz="1100" strike="noStrike" u="none">
              <a:solidFill>
                <a:srgbClr val="ffffff"/>
              </a:solidFill>
              <a:effectLst/>
              <a:uFillTx/>
              <a:latin typeface="Arial"/>
            </a:endParaRPr>
          </a:p>
        </p:txBody>
      </p:sp>
      <p:sp>
        <p:nvSpPr>
          <p:cNvPr id="77" name="Shape 23"/>
          <p:cNvSpPr/>
          <p:nvPr/>
        </p:nvSpPr>
        <p:spPr>
          <a:xfrm>
            <a:off x="6172200" y="4114800"/>
            <a:ext cx="2376720" cy="360"/>
          </a:xfrm>
          <a:prstGeom prst="rect">
            <a:avLst/>
          </a:prstGeom>
          <a:solidFill>
            <a:srgbClr val="c0392b">
              <a:alpha val="15000"/>
            </a:srgbClr>
          </a:solidFill>
          <a:ln w="6350">
            <a:solidFill>
              <a:srgbClr val="c0392b">
                <a:alpha val="30000"/>
              </a:srgbClr>
            </a:solidFill>
            <a:round/>
          </a:ln>
        </p:spPr>
        <p:style>
          <a:lnRef idx="0"/>
          <a:fillRef idx="0"/>
          <a:effectRef idx="0"/>
          <a:fontRef idx="minor"/>
        </p:style>
        <p:txBody>
          <a:bodyPr lIns="90000" rIns="90000" tIns="-44280" bIns="-44280" anchor="t">
            <a:noAutofit/>
          </a:bodyPr>
          <a:p>
            <a:pPr>
              <a:lnSpc>
                <a:spcPct val="100000"/>
              </a:lnSpc>
            </a:pPr>
            <a:endParaRPr b="0" lang="en-US" sz="1800" strike="noStrike" u="none">
              <a:solidFill>
                <a:srgbClr val="ffffff"/>
              </a:solidFill>
              <a:effectLst/>
              <a:uFillTx/>
              <a:latin typeface="Arial"/>
            </a:endParaRPr>
          </a:p>
        </p:txBody>
      </p:sp>
      <p:sp>
        <p:nvSpPr>
          <p:cNvPr id="78" name="Text 24"/>
          <p:cNvSpPr/>
          <p:nvPr/>
        </p:nvSpPr>
        <p:spPr>
          <a:xfrm>
            <a:off x="6172200" y="4160520"/>
            <a:ext cx="23767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trike="noStrike" u="none">
                <a:solidFill>
                  <a:srgbClr val="c0392b"/>
                </a:solidFill>
                <a:effectLst/>
                <a:uFillTx/>
                <a:latin typeface="Calibri"/>
                <a:ea typeface="Calibri"/>
              </a:rPr>
              <a:t>Catches the dangerous ones</a:t>
            </a:r>
            <a:endParaRPr b="0" lang="en-US" sz="950" strike="noStrike" u="none">
              <a:solidFill>
                <a:srgbClr val="ffffff"/>
              </a:solidFill>
              <a:effectLst/>
              <a:uFillTx/>
              <a:latin typeface="Arial"/>
            </a:endParaRPr>
          </a:p>
        </p:txBody>
      </p:sp>
      <p:sp>
        <p:nvSpPr>
          <p:cNvPr id="79" name="Text 25"/>
          <p:cNvSpPr/>
          <p:nvPr/>
        </p:nvSpPr>
        <p:spPr>
          <a:xfrm>
            <a:off x="457200" y="4754880"/>
            <a:ext cx="8228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trike="noStrike" u="none">
                <a:solidFill>
                  <a:srgbClr val="8ca0bb"/>
                </a:solidFill>
                <a:effectLst/>
                <a:uFillTx/>
                <a:latin typeface="Calibri"/>
                <a:ea typeface="Calibri"/>
              </a:rPr>
              <a:t>Target user: In-house legal ops at mid-market companies ($100M–$1B revenue)</a:t>
            </a:r>
            <a:endParaRPr b="0" lang="en-US" sz="10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80"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1"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DATA &amp; ARCHITECTURE</a:t>
            </a:r>
            <a:endParaRPr b="0" lang="en-US" sz="900" strike="noStrike" u="none">
              <a:solidFill>
                <a:srgbClr val="ffffff"/>
              </a:solidFill>
              <a:effectLst/>
              <a:uFillTx/>
              <a:latin typeface="Arial"/>
            </a:endParaRPr>
          </a:p>
        </p:txBody>
      </p:sp>
      <p:sp>
        <p:nvSpPr>
          <p:cNvPr id="82" name="Text 2"/>
          <p:cNvSpPr/>
          <p:nvPr/>
        </p:nvSpPr>
        <p:spPr>
          <a:xfrm>
            <a:off x="457200" y="502920"/>
            <a:ext cx="8457840" cy="100512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1" lang="en-US" sz="3200" strike="noStrike" u="none">
                <a:solidFill>
                  <a:srgbClr val="f5edd6"/>
                </a:solidFill>
                <a:effectLst/>
                <a:uFillTx/>
                <a:latin typeface="Georgia"/>
                <a:ea typeface="Georgia"/>
              </a:rPr>
              <a:t>Built on CUAD — 510 real contracts</a:t>
            </a:r>
            <a:endParaRPr b="0" lang="en-US" sz="3200" strike="noStrike" u="none">
              <a:solidFill>
                <a:srgbClr val="ffffff"/>
              </a:solidFill>
              <a:effectLst/>
              <a:uFillTx/>
              <a:latin typeface="Arial"/>
            </a:endParaRPr>
          </a:p>
          <a:p>
            <a:pPr defTabSz="914400">
              <a:lnSpc>
                <a:spcPct val="115000"/>
              </a:lnSpc>
              <a:tabLst>
                <a:tab algn="l" pos="0"/>
              </a:tabLst>
            </a:pPr>
            <a:r>
              <a:rPr b="1" lang="en-US" sz="3200" strike="noStrike" u="none">
                <a:solidFill>
                  <a:srgbClr val="f5edd6"/>
                </a:solidFill>
                <a:effectLst/>
                <a:uFillTx/>
                <a:latin typeface="Georgia"/>
                <a:ea typeface="Georgia"/>
              </a:rPr>
              <a:t>from SEC EDGAR</a:t>
            </a:r>
            <a:endParaRPr b="0" lang="en-US" sz="3200" strike="noStrike" u="none">
              <a:solidFill>
                <a:srgbClr val="ffffff"/>
              </a:solidFill>
              <a:effectLst/>
              <a:uFillTx/>
              <a:latin typeface="Arial"/>
            </a:endParaRPr>
          </a:p>
        </p:txBody>
      </p:sp>
      <p:sp>
        <p:nvSpPr>
          <p:cNvPr id="83" name="Shape 3"/>
          <p:cNvSpPr/>
          <p:nvPr/>
        </p:nvSpPr>
        <p:spPr>
          <a:xfrm>
            <a:off x="457200" y="1600200"/>
            <a:ext cx="393120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4" name="Shape 4"/>
          <p:cNvSpPr/>
          <p:nvPr/>
        </p:nvSpPr>
        <p:spPr>
          <a:xfrm>
            <a:off x="457200" y="160020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5" name="Text 5"/>
          <p:cNvSpPr/>
          <p:nvPr/>
        </p:nvSpPr>
        <p:spPr>
          <a:xfrm>
            <a:off x="685800" y="1664280"/>
            <a:ext cx="109656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c9933a"/>
                </a:solidFill>
                <a:effectLst/>
                <a:uFillTx/>
                <a:latin typeface="Georgia"/>
                <a:ea typeface="Georgia"/>
              </a:rPr>
              <a:t>510</a:t>
            </a:r>
            <a:endParaRPr b="0" lang="en-US" sz="2200" strike="noStrike" u="none">
              <a:solidFill>
                <a:srgbClr val="ffffff"/>
              </a:solidFill>
              <a:effectLst/>
              <a:uFillTx/>
              <a:latin typeface="Arial"/>
            </a:endParaRPr>
          </a:p>
        </p:txBody>
      </p:sp>
      <p:sp>
        <p:nvSpPr>
          <p:cNvPr id="86" name="Text 6"/>
          <p:cNvSpPr/>
          <p:nvPr/>
        </p:nvSpPr>
        <p:spPr>
          <a:xfrm>
            <a:off x="1874520" y="1691640"/>
            <a:ext cx="233100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Real contracts from SEC EDGAR Fortune 500 filings</a:t>
            </a:r>
            <a:endParaRPr b="0" lang="en-US" sz="1100" strike="noStrike" u="none">
              <a:solidFill>
                <a:srgbClr val="ffffff"/>
              </a:solidFill>
              <a:effectLst/>
              <a:uFillTx/>
              <a:latin typeface="Arial"/>
            </a:endParaRPr>
          </a:p>
        </p:txBody>
      </p:sp>
      <p:sp>
        <p:nvSpPr>
          <p:cNvPr id="87" name="Shape 7"/>
          <p:cNvSpPr/>
          <p:nvPr/>
        </p:nvSpPr>
        <p:spPr>
          <a:xfrm>
            <a:off x="457200" y="2377440"/>
            <a:ext cx="393120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8" name="Shape 8"/>
          <p:cNvSpPr/>
          <p:nvPr/>
        </p:nvSpPr>
        <p:spPr>
          <a:xfrm>
            <a:off x="457200" y="237744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9" name="Text 9"/>
          <p:cNvSpPr/>
          <p:nvPr/>
        </p:nvSpPr>
        <p:spPr>
          <a:xfrm>
            <a:off x="685800" y="2441520"/>
            <a:ext cx="109656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c9933a"/>
                </a:solidFill>
                <a:effectLst/>
                <a:uFillTx/>
                <a:latin typeface="Georgia"/>
                <a:ea typeface="Georgia"/>
              </a:rPr>
              <a:t>22,450</a:t>
            </a:r>
            <a:endParaRPr b="0" lang="en-US" sz="2200" strike="noStrike" u="none">
              <a:solidFill>
                <a:srgbClr val="ffffff"/>
              </a:solidFill>
              <a:effectLst/>
              <a:uFillTx/>
              <a:latin typeface="Arial"/>
            </a:endParaRPr>
          </a:p>
        </p:txBody>
      </p:sp>
      <p:sp>
        <p:nvSpPr>
          <p:cNvPr id="90" name="Text 10"/>
          <p:cNvSpPr/>
          <p:nvPr/>
        </p:nvSpPr>
        <p:spPr>
          <a:xfrm>
            <a:off x="1874520" y="2468880"/>
            <a:ext cx="233100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QA pairs (question + contract context)</a:t>
            </a:r>
            <a:endParaRPr b="0" lang="en-US" sz="1100" strike="noStrike" u="none">
              <a:solidFill>
                <a:srgbClr val="ffffff"/>
              </a:solidFill>
              <a:effectLst/>
              <a:uFillTx/>
              <a:latin typeface="Arial"/>
            </a:endParaRPr>
          </a:p>
        </p:txBody>
      </p:sp>
      <p:sp>
        <p:nvSpPr>
          <p:cNvPr id="91" name="Shape 11"/>
          <p:cNvSpPr/>
          <p:nvPr/>
        </p:nvSpPr>
        <p:spPr>
          <a:xfrm>
            <a:off x="457200" y="3154680"/>
            <a:ext cx="393120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2" name="Shape 12"/>
          <p:cNvSpPr/>
          <p:nvPr/>
        </p:nvSpPr>
        <p:spPr>
          <a:xfrm>
            <a:off x="457200" y="315468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3" name="Text 13"/>
          <p:cNvSpPr/>
          <p:nvPr/>
        </p:nvSpPr>
        <p:spPr>
          <a:xfrm>
            <a:off x="685800" y="3218760"/>
            <a:ext cx="109656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c9933a"/>
                </a:solidFill>
                <a:effectLst/>
                <a:uFillTx/>
                <a:latin typeface="Georgia"/>
                <a:ea typeface="Georgia"/>
              </a:rPr>
              <a:t>41</a:t>
            </a:r>
            <a:endParaRPr b="0" lang="en-US" sz="2200" strike="noStrike" u="none">
              <a:solidFill>
                <a:srgbClr val="ffffff"/>
              </a:solidFill>
              <a:effectLst/>
              <a:uFillTx/>
              <a:latin typeface="Arial"/>
            </a:endParaRPr>
          </a:p>
        </p:txBody>
      </p:sp>
      <p:sp>
        <p:nvSpPr>
          <p:cNvPr id="94" name="Text 14"/>
          <p:cNvSpPr/>
          <p:nvPr/>
        </p:nvSpPr>
        <p:spPr>
          <a:xfrm>
            <a:off x="1874520" y="3246120"/>
            <a:ext cx="233100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Clause types covering all major risk categories</a:t>
            </a:r>
            <a:endParaRPr b="0" lang="en-US" sz="1100" strike="noStrike" u="none">
              <a:solidFill>
                <a:srgbClr val="ffffff"/>
              </a:solidFill>
              <a:effectLst/>
              <a:uFillTx/>
              <a:latin typeface="Arial"/>
            </a:endParaRPr>
          </a:p>
        </p:txBody>
      </p:sp>
      <p:sp>
        <p:nvSpPr>
          <p:cNvPr id="95" name="Shape 15"/>
          <p:cNvSpPr/>
          <p:nvPr/>
        </p:nvSpPr>
        <p:spPr>
          <a:xfrm>
            <a:off x="457200" y="3931920"/>
            <a:ext cx="393120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6" name="Shape 16"/>
          <p:cNvSpPr/>
          <p:nvPr/>
        </p:nvSpPr>
        <p:spPr>
          <a:xfrm>
            <a:off x="457200" y="393192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7" name="Text 17"/>
          <p:cNvSpPr/>
          <p:nvPr/>
        </p:nvSpPr>
        <p:spPr>
          <a:xfrm>
            <a:off x="685800" y="3996000"/>
            <a:ext cx="109656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c9933a"/>
                </a:solidFill>
                <a:effectLst/>
                <a:uFillTx/>
                <a:latin typeface="Georgia"/>
                <a:ea typeface="Georgia"/>
              </a:rPr>
              <a:t>50/50</a:t>
            </a:r>
            <a:endParaRPr b="0" lang="en-US" sz="2200" strike="noStrike" u="none">
              <a:solidFill>
                <a:srgbClr val="ffffff"/>
              </a:solidFill>
              <a:effectLst/>
              <a:uFillTx/>
              <a:latin typeface="Arial"/>
            </a:endParaRPr>
          </a:p>
        </p:txBody>
      </p:sp>
      <p:sp>
        <p:nvSpPr>
          <p:cNvPr id="98" name="Text 18"/>
          <p:cNvSpPr/>
          <p:nvPr/>
        </p:nvSpPr>
        <p:spPr>
          <a:xfrm>
            <a:off x="1874520" y="4023360"/>
            <a:ext cx="233100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Positive/negative balance in training data</a:t>
            </a:r>
            <a:endParaRPr b="0" lang="en-US" sz="1100" strike="noStrike" u="none">
              <a:solidFill>
                <a:srgbClr val="ffffff"/>
              </a:solidFill>
              <a:effectLst/>
              <a:uFillTx/>
              <a:latin typeface="Arial"/>
            </a:endParaRPr>
          </a:p>
        </p:txBody>
      </p:sp>
      <p:sp>
        <p:nvSpPr>
          <p:cNvPr id="99" name="Text 19"/>
          <p:cNvSpPr/>
          <p:nvPr/>
        </p:nvSpPr>
        <p:spPr>
          <a:xfrm>
            <a:off x="4709160" y="1572840"/>
            <a:ext cx="39769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201" strike="noStrike" u="none">
                <a:solidFill>
                  <a:srgbClr val="c9933a"/>
                </a:solidFill>
                <a:effectLst/>
                <a:uFillTx/>
                <a:latin typeface="Calibri"/>
                <a:ea typeface="Calibri"/>
              </a:rPr>
              <a:t>Model pipeline</a:t>
            </a:r>
            <a:endParaRPr b="0" lang="en-US" sz="1100" strike="noStrike" u="none">
              <a:solidFill>
                <a:srgbClr val="ffffff"/>
              </a:solidFill>
              <a:effectLst/>
              <a:uFillTx/>
              <a:latin typeface="Arial"/>
            </a:endParaRPr>
          </a:p>
        </p:txBody>
      </p:sp>
      <p:sp>
        <p:nvSpPr>
          <p:cNvPr id="100" name="Shape 20"/>
          <p:cNvSpPr/>
          <p:nvPr/>
        </p:nvSpPr>
        <p:spPr>
          <a:xfrm>
            <a:off x="4709160" y="1974960"/>
            <a:ext cx="346680" cy="346680"/>
          </a:xfrm>
          <a:prstGeom prst="ellipse">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1" name="Text 21"/>
          <p:cNvSpPr/>
          <p:nvPr/>
        </p:nvSpPr>
        <p:spPr>
          <a:xfrm>
            <a:off x="4709160" y="197496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50c1a"/>
                </a:solidFill>
                <a:effectLst/>
                <a:uFillTx/>
                <a:latin typeface="Calibri"/>
                <a:ea typeface="Calibri"/>
              </a:rPr>
              <a:t>1</a:t>
            </a:r>
            <a:endParaRPr b="0" lang="en-US" sz="1100" strike="noStrike" u="none">
              <a:solidFill>
                <a:srgbClr val="ffffff"/>
              </a:solidFill>
              <a:effectLst/>
              <a:uFillTx/>
              <a:latin typeface="Arial"/>
            </a:endParaRPr>
          </a:p>
        </p:txBody>
      </p:sp>
      <p:sp>
        <p:nvSpPr>
          <p:cNvPr id="102" name="Shape 22"/>
          <p:cNvSpPr/>
          <p:nvPr/>
        </p:nvSpPr>
        <p:spPr>
          <a:xfrm>
            <a:off x="4855320" y="2322720"/>
            <a:ext cx="54000" cy="246240"/>
          </a:xfrm>
          <a:prstGeom prst="rect">
            <a:avLst/>
          </a:prstGeom>
          <a:solidFill>
            <a:srgbClr val="2a4060"/>
          </a:solidFill>
          <a:ln w="12700">
            <a:solidFill>
              <a:srgbClr val="2a406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3" name="Text 23"/>
          <p:cNvSpPr/>
          <p:nvPr/>
        </p:nvSpPr>
        <p:spPr>
          <a:xfrm>
            <a:off x="5166360" y="1947600"/>
            <a:ext cx="347400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Contract text in</a:t>
            </a:r>
            <a:endParaRPr b="0" lang="en-US" sz="1200" strike="noStrike" u="none">
              <a:solidFill>
                <a:srgbClr val="ffffff"/>
              </a:solidFill>
              <a:effectLst/>
              <a:uFillTx/>
              <a:latin typeface="Arial"/>
            </a:endParaRPr>
          </a:p>
        </p:txBody>
      </p:sp>
      <p:sp>
        <p:nvSpPr>
          <p:cNvPr id="104" name="Text 24"/>
          <p:cNvSpPr/>
          <p:nvPr/>
        </p:nvSpPr>
        <p:spPr>
          <a:xfrm>
            <a:off x="5166360" y="2167200"/>
            <a:ext cx="34740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Raw PDF → plain text extraction</a:t>
            </a:r>
            <a:endParaRPr b="0" lang="en-US" sz="1000" strike="noStrike" u="none">
              <a:solidFill>
                <a:srgbClr val="ffffff"/>
              </a:solidFill>
              <a:effectLst/>
              <a:uFillTx/>
              <a:latin typeface="Arial"/>
            </a:endParaRPr>
          </a:p>
        </p:txBody>
      </p:sp>
      <p:sp>
        <p:nvSpPr>
          <p:cNvPr id="105" name="Shape 25"/>
          <p:cNvSpPr/>
          <p:nvPr/>
        </p:nvSpPr>
        <p:spPr>
          <a:xfrm>
            <a:off x="4709160" y="2587680"/>
            <a:ext cx="346680" cy="346680"/>
          </a:xfrm>
          <a:prstGeom prst="ellipse">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6" name="Text 26"/>
          <p:cNvSpPr/>
          <p:nvPr/>
        </p:nvSpPr>
        <p:spPr>
          <a:xfrm>
            <a:off x="4709160" y="258768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50c1a"/>
                </a:solidFill>
                <a:effectLst/>
                <a:uFillTx/>
                <a:latin typeface="Calibri"/>
                <a:ea typeface="Calibri"/>
              </a:rPr>
              <a:t>2</a:t>
            </a:r>
            <a:endParaRPr b="0" lang="en-US" sz="1100" strike="noStrike" u="none">
              <a:solidFill>
                <a:srgbClr val="ffffff"/>
              </a:solidFill>
              <a:effectLst/>
              <a:uFillTx/>
              <a:latin typeface="Arial"/>
            </a:endParaRPr>
          </a:p>
        </p:txBody>
      </p:sp>
      <p:sp>
        <p:nvSpPr>
          <p:cNvPr id="107" name="Shape 27"/>
          <p:cNvSpPr/>
          <p:nvPr/>
        </p:nvSpPr>
        <p:spPr>
          <a:xfrm>
            <a:off x="4855320" y="2935080"/>
            <a:ext cx="54000" cy="246240"/>
          </a:xfrm>
          <a:prstGeom prst="rect">
            <a:avLst/>
          </a:prstGeom>
          <a:solidFill>
            <a:srgbClr val="2a4060"/>
          </a:solidFill>
          <a:ln w="12700">
            <a:solidFill>
              <a:srgbClr val="2a406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8" name="Text 28"/>
          <p:cNvSpPr/>
          <p:nvPr/>
        </p:nvSpPr>
        <p:spPr>
          <a:xfrm>
            <a:off x="5166360" y="2560320"/>
            <a:ext cx="347400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Clause questions</a:t>
            </a:r>
            <a:endParaRPr b="0" lang="en-US" sz="1200" strike="noStrike" u="none">
              <a:solidFill>
                <a:srgbClr val="ffffff"/>
              </a:solidFill>
              <a:effectLst/>
              <a:uFillTx/>
              <a:latin typeface="Arial"/>
            </a:endParaRPr>
          </a:p>
        </p:txBody>
      </p:sp>
      <p:sp>
        <p:nvSpPr>
          <p:cNvPr id="109" name="Text 29"/>
          <p:cNvSpPr/>
          <p:nvPr/>
        </p:nvSpPr>
        <p:spPr>
          <a:xfrm>
            <a:off x="5166360" y="2779920"/>
            <a:ext cx="34740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41 questions run against the text</a:t>
            </a:r>
            <a:endParaRPr b="0" lang="en-US" sz="1000" strike="noStrike" u="none">
              <a:solidFill>
                <a:srgbClr val="ffffff"/>
              </a:solidFill>
              <a:effectLst/>
              <a:uFillTx/>
              <a:latin typeface="Arial"/>
            </a:endParaRPr>
          </a:p>
        </p:txBody>
      </p:sp>
      <p:sp>
        <p:nvSpPr>
          <p:cNvPr id="110" name="Shape 30"/>
          <p:cNvSpPr/>
          <p:nvPr/>
        </p:nvSpPr>
        <p:spPr>
          <a:xfrm>
            <a:off x="4709160" y="3200400"/>
            <a:ext cx="346680" cy="346680"/>
          </a:xfrm>
          <a:prstGeom prst="ellipse">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1" name="Text 31"/>
          <p:cNvSpPr/>
          <p:nvPr/>
        </p:nvSpPr>
        <p:spPr>
          <a:xfrm>
            <a:off x="4709160" y="320040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50c1a"/>
                </a:solidFill>
                <a:effectLst/>
                <a:uFillTx/>
                <a:latin typeface="Calibri"/>
                <a:ea typeface="Calibri"/>
              </a:rPr>
              <a:t>3</a:t>
            </a:r>
            <a:endParaRPr b="0" lang="en-US" sz="1100" strike="noStrike" u="none">
              <a:solidFill>
                <a:srgbClr val="ffffff"/>
              </a:solidFill>
              <a:effectLst/>
              <a:uFillTx/>
              <a:latin typeface="Arial"/>
            </a:endParaRPr>
          </a:p>
        </p:txBody>
      </p:sp>
      <p:sp>
        <p:nvSpPr>
          <p:cNvPr id="112" name="Shape 32"/>
          <p:cNvSpPr/>
          <p:nvPr/>
        </p:nvSpPr>
        <p:spPr>
          <a:xfrm>
            <a:off x="4855320" y="3547800"/>
            <a:ext cx="54000" cy="246240"/>
          </a:xfrm>
          <a:prstGeom prst="rect">
            <a:avLst/>
          </a:prstGeom>
          <a:solidFill>
            <a:srgbClr val="2a4060"/>
          </a:solidFill>
          <a:ln w="12700">
            <a:solidFill>
              <a:srgbClr val="2a406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3" name="Text 33"/>
          <p:cNvSpPr/>
          <p:nvPr/>
        </p:nvSpPr>
        <p:spPr>
          <a:xfrm>
            <a:off x="5166360" y="3173040"/>
            <a:ext cx="347400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Span extraction</a:t>
            </a:r>
            <a:endParaRPr b="0" lang="en-US" sz="1200" strike="noStrike" u="none">
              <a:solidFill>
                <a:srgbClr val="ffffff"/>
              </a:solidFill>
              <a:effectLst/>
              <a:uFillTx/>
              <a:latin typeface="Arial"/>
            </a:endParaRPr>
          </a:p>
        </p:txBody>
      </p:sp>
      <p:sp>
        <p:nvSpPr>
          <p:cNvPr id="114" name="Text 34"/>
          <p:cNvSpPr/>
          <p:nvPr/>
        </p:nvSpPr>
        <p:spPr>
          <a:xfrm>
            <a:off x="5166360" y="3392280"/>
            <a:ext cx="34740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Model finds exact clause text or returns empty</a:t>
            </a:r>
            <a:endParaRPr b="0" lang="en-US" sz="1000" strike="noStrike" u="none">
              <a:solidFill>
                <a:srgbClr val="ffffff"/>
              </a:solidFill>
              <a:effectLst/>
              <a:uFillTx/>
              <a:latin typeface="Arial"/>
            </a:endParaRPr>
          </a:p>
        </p:txBody>
      </p:sp>
      <p:sp>
        <p:nvSpPr>
          <p:cNvPr id="115" name="Shape 35"/>
          <p:cNvSpPr/>
          <p:nvPr/>
        </p:nvSpPr>
        <p:spPr>
          <a:xfrm>
            <a:off x="4709160" y="3813120"/>
            <a:ext cx="346680" cy="346680"/>
          </a:xfrm>
          <a:prstGeom prst="ellipse">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6" name="Text 36"/>
          <p:cNvSpPr/>
          <p:nvPr/>
        </p:nvSpPr>
        <p:spPr>
          <a:xfrm>
            <a:off x="4709160" y="381312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50c1a"/>
                </a:solidFill>
                <a:effectLst/>
                <a:uFillTx/>
                <a:latin typeface="Calibri"/>
                <a:ea typeface="Calibri"/>
              </a:rPr>
              <a:t>4</a:t>
            </a:r>
            <a:endParaRPr b="0" lang="en-US" sz="1100" strike="noStrike" u="none">
              <a:solidFill>
                <a:srgbClr val="ffffff"/>
              </a:solidFill>
              <a:effectLst/>
              <a:uFillTx/>
              <a:latin typeface="Arial"/>
            </a:endParaRPr>
          </a:p>
        </p:txBody>
      </p:sp>
      <p:sp>
        <p:nvSpPr>
          <p:cNvPr id="117" name="Shape 37"/>
          <p:cNvSpPr/>
          <p:nvPr/>
        </p:nvSpPr>
        <p:spPr>
          <a:xfrm>
            <a:off x="4855320" y="4160520"/>
            <a:ext cx="54000" cy="246240"/>
          </a:xfrm>
          <a:prstGeom prst="rect">
            <a:avLst/>
          </a:prstGeom>
          <a:solidFill>
            <a:srgbClr val="2a4060"/>
          </a:solidFill>
          <a:ln w="12700">
            <a:solidFill>
              <a:srgbClr val="2a406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8" name="Text 38"/>
          <p:cNvSpPr/>
          <p:nvPr/>
        </p:nvSpPr>
        <p:spPr>
          <a:xfrm>
            <a:off x="5166360" y="3785760"/>
            <a:ext cx="347400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Risk weighting</a:t>
            </a:r>
            <a:endParaRPr b="0" lang="en-US" sz="1200" strike="noStrike" u="none">
              <a:solidFill>
                <a:srgbClr val="ffffff"/>
              </a:solidFill>
              <a:effectLst/>
              <a:uFillTx/>
              <a:latin typeface="Arial"/>
            </a:endParaRPr>
          </a:p>
        </p:txBody>
      </p:sp>
      <p:sp>
        <p:nvSpPr>
          <p:cNvPr id="119" name="Text 39"/>
          <p:cNvSpPr/>
          <p:nvPr/>
        </p:nvSpPr>
        <p:spPr>
          <a:xfrm>
            <a:off x="5166360" y="4005000"/>
            <a:ext cx="34740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Weight by business impact (1–10 scale)</a:t>
            </a:r>
            <a:endParaRPr b="0" lang="en-US" sz="1000" strike="noStrike" u="none">
              <a:solidFill>
                <a:srgbClr val="ffffff"/>
              </a:solidFill>
              <a:effectLst/>
              <a:uFillTx/>
              <a:latin typeface="Arial"/>
            </a:endParaRPr>
          </a:p>
        </p:txBody>
      </p:sp>
      <p:sp>
        <p:nvSpPr>
          <p:cNvPr id="120" name="Shape 40"/>
          <p:cNvSpPr/>
          <p:nvPr/>
        </p:nvSpPr>
        <p:spPr>
          <a:xfrm>
            <a:off x="4709160" y="4425840"/>
            <a:ext cx="346680" cy="346680"/>
          </a:xfrm>
          <a:prstGeom prst="ellipse">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1" name="Text 41"/>
          <p:cNvSpPr/>
          <p:nvPr/>
        </p:nvSpPr>
        <p:spPr>
          <a:xfrm>
            <a:off x="4709160" y="442584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050c1a"/>
                </a:solidFill>
                <a:effectLst/>
                <a:uFillTx/>
                <a:latin typeface="Calibri"/>
                <a:ea typeface="Calibri"/>
              </a:rPr>
              <a:t>5</a:t>
            </a:r>
            <a:endParaRPr b="0" lang="en-US" sz="1100" strike="noStrike" u="none">
              <a:solidFill>
                <a:srgbClr val="ffffff"/>
              </a:solidFill>
              <a:effectLst/>
              <a:uFillTx/>
              <a:latin typeface="Arial"/>
            </a:endParaRPr>
          </a:p>
        </p:txBody>
      </p:sp>
      <p:sp>
        <p:nvSpPr>
          <p:cNvPr id="122" name="Text 42"/>
          <p:cNvSpPr/>
          <p:nvPr/>
        </p:nvSpPr>
        <p:spPr>
          <a:xfrm>
            <a:off x="5166360" y="4398120"/>
            <a:ext cx="347400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Scorecard output</a:t>
            </a:r>
            <a:endParaRPr b="0" lang="en-US" sz="1200" strike="noStrike" u="none">
              <a:solidFill>
                <a:srgbClr val="ffffff"/>
              </a:solidFill>
              <a:effectLst/>
              <a:uFillTx/>
              <a:latin typeface="Arial"/>
            </a:endParaRPr>
          </a:p>
        </p:txBody>
      </p:sp>
      <p:sp>
        <p:nvSpPr>
          <p:cNvPr id="123" name="Text 43"/>
          <p:cNvSpPr/>
          <p:nvPr/>
        </p:nvSpPr>
        <p:spPr>
          <a:xfrm>
            <a:off x="5166360" y="4617720"/>
            <a:ext cx="34740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Risk score 0–100 + triage + clause excerpts</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124"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5"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MODEL EVOLUTION  ·  WEEK 2</a:t>
            </a:r>
            <a:endParaRPr b="0" lang="en-US" sz="900" strike="noStrike" u="none">
              <a:solidFill>
                <a:srgbClr val="ffffff"/>
              </a:solidFill>
              <a:effectLst/>
              <a:uFillTx/>
              <a:latin typeface="Arial"/>
            </a:endParaRPr>
          </a:p>
        </p:txBody>
      </p:sp>
      <p:sp>
        <p:nvSpPr>
          <p:cNvPr id="126" name="Text 2"/>
          <p:cNvSpPr/>
          <p:nvPr/>
        </p:nvSpPr>
        <p:spPr>
          <a:xfrm>
            <a:off x="457200" y="502920"/>
            <a:ext cx="8228880" cy="109656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1" lang="en-US" sz="3200" strike="noStrike" u="none">
                <a:solidFill>
                  <a:srgbClr val="f5edd6"/>
                </a:solidFill>
                <a:effectLst/>
                <a:uFillTx/>
                <a:latin typeface="Georgia"/>
                <a:ea typeface="Georgia"/>
              </a:rPr>
              <a:t>The Baseline: Logistic Regression</a:t>
            </a:r>
            <a:endParaRPr b="0" lang="en-US" sz="3200" strike="noStrike" u="none">
              <a:solidFill>
                <a:srgbClr val="ffffff"/>
              </a:solidFill>
              <a:effectLst/>
              <a:uFillTx/>
              <a:latin typeface="Arial"/>
            </a:endParaRPr>
          </a:p>
          <a:p>
            <a:pPr defTabSz="914400">
              <a:lnSpc>
                <a:spcPct val="115000"/>
              </a:lnSpc>
              <a:tabLst>
                <a:tab algn="l" pos="0"/>
              </a:tabLst>
            </a:pPr>
            <a:r>
              <a:rPr b="1" lang="en-US" sz="3200" strike="noStrike" u="none">
                <a:solidFill>
                  <a:srgbClr val="f5edd6"/>
                </a:solidFill>
                <a:effectLst/>
                <a:uFillTx/>
                <a:latin typeface="Georgia"/>
                <a:ea typeface="Georgia"/>
              </a:rPr>
              <a:t>+ TF-IDF Bigrams</a:t>
            </a:r>
            <a:endParaRPr b="0" lang="en-US" sz="3200" strike="noStrike" u="none">
              <a:solidFill>
                <a:srgbClr val="ffffff"/>
              </a:solidFill>
              <a:effectLst/>
              <a:uFillTx/>
              <a:latin typeface="Arial"/>
            </a:endParaRPr>
          </a:p>
        </p:txBody>
      </p:sp>
      <p:sp>
        <p:nvSpPr>
          <p:cNvPr id="127" name="Shape 3"/>
          <p:cNvSpPr/>
          <p:nvPr/>
        </p:nvSpPr>
        <p:spPr>
          <a:xfrm>
            <a:off x="457200" y="1691640"/>
            <a:ext cx="2605320" cy="74916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8" name="Shape 4"/>
          <p:cNvSpPr/>
          <p:nvPr/>
        </p:nvSpPr>
        <p:spPr>
          <a:xfrm>
            <a:off x="457200" y="1691640"/>
            <a:ext cx="2605320" cy="45000"/>
          </a:xfrm>
          <a:prstGeom prst="rect">
            <a:avLst/>
          </a:prstGeom>
          <a:solidFill>
            <a:srgbClr val="c9933a"/>
          </a:solidFill>
          <a:ln w="12700">
            <a:solidFill>
              <a:srgbClr val="c9933a"/>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129" name="Text 5"/>
          <p:cNvSpPr/>
          <p:nvPr/>
        </p:nvSpPr>
        <p:spPr>
          <a:xfrm>
            <a:off x="594360" y="1764720"/>
            <a:ext cx="233100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trike="noStrike" u="none">
                <a:solidFill>
                  <a:srgbClr val="c9933a"/>
                </a:solidFill>
                <a:effectLst/>
                <a:uFillTx/>
                <a:latin typeface="Georgia"/>
                <a:ea typeface="Georgia"/>
              </a:rPr>
              <a:t>0.8071</a:t>
            </a:r>
            <a:endParaRPr b="0" lang="en-US" sz="2600" strike="noStrike" u="none">
              <a:solidFill>
                <a:srgbClr val="ffffff"/>
              </a:solidFill>
              <a:effectLst/>
              <a:uFillTx/>
              <a:latin typeface="Arial"/>
            </a:endParaRPr>
          </a:p>
        </p:txBody>
      </p:sp>
      <p:sp>
        <p:nvSpPr>
          <p:cNvPr id="130" name="Text 6"/>
          <p:cNvSpPr/>
          <p:nvPr/>
        </p:nvSpPr>
        <p:spPr>
          <a:xfrm>
            <a:off x="594360" y="2176200"/>
            <a:ext cx="233100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99" strike="noStrike" u="none">
                <a:solidFill>
                  <a:srgbClr val="8ca0bb"/>
                </a:solidFill>
                <a:effectLst/>
                <a:uFillTx/>
                <a:latin typeface="Calibri"/>
                <a:ea typeface="Calibri"/>
              </a:rPr>
              <a:t>Micro-F1</a:t>
            </a:r>
            <a:endParaRPr b="0" lang="en-US" sz="950" strike="noStrike" u="none">
              <a:solidFill>
                <a:srgbClr val="ffffff"/>
              </a:solidFill>
              <a:effectLst/>
              <a:uFillTx/>
              <a:latin typeface="Arial"/>
            </a:endParaRPr>
          </a:p>
        </p:txBody>
      </p:sp>
      <p:sp>
        <p:nvSpPr>
          <p:cNvPr id="131" name="Shape 7"/>
          <p:cNvSpPr/>
          <p:nvPr/>
        </p:nvSpPr>
        <p:spPr>
          <a:xfrm>
            <a:off x="3291840" y="1691640"/>
            <a:ext cx="2605320" cy="74916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2" name="Shape 8"/>
          <p:cNvSpPr/>
          <p:nvPr/>
        </p:nvSpPr>
        <p:spPr>
          <a:xfrm>
            <a:off x="3291840" y="1691640"/>
            <a:ext cx="2605320" cy="45000"/>
          </a:xfrm>
          <a:prstGeom prst="rect">
            <a:avLst/>
          </a:prstGeom>
          <a:solidFill>
            <a:srgbClr val="e8ad50"/>
          </a:solidFill>
          <a:ln w="12700">
            <a:solidFill>
              <a:srgbClr val="e8ad50"/>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000000"/>
              </a:solidFill>
              <a:effectLst/>
              <a:uFillTx/>
              <a:latin typeface="Arial"/>
            </a:endParaRPr>
          </a:p>
        </p:txBody>
      </p:sp>
      <p:sp>
        <p:nvSpPr>
          <p:cNvPr id="133" name="Text 9"/>
          <p:cNvSpPr/>
          <p:nvPr/>
        </p:nvSpPr>
        <p:spPr>
          <a:xfrm>
            <a:off x="3429000" y="1764720"/>
            <a:ext cx="233100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trike="noStrike" u="none">
                <a:solidFill>
                  <a:srgbClr val="e8ad50"/>
                </a:solidFill>
                <a:effectLst/>
                <a:uFillTx/>
                <a:latin typeface="Georgia"/>
                <a:ea typeface="Georgia"/>
              </a:rPr>
              <a:t>0.6358</a:t>
            </a:r>
            <a:endParaRPr b="0" lang="en-US" sz="2600" strike="noStrike" u="none">
              <a:solidFill>
                <a:srgbClr val="ffffff"/>
              </a:solidFill>
              <a:effectLst/>
              <a:uFillTx/>
              <a:latin typeface="Arial"/>
            </a:endParaRPr>
          </a:p>
        </p:txBody>
      </p:sp>
      <p:sp>
        <p:nvSpPr>
          <p:cNvPr id="134" name="Text 10"/>
          <p:cNvSpPr/>
          <p:nvPr/>
        </p:nvSpPr>
        <p:spPr>
          <a:xfrm>
            <a:off x="3429000" y="2176200"/>
            <a:ext cx="233100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99" strike="noStrike" u="none">
                <a:solidFill>
                  <a:srgbClr val="8ca0bb"/>
                </a:solidFill>
                <a:effectLst/>
                <a:uFillTx/>
                <a:latin typeface="Calibri"/>
                <a:ea typeface="Calibri"/>
              </a:rPr>
              <a:t>Macro-F1  ← honest metric</a:t>
            </a:r>
            <a:endParaRPr b="0" lang="en-US" sz="950" strike="noStrike" u="none">
              <a:solidFill>
                <a:srgbClr val="ffffff"/>
              </a:solidFill>
              <a:effectLst/>
              <a:uFillTx/>
              <a:latin typeface="Arial"/>
            </a:endParaRPr>
          </a:p>
        </p:txBody>
      </p:sp>
      <p:sp>
        <p:nvSpPr>
          <p:cNvPr id="135" name="Shape 11"/>
          <p:cNvSpPr/>
          <p:nvPr/>
        </p:nvSpPr>
        <p:spPr>
          <a:xfrm>
            <a:off x="6126480" y="1691640"/>
            <a:ext cx="2605320" cy="74916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6" name="Shape 12"/>
          <p:cNvSpPr/>
          <p:nvPr/>
        </p:nvSpPr>
        <p:spPr>
          <a:xfrm>
            <a:off x="6126480" y="1691640"/>
            <a:ext cx="2605320" cy="45000"/>
          </a:xfrm>
          <a:prstGeom prst="rect">
            <a:avLst/>
          </a:prstGeom>
          <a:solidFill>
            <a:srgbClr val="c9933a"/>
          </a:solidFill>
          <a:ln w="12700">
            <a:solidFill>
              <a:srgbClr val="c9933a"/>
            </a:solidFill>
            <a:round/>
          </a:ln>
        </p:spPr>
        <p:style>
          <a:lnRef idx="0"/>
          <a:fillRef idx="0"/>
          <a:effectRef idx="0"/>
          <a:fontRef idx="minor"/>
        </p:style>
        <p:txBody>
          <a:bodyPr lIns="90000" rIns="90000" tIns="720" bIns="720" anchor="t">
            <a:noAutofit/>
          </a:bodyPr>
          <a:p>
            <a:pPr>
              <a:lnSpc>
                <a:spcPct val="100000"/>
              </a:lnSpc>
            </a:pPr>
            <a:endParaRPr b="0" lang="en-US" sz="1800" strike="noStrike" u="none">
              <a:solidFill>
                <a:srgbClr val="ffffff"/>
              </a:solidFill>
              <a:effectLst/>
              <a:uFillTx/>
              <a:latin typeface="Arial"/>
            </a:endParaRPr>
          </a:p>
        </p:txBody>
      </p:sp>
      <p:sp>
        <p:nvSpPr>
          <p:cNvPr id="137" name="Text 13"/>
          <p:cNvSpPr/>
          <p:nvPr/>
        </p:nvSpPr>
        <p:spPr>
          <a:xfrm>
            <a:off x="6263640" y="1764720"/>
            <a:ext cx="233100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trike="noStrike" u="none">
                <a:solidFill>
                  <a:srgbClr val="c9933a"/>
                </a:solidFill>
                <a:effectLst/>
                <a:uFillTx/>
                <a:latin typeface="Georgia"/>
                <a:ea typeface="Georgia"/>
              </a:rPr>
              <a:t>0.8574</a:t>
            </a:r>
            <a:endParaRPr b="0" lang="en-US" sz="2600" strike="noStrike" u="none">
              <a:solidFill>
                <a:srgbClr val="ffffff"/>
              </a:solidFill>
              <a:effectLst/>
              <a:uFillTx/>
              <a:latin typeface="Arial"/>
            </a:endParaRPr>
          </a:p>
        </p:txBody>
      </p:sp>
      <p:sp>
        <p:nvSpPr>
          <p:cNvPr id="138" name="Text 14"/>
          <p:cNvSpPr/>
          <p:nvPr/>
        </p:nvSpPr>
        <p:spPr>
          <a:xfrm>
            <a:off x="6263640" y="2176200"/>
            <a:ext cx="233100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pc="99" strike="noStrike" u="none">
                <a:solidFill>
                  <a:srgbClr val="8ca0bb"/>
                </a:solidFill>
                <a:effectLst/>
                <a:uFillTx/>
                <a:latin typeface="Calibri"/>
                <a:ea typeface="Calibri"/>
              </a:rPr>
              <a:t>AUROC</a:t>
            </a:r>
            <a:endParaRPr b="0" lang="en-US" sz="950" strike="noStrike" u="none">
              <a:solidFill>
                <a:srgbClr val="ffffff"/>
              </a:solidFill>
              <a:effectLst/>
              <a:uFillTx/>
              <a:latin typeface="Arial"/>
            </a:endParaRPr>
          </a:p>
        </p:txBody>
      </p:sp>
      <p:sp>
        <p:nvSpPr>
          <p:cNvPr id="139" name="Text 15"/>
          <p:cNvSpPr/>
          <p:nvPr/>
        </p:nvSpPr>
        <p:spPr>
          <a:xfrm>
            <a:off x="457200" y="2651760"/>
            <a:ext cx="2742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49" strike="noStrike" u="none">
                <a:solidFill>
                  <a:srgbClr val="c9933a"/>
                </a:solidFill>
                <a:effectLst/>
                <a:uFillTx/>
                <a:latin typeface="Calibri"/>
                <a:ea typeface="Calibri"/>
              </a:rPr>
              <a:t>Why these choices</a:t>
            </a:r>
            <a:endParaRPr b="0" lang="en-US" sz="1050" strike="noStrike" u="none">
              <a:solidFill>
                <a:srgbClr val="ffffff"/>
              </a:solidFill>
              <a:effectLst/>
              <a:uFillTx/>
              <a:latin typeface="Arial"/>
            </a:endParaRPr>
          </a:p>
        </p:txBody>
      </p:sp>
      <p:sp>
        <p:nvSpPr>
          <p:cNvPr id="140" name="Shape 16"/>
          <p:cNvSpPr/>
          <p:nvPr/>
        </p:nvSpPr>
        <p:spPr>
          <a:xfrm>
            <a:off x="457200" y="2962800"/>
            <a:ext cx="8228880" cy="4017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1" name="Shape 17"/>
          <p:cNvSpPr/>
          <p:nvPr/>
        </p:nvSpPr>
        <p:spPr>
          <a:xfrm>
            <a:off x="457200" y="2962800"/>
            <a:ext cx="54000" cy="4017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2" name="Text 18"/>
          <p:cNvSpPr/>
          <p:nvPr/>
        </p:nvSpPr>
        <p:spPr>
          <a:xfrm>
            <a:off x="685800" y="2990160"/>
            <a:ext cx="2010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f5edd6"/>
                </a:solidFill>
                <a:effectLst/>
                <a:uFillTx/>
                <a:latin typeface="Calibri"/>
                <a:ea typeface="Calibri"/>
              </a:rPr>
              <a:t>Bigrams over unigrams</a:t>
            </a:r>
            <a:endParaRPr b="0" lang="en-US" sz="1100" strike="noStrike" u="none">
              <a:solidFill>
                <a:srgbClr val="ffffff"/>
              </a:solidFill>
              <a:effectLst/>
              <a:uFillTx/>
              <a:latin typeface="Arial"/>
            </a:endParaRPr>
          </a:p>
        </p:txBody>
      </p:sp>
      <p:sp>
        <p:nvSpPr>
          <p:cNvPr id="143" name="Text 19"/>
          <p:cNvSpPr/>
          <p:nvPr/>
        </p:nvSpPr>
        <p:spPr>
          <a:xfrm>
            <a:off x="2788920" y="2990160"/>
            <a:ext cx="576000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"not exceed" and "not limited" are 2-word legal signals invisible to unigrams. Bigrams gave +0.024 macro-F1.</a:t>
            </a:r>
            <a:endParaRPr b="0" lang="en-US" sz="1050" strike="noStrike" u="none">
              <a:solidFill>
                <a:srgbClr val="ffffff"/>
              </a:solidFill>
              <a:effectLst/>
              <a:uFillTx/>
              <a:latin typeface="Arial"/>
            </a:endParaRPr>
          </a:p>
        </p:txBody>
      </p:sp>
      <p:sp>
        <p:nvSpPr>
          <p:cNvPr id="144" name="Shape 20"/>
          <p:cNvSpPr/>
          <p:nvPr/>
        </p:nvSpPr>
        <p:spPr>
          <a:xfrm>
            <a:off x="457200" y="3447360"/>
            <a:ext cx="8228880" cy="4017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5" name="Shape 21"/>
          <p:cNvSpPr/>
          <p:nvPr/>
        </p:nvSpPr>
        <p:spPr>
          <a:xfrm>
            <a:off x="457200" y="3447360"/>
            <a:ext cx="54000" cy="4017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6" name="Text 22"/>
          <p:cNvSpPr/>
          <p:nvPr/>
        </p:nvSpPr>
        <p:spPr>
          <a:xfrm>
            <a:off x="685800" y="3474720"/>
            <a:ext cx="2010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f5edd6"/>
                </a:solidFill>
                <a:effectLst/>
                <a:uFillTx/>
                <a:latin typeface="Calibri"/>
                <a:ea typeface="Calibri"/>
              </a:rPr>
              <a:t>class_weight='balanced'</a:t>
            </a:r>
            <a:endParaRPr b="0" lang="en-US" sz="1100" strike="noStrike" u="none">
              <a:solidFill>
                <a:srgbClr val="ffffff"/>
              </a:solidFill>
              <a:effectLst/>
              <a:uFillTx/>
              <a:latin typeface="Arial"/>
            </a:endParaRPr>
          </a:p>
        </p:txBody>
      </p:sp>
      <p:sp>
        <p:nvSpPr>
          <p:cNvPr id="147" name="Text 23"/>
          <p:cNvSpPr/>
          <p:nvPr/>
        </p:nvSpPr>
        <p:spPr>
          <a:xfrm>
            <a:off x="2788920" y="3474720"/>
            <a:ext cx="576000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6 clause types appear in &lt;10% of contracts. Without balancing, the model ignores rare but critical clauses entirely.</a:t>
            </a:r>
            <a:endParaRPr b="0" lang="en-US" sz="1050" strike="noStrike" u="none">
              <a:solidFill>
                <a:srgbClr val="ffffff"/>
              </a:solidFill>
              <a:effectLst/>
              <a:uFillTx/>
              <a:latin typeface="Arial"/>
            </a:endParaRPr>
          </a:p>
        </p:txBody>
      </p:sp>
      <p:sp>
        <p:nvSpPr>
          <p:cNvPr id="148" name="Shape 24"/>
          <p:cNvSpPr/>
          <p:nvPr/>
        </p:nvSpPr>
        <p:spPr>
          <a:xfrm>
            <a:off x="457200" y="3931920"/>
            <a:ext cx="8228880" cy="4017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9" name="Shape 25"/>
          <p:cNvSpPr/>
          <p:nvPr/>
        </p:nvSpPr>
        <p:spPr>
          <a:xfrm>
            <a:off x="457200" y="3931920"/>
            <a:ext cx="54000" cy="4017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0" name="Text 26"/>
          <p:cNvSpPr/>
          <p:nvPr/>
        </p:nvSpPr>
        <p:spPr>
          <a:xfrm>
            <a:off x="685800" y="3959280"/>
            <a:ext cx="2010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f5edd6"/>
                </a:solidFill>
                <a:effectLst/>
                <a:uFillTx/>
                <a:latin typeface="Calibri"/>
                <a:ea typeface="Calibri"/>
              </a:rPr>
              <a:t>Macro-F1 as primary metric</a:t>
            </a:r>
            <a:endParaRPr b="0" lang="en-US" sz="1100" strike="noStrike" u="none">
              <a:solidFill>
                <a:srgbClr val="ffffff"/>
              </a:solidFill>
              <a:effectLst/>
              <a:uFillTx/>
              <a:latin typeface="Arial"/>
            </a:endParaRPr>
          </a:p>
        </p:txBody>
      </p:sp>
      <p:sp>
        <p:nvSpPr>
          <p:cNvPr id="151" name="Text 27"/>
          <p:cNvSpPr/>
          <p:nvPr/>
        </p:nvSpPr>
        <p:spPr>
          <a:xfrm>
            <a:off x="2788920" y="3959280"/>
            <a:ext cx="576000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Micro-F1 is dominated by common clauses (Governing Law: 89% prevalence). Macro-F1 weights all 41 clause types equally — the attorney's real concern.</a:t>
            </a:r>
            <a:endParaRPr b="0" lang="en-US" sz="1050" strike="noStrike" u="none">
              <a:solidFill>
                <a:srgbClr val="ffffff"/>
              </a:solidFill>
              <a:effectLst/>
              <a:uFillTx/>
              <a:latin typeface="Arial"/>
            </a:endParaRPr>
          </a:p>
        </p:txBody>
      </p:sp>
      <p:sp>
        <p:nvSpPr>
          <p:cNvPr id="152" name="Shape 28"/>
          <p:cNvSpPr/>
          <p:nvPr/>
        </p:nvSpPr>
        <p:spPr>
          <a:xfrm>
            <a:off x="457200" y="4416480"/>
            <a:ext cx="8228880" cy="4017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3" name="Shape 29"/>
          <p:cNvSpPr/>
          <p:nvPr/>
        </p:nvSpPr>
        <p:spPr>
          <a:xfrm>
            <a:off x="457200" y="4416480"/>
            <a:ext cx="54000" cy="4017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4" name="Text 30"/>
          <p:cNvSpPr/>
          <p:nvPr/>
        </p:nvSpPr>
        <p:spPr>
          <a:xfrm>
            <a:off x="685800" y="4443840"/>
            <a:ext cx="2010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f5edd6"/>
                </a:solidFill>
                <a:effectLst/>
                <a:uFillTx/>
                <a:latin typeface="Calibri"/>
                <a:ea typeface="Calibri"/>
              </a:rPr>
              <a:t>Iterative stratification</a:t>
            </a:r>
            <a:endParaRPr b="0" lang="en-US" sz="1100" strike="noStrike" u="none">
              <a:solidFill>
                <a:srgbClr val="ffffff"/>
              </a:solidFill>
              <a:effectLst/>
              <a:uFillTx/>
              <a:latin typeface="Arial"/>
            </a:endParaRPr>
          </a:p>
        </p:txBody>
      </p:sp>
      <p:sp>
        <p:nvSpPr>
          <p:cNvPr id="155" name="Text 31"/>
          <p:cNvSpPr/>
          <p:nvPr/>
        </p:nvSpPr>
        <p:spPr>
          <a:xfrm>
            <a:off x="2788920" y="4443840"/>
            <a:ext cx="576000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b8ccdf"/>
                </a:solidFill>
                <a:effectLst/>
                <a:uFillTx/>
                <a:latin typeface="Calibri"/>
                <a:ea typeface="Calibri"/>
              </a:rPr>
              <a:t>Standard splits can produce zero test positives for rare clauses. Sechidis (2011) algorithm guarantees all 41 labels in every fold.</a:t>
            </a:r>
            <a:endParaRPr b="0" lang="en-US" sz="10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156"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7"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MODEL EVOLUTION  ·  WEEK 3</a:t>
            </a:r>
            <a:endParaRPr b="0" lang="en-US" sz="900" strike="noStrike" u="none">
              <a:solidFill>
                <a:srgbClr val="ffffff"/>
              </a:solidFill>
              <a:effectLst/>
              <a:uFillTx/>
              <a:latin typeface="Arial"/>
            </a:endParaRPr>
          </a:p>
        </p:txBody>
      </p:sp>
      <p:sp>
        <p:nvSpPr>
          <p:cNvPr id="158" name="Text 2"/>
          <p:cNvSpPr/>
          <p:nvPr/>
        </p:nvSpPr>
        <p:spPr>
          <a:xfrm>
            <a:off x="457200" y="502920"/>
            <a:ext cx="822888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5edd6"/>
                </a:solidFill>
                <a:effectLst/>
                <a:uFillTx/>
                <a:latin typeface="Georgia"/>
                <a:ea typeface="Georgia"/>
              </a:rPr>
              <a:t>Random Forest + Ablation Study</a:t>
            </a:r>
            <a:endParaRPr b="0" lang="en-US" sz="3400" strike="noStrike" u="none">
              <a:solidFill>
                <a:srgbClr val="ffffff"/>
              </a:solidFill>
              <a:effectLst/>
              <a:uFillTx/>
              <a:latin typeface="Arial"/>
            </a:endParaRPr>
          </a:p>
        </p:txBody>
      </p:sp>
      <p:sp>
        <p:nvSpPr>
          <p:cNvPr id="159" name="Text 3"/>
          <p:cNvSpPr/>
          <p:nvPr/>
        </p:nvSpPr>
        <p:spPr>
          <a:xfrm>
            <a:off x="457200" y="1170360"/>
            <a:ext cx="822888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trike="noStrike" u="none">
                <a:solidFill>
                  <a:srgbClr val="b8ccdf"/>
                </a:solidFill>
                <a:effectLst/>
                <a:uFillTx/>
                <a:latin typeface="Calibri"/>
                <a:ea typeface="Calibri"/>
              </a:rPr>
              <a:t>4 controlled experiments to understand exactly which design choices matter</a:t>
            </a:r>
            <a:endParaRPr b="0" lang="en-US" sz="1250" strike="noStrike" u="none">
              <a:solidFill>
                <a:srgbClr val="ffffff"/>
              </a:solidFill>
              <a:effectLst/>
              <a:uFillTx/>
              <a:latin typeface="Arial"/>
            </a:endParaRPr>
          </a:p>
        </p:txBody>
      </p:sp>
      <p:sp>
        <p:nvSpPr>
          <p:cNvPr id="160" name="Shape 4"/>
          <p:cNvSpPr/>
          <p:nvPr/>
        </p:nvSpPr>
        <p:spPr>
          <a:xfrm>
            <a:off x="411480" y="1572840"/>
            <a:ext cx="3519720" cy="337680"/>
          </a:xfrm>
          <a:prstGeom prst="rect">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1" name="Text 5"/>
          <p:cNvSpPr/>
          <p:nvPr/>
        </p:nvSpPr>
        <p:spPr>
          <a:xfrm>
            <a:off x="484560" y="1572840"/>
            <a:ext cx="3428280" cy="337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50c1a"/>
                </a:solidFill>
                <a:effectLst/>
                <a:uFillTx/>
                <a:latin typeface="Calibri"/>
                <a:ea typeface="Calibri"/>
              </a:rPr>
              <a:t>Model</a:t>
            </a:r>
            <a:endParaRPr b="0" lang="en-US" sz="1000" strike="noStrike" u="none">
              <a:solidFill>
                <a:srgbClr val="ffffff"/>
              </a:solidFill>
              <a:effectLst/>
              <a:uFillTx/>
              <a:latin typeface="Arial"/>
            </a:endParaRPr>
          </a:p>
        </p:txBody>
      </p:sp>
      <p:sp>
        <p:nvSpPr>
          <p:cNvPr id="162" name="Shape 6"/>
          <p:cNvSpPr/>
          <p:nvPr/>
        </p:nvSpPr>
        <p:spPr>
          <a:xfrm>
            <a:off x="3931920" y="1572840"/>
            <a:ext cx="1114920" cy="337680"/>
          </a:xfrm>
          <a:prstGeom prst="rect">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3" name="Text 7"/>
          <p:cNvSpPr/>
          <p:nvPr/>
        </p:nvSpPr>
        <p:spPr>
          <a:xfrm>
            <a:off x="4005000" y="1572840"/>
            <a:ext cx="1023480" cy="337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50c1a"/>
                </a:solidFill>
                <a:effectLst/>
                <a:uFillTx/>
                <a:latin typeface="Calibri"/>
                <a:ea typeface="Calibri"/>
              </a:rPr>
              <a:t>Micro-F1</a:t>
            </a:r>
            <a:endParaRPr b="0" lang="en-US" sz="1000" strike="noStrike" u="none">
              <a:solidFill>
                <a:srgbClr val="ffffff"/>
              </a:solidFill>
              <a:effectLst/>
              <a:uFillTx/>
              <a:latin typeface="Arial"/>
            </a:endParaRPr>
          </a:p>
        </p:txBody>
      </p:sp>
      <p:sp>
        <p:nvSpPr>
          <p:cNvPr id="164" name="Shape 8"/>
          <p:cNvSpPr/>
          <p:nvPr/>
        </p:nvSpPr>
        <p:spPr>
          <a:xfrm>
            <a:off x="5047560" y="1572840"/>
            <a:ext cx="1114920" cy="337680"/>
          </a:xfrm>
          <a:prstGeom prst="rect">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5" name="Text 9"/>
          <p:cNvSpPr/>
          <p:nvPr/>
        </p:nvSpPr>
        <p:spPr>
          <a:xfrm>
            <a:off x="5120640" y="1572840"/>
            <a:ext cx="1023480" cy="337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50c1a"/>
                </a:solidFill>
                <a:effectLst/>
                <a:uFillTx/>
                <a:latin typeface="Calibri"/>
                <a:ea typeface="Calibri"/>
              </a:rPr>
              <a:t>Macro-F1</a:t>
            </a:r>
            <a:endParaRPr b="0" lang="en-US" sz="1000" strike="noStrike" u="none">
              <a:solidFill>
                <a:srgbClr val="ffffff"/>
              </a:solidFill>
              <a:effectLst/>
              <a:uFillTx/>
              <a:latin typeface="Arial"/>
            </a:endParaRPr>
          </a:p>
        </p:txBody>
      </p:sp>
      <p:sp>
        <p:nvSpPr>
          <p:cNvPr id="166" name="Shape 10"/>
          <p:cNvSpPr/>
          <p:nvPr/>
        </p:nvSpPr>
        <p:spPr>
          <a:xfrm>
            <a:off x="6163200" y="1572840"/>
            <a:ext cx="1023480" cy="337680"/>
          </a:xfrm>
          <a:prstGeom prst="rect">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7" name="Text 11"/>
          <p:cNvSpPr/>
          <p:nvPr/>
        </p:nvSpPr>
        <p:spPr>
          <a:xfrm>
            <a:off x="6236280" y="1572840"/>
            <a:ext cx="932040" cy="337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50c1a"/>
                </a:solidFill>
                <a:effectLst/>
                <a:uFillTx/>
                <a:latin typeface="Calibri"/>
                <a:ea typeface="Calibri"/>
              </a:rPr>
              <a:t>AUROC</a:t>
            </a:r>
            <a:endParaRPr b="0" lang="en-US" sz="1000" strike="noStrike" u="none">
              <a:solidFill>
                <a:srgbClr val="ffffff"/>
              </a:solidFill>
              <a:effectLst/>
              <a:uFillTx/>
              <a:latin typeface="Arial"/>
            </a:endParaRPr>
          </a:p>
        </p:txBody>
      </p:sp>
      <p:sp>
        <p:nvSpPr>
          <p:cNvPr id="168" name="Shape 12"/>
          <p:cNvSpPr/>
          <p:nvPr/>
        </p:nvSpPr>
        <p:spPr>
          <a:xfrm>
            <a:off x="7187040" y="1572840"/>
            <a:ext cx="996120" cy="337680"/>
          </a:xfrm>
          <a:prstGeom prst="rect">
            <a:avLst/>
          </a:prstGeom>
          <a:solidFill>
            <a:srgbClr val="c9933a"/>
          </a:solidFill>
          <a:ln w="635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9" name="Text 13"/>
          <p:cNvSpPr/>
          <p:nvPr/>
        </p:nvSpPr>
        <p:spPr>
          <a:xfrm>
            <a:off x="7260480" y="1572840"/>
            <a:ext cx="904680" cy="337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50c1a"/>
                </a:solidFill>
                <a:effectLst/>
                <a:uFillTx/>
                <a:latin typeface="Calibri"/>
                <a:ea typeface="Calibri"/>
              </a:rPr>
              <a:t>Delta MF1</a:t>
            </a:r>
            <a:endParaRPr b="0" lang="en-US" sz="1000" strike="noStrike" u="none">
              <a:solidFill>
                <a:srgbClr val="ffffff"/>
              </a:solidFill>
              <a:effectLst/>
              <a:uFillTx/>
              <a:latin typeface="Arial"/>
            </a:endParaRPr>
          </a:p>
        </p:txBody>
      </p:sp>
      <p:sp>
        <p:nvSpPr>
          <p:cNvPr id="170" name="Shape 14"/>
          <p:cNvSpPr/>
          <p:nvPr/>
        </p:nvSpPr>
        <p:spPr>
          <a:xfrm>
            <a:off x="411480" y="1911240"/>
            <a:ext cx="3519720" cy="383400"/>
          </a:xfrm>
          <a:prstGeom prst="rect">
            <a:avLst/>
          </a:prstGeom>
          <a:solidFill>
            <a:srgbClr val="0f1e35"/>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1" name="Text 15"/>
          <p:cNvSpPr/>
          <p:nvPr/>
        </p:nvSpPr>
        <p:spPr>
          <a:xfrm>
            <a:off x="484560" y="191124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e8ad50"/>
                </a:solidFill>
                <a:effectLst/>
                <a:uFillTx/>
                <a:latin typeface="Calibri"/>
                <a:ea typeface="Calibri"/>
              </a:rPr>
              <a:t>LR balanced bigram — W2 baseline</a:t>
            </a:r>
            <a:endParaRPr b="0" lang="en-US" sz="1000" strike="noStrike" u="none">
              <a:solidFill>
                <a:srgbClr val="ffffff"/>
              </a:solidFill>
              <a:effectLst/>
              <a:uFillTx/>
              <a:latin typeface="Arial"/>
            </a:endParaRPr>
          </a:p>
        </p:txBody>
      </p:sp>
      <p:sp>
        <p:nvSpPr>
          <p:cNvPr id="172" name="Shape 16"/>
          <p:cNvSpPr/>
          <p:nvPr/>
        </p:nvSpPr>
        <p:spPr>
          <a:xfrm>
            <a:off x="3931920" y="1911240"/>
            <a:ext cx="1114920" cy="383400"/>
          </a:xfrm>
          <a:prstGeom prst="rect">
            <a:avLst/>
          </a:prstGeom>
          <a:solidFill>
            <a:srgbClr val="0f1e35"/>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3" name="Text 17"/>
          <p:cNvSpPr/>
          <p:nvPr/>
        </p:nvSpPr>
        <p:spPr>
          <a:xfrm>
            <a:off x="4005000" y="191124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e8ad50"/>
                </a:solidFill>
                <a:effectLst/>
                <a:uFillTx/>
                <a:latin typeface="Calibri"/>
                <a:ea typeface="Calibri"/>
              </a:rPr>
              <a:t>0.8071</a:t>
            </a:r>
            <a:endParaRPr b="0" lang="en-US" sz="1100" strike="noStrike" u="none">
              <a:solidFill>
                <a:srgbClr val="ffffff"/>
              </a:solidFill>
              <a:effectLst/>
              <a:uFillTx/>
              <a:latin typeface="Arial"/>
            </a:endParaRPr>
          </a:p>
        </p:txBody>
      </p:sp>
      <p:sp>
        <p:nvSpPr>
          <p:cNvPr id="174" name="Shape 18"/>
          <p:cNvSpPr/>
          <p:nvPr/>
        </p:nvSpPr>
        <p:spPr>
          <a:xfrm>
            <a:off x="5047560" y="1911240"/>
            <a:ext cx="1114920" cy="383400"/>
          </a:xfrm>
          <a:prstGeom prst="rect">
            <a:avLst/>
          </a:prstGeom>
          <a:solidFill>
            <a:srgbClr val="0f1e35"/>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5" name="Text 19"/>
          <p:cNvSpPr/>
          <p:nvPr/>
        </p:nvSpPr>
        <p:spPr>
          <a:xfrm>
            <a:off x="5120640" y="191124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e8ad50"/>
                </a:solidFill>
                <a:effectLst/>
                <a:uFillTx/>
                <a:latin typeface="Calibri"/>
                <a:ea typeface="Calibri"/>
              </a:rPr>
              <a:t>0.6358</a:t>
            </a:r>
            <a:endParaRPr b="0" lang="en-US" sz="1100" strike="noStrike" u="none">
              <a:solidFill>
                <a:srgbClr val="ffffff"/>
              </a:solidFill>
              <a:effectLst/>
              <a:uFillTx/>
              <a:latin typeface="Arial"/>
            </a:endParaRPr>
          </a:p>
        </p:txBody>
      </p:sp>
      <p:sp>
        <p:nvSpPr>
          <p:cNvPr id="176" name="Shape 20"/>
          <p:cNvSpPr/>
          <p:nvPr/>
        </p:nvSpPr>
        <p:spPr>
          <a:xfrm>
            <a:off x="6163200" y="1911240"/>
            <a:ext cx="1023480" cy="383400"/>
          </a:xfrm>
          <a:prstGeom prst="rect">
            <a:avLst/>
          </a:prstGeom>
          <a:solidFill>
            <a:srgbClr val="0f1e35"/>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7" name="Text 21"/>
          <p:cNvSpPr/>
          <p:nvPr/>
        </p:nvSpPr>
        <p:spPr>
          <a:xfrm>
            <a:off x="6236280" y="191124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e8ad50"/>
                </a:solidFill>
                <a:effectLst/>
                <a:uFillTx/>
                <a:latin typeface="Calibri"/>
                <a:ea typeface="Calibri"/>
              </a:rPr>
              <a:t>0.8574</a:t>
            </a:r>
            <a:endParaRPr b="0" lang="en-US" sz="1100" strike="noStrike" u="none">
              <a:solidFill>
                <a:srgbClr val="ffffff"/>
              </a:solidFill>
              <a:effectLst/>
              <a:uFillTx/>
              <a:latin typeface="Arial"/>
            </a:endParaRPr>
          </a:p>
        </p:txBody>
      </p:sp>
      <p:sp>
        <p:nvSpPr>
          <p:cNvPr id="178" name="Shape 22"/>
          <p:cNvSpPr/>
          <p:nvPr/>
        </p:nvSpPr>
        <p:spPr>
          <a:xfrm>
            <a:off x="7187040" y="1911240"/>
            <a:ext cx="996120" cy="383400"/>
          </a:xfrm>
          <a:prstGeom prst="rect">
            <a:avLst/>
          </a:prstGeom>
          <a:solidFill>
            <a:srgbClr val="0f1e35"/>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9" name="Text 23"/>
          <p:cNvSpPr/>
          <p:nvPr/>
        </p:nvSpPr>
        <p:spPr>
          <a:xfrm>
            <a:off x="7260480" y="191124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e8ad50"/>
                </a:solidFill>
                <a:effectLst/>
                <a:uFillTx/>
                <a:latin typeface="Calibri"/>
                <a:ea typeface="Calibri"/>
              </a:rPr>
              <a:t>—</a:t>
            </a:r>
            <a:endParaRPr b="0" lang="en-US" sz="1100" strike="noStrike" u="none">
              <a:solidFill>
                <a:srgbClr val="ffffff"/>
              </a:solidFill>
              <a:effectLst/>
              <a:uFillTx/>
              <a:latin typeface="Arial"/>
            </a:endParaRPr>
          </a:p>
        </p:txBody>
      </p:sp>
      <p:sp>
        <p:nvSpPr>
          <p:cNvPr id="180" name="Shape 24"/>
          <p:cNvSpPr/>
          <p:nvPr/>
        </p:nvSpPr>
        <p:spPr>
          <a:xfrm>
            <a:off x="411480" y="2331720"/>
            <a:ext cx="35197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1" name="Text 25"/>
          <p:cNvSpPr/>
          <p:nvPr/>
        </p:nvSpPr>
        <p:spPr>
          <a:xfrm>
            <a:off x="484560" y="233172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RF 100-tree balanced</a:t>
            </a:r>
            <a:endParaRPr b="0" lang="en-US" sz="1000" strike="noStrike" u="none">
              <a:solidFill>
                <a:srgbClr val="ffffff"/>
              </a:solidFill>
              <a:effectLst/>
              <a:uFillTx/>
              <a:latin typeface="Arial"/>
            </a:endParaRPr>
          </a:p>
        </p:txBody>
      </p:sp>
      <p:sp>
        <p:nvSpPr>
          <p:cNvPr id="182" name="Shape 26"/>
          <p:cNvSpPr/>
          <p:nvPr/>
        </p:nvSpPr>
        <p:spPr>
          <a:xfrm>
            <a:off x="3931920" y="233172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3" name="Text 27"/>
          <p:cNvSpPr/>
          <p:nvPr/>
        </p:nvSpPr>
        <p:spPr>
          <a:xfrm>
            <a:off x="4005000" y="233172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0.7774</a:t>
            </a:r>
            <a:endParaRPr b="0" lang="en-US" sz="1100" strike="noStrike" u="none">
              <a:solidFill>
                <a:srgbClr val="ffffff"/>
              </a:solidFill>
              <a:effectLst/>
              <a:uFillTx/>
              <a:latin typeface="Arial"/>
            </a:endParaRPr>
          </a:p>
        </p:txBody>
      </p:sp>
      <p:sp>
        <p:nvSpPr>
          <p:cNvPr id="184" name="Shape 28"/>
          <p:cNvSpPr/>
          <p:nvPr/>
        </p:nvSpPr>
        <p:spPr>
          <a:xfrm>
            <a:off x="5047560" y="233172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5" name="Text 29"/>
          <p:cNvSpPr/>
          <p:nvPr/>
        </p:nvSpPr>
        <p:spPr>
          <a:xfrm>
            <a:off x="5120640" y="233172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0.5145</a:t>
            </a:r>
            <a:endParaRPr b="0" lang="en-US" sz="1100" strike="noStrike" u="none">
              <a:solidFill>
                <a:srgbClr val="ffffff"/>
              </a:solidFill>
              <a:effectLst/>
              <a:uFillTx/>
              <a:latin typeface="Arial"/>
            </a:endParaRPr>
          </a:p>
        </p:txBody>
      </p:sp>
      <p:sp>
        <p:nvSpPr>
          <p:cNvPr id="186" name="Shape 30"/>
          <p:cNvSpPr/>
          <p:nvPr/>
        </p:nvSpPr>
        <p:spPr>
          <a:xfrm>
            <a:off x="6163200" y="2331720"/>
            <a:ext cx="102348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7" name="Text 31"/>
          <p:cNvSpPr/>
          <p:nvPr/>
        </p:nvSpPr>
        <p:spPr>
          <a:xfrm>
            <a:off x="6236280" y="233172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0.8525</a:t>
            </a:r>
            <a:endParaRPr b="0" lang="en-US" sz="1100" strike="noStrike" u="none">
              <a:solidFill>
                <a:srgbClr val="ffffff"/>
              </a:solidFill>
              <a:effectLst/>
              <a:uFillTx/>
              <a:latin typeface="Arial"/>
            </a:endParaRPr>
          </a:p>
        </p:txBody>
      </p:sp>
      <p:sp>
        <p:nvSpPr>
          <p:cNvPr id="188" name="Shape 32"/>
          <p:cNvSpPr/>
          <p:nvPr/>
        </p:nvSpPr>
        <p:spPr>
          <a:xfrm>
            <a:off x="7187040" y="2331720"/>
            <a:ext cx="9961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9" name="Text 33"/>
          <p:cNvSpPr/>
          <p:nvPr/>
        </p:nvSpPr>
        <p:spPr>
          <a:xfrm>
            <a:off x="7260480" y="233172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−0.121</a:t>
            </a:r>
            <a:endParaRPr b="0" lang="en-US" sz="1100" strike="noStrike" u="none">
              <a:solidFill>
                <a:srgbClr val="ffffff"/>
              </a:solidFill>
              <a:effectLst/>
              <a:uFillTx/>
              <a:latin typeface="Arial"/>
            </a:endParaRPr>
          </a:p>
        </p:txBody>
      </p:sp>
      <p:sp>
        <p:nvSpPr>
          <p:cNvPr id="190" name="Shape 34"/>
          <p:cNvSpPr/>
          <p:nvPr/>
        </p:nvSpPr>
        <p:spPr>
          <a:xfrm>
            <a:off x="411480" y="2752200"/>
            <a:ext cx="35197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1" name="Text 35"/>
          <p:cNvSpPr/>
          <p:nvPr/>
        </p:nvSpPr>
        <p:spPr>
          <a:xfrm>
            <a:off x="484560" y="275220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A1: LR unigrams only</a:t>
            </a:r>
            <a:endParaRPr b="0" lang="en-US" sz="1000" strike="noStrike" u="none">
              <a:solidFill>
                <a:srgbClr val="ffffff"/>
              </a:solidFill>
              <a:effectLst/>
              <a:uFillTx/>
              <a:latin typeface="Arial"/>
            </a:endParaRPr>
          </a:p>
        </p:txBody>
      </p:sp>
      <p:sp>
        <p:nvSpPr>
          <p:cNvPr id="192" name="Shape 36"/>
          <p:cNvSpPr/>
          <p:nvPr/>
        </p:nvSpPr>
        <p:spPr>
          <a:xfrm>
            <a:off x="3931920" y="275220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3" name="Text 37"/>
          <p:cNvSpPr/>
          <p:nvPr/>
        </p:nvSpPr>
        <p:spPr>
          <a:xfrm>
            <a:off x="4005000" y="275220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0.6352</a:t>
            </a:r>
            <a:endParaRPr b="0" lang="en-US" sz="1100" strike="noStrike" u="none">
              <a:solidFill>
                <a:srgbClr val="ffffff"/>
              </a:solidFill>
              <a:effectLst/>
              <a:uFillTx/>
              <a:latin typeface="Arial"/>
            </a:endParaRPr>
          </a:p>
        </p:txBody>
      </p:sp>
      <p:sp>
        <p:nvSpPr>
          <p:cNvPr id="194" name="Shape 38"/>
          <p:cNvSpPr/>
          <p:nvPr/>
        </p:nvSpPr>
        <p:spPr>
          <a:xfrm>
            <a:off x="5047560" y="275220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5" name="Text 39"/>
          <p:cNvSpPr/>
          <p:nvPr/>
        </p:nvSpPr>
        <p:spPr>
          <a:xfrm>
            <a:off x="5120640" y="275220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0.6119</a:t>
            </a:r>
            <a:endParaRPr b="0" lang="en-US" sz="1100" strike="noStrike" u="none">
              <a:solidFill>
                <a:srgbClr val="ffffff"/>
              </a:solidFill>
              <a:effectLst/>
              <a:uFillTx/>
              <a:latin typeface="Arial"/>
            </a:endParaRPr>
          </a:p>
        </p:txBody>
      </p:sp>
      <p:sp>
        <p:nvSpPr>
          <p:cNvPr id="196" name="Shape 40"/>
          <p:cNvSpPr/>
          <p:nvPr/>
        </p:nvSpPr>
        <p:spPr>
          <a:xfrm>
            <a:off x="6163200" y="2752200"/>
            <a:ext cx="102348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7" name="Text 41"/>
          <p:cNvSpPr/>
          <p:nvPr/>
        </p:nvSpPr>
        <p:spPr>
          <a:xfrm>
            <a:off x="6236280" y="275220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0.7218</a:t>
            </a:r>
            <a:endParaRPr b="0" lang="en-US" sz="1100" strike="noStrike" u="none">
              <a:solidFill>
                <a:srgbClr val="ffffff"/>
              </a:solidFill>
              <a:effectLst/>
              <a:uFillTx/>
              <a:latin typeface="Arial"/>
            </a:endParaRPr>
          </a:p>
        </p:txBody>
      </p:sp>
      <p:sp>
        <p:nvSpPr>
          <p:cNvPr id="198" name="Shape 42"/>
          <p:cNvSpPr/>
          <p:nvPr/>
        </p:nvSpPr>
        <p:spPr>
          <a:xfrm>
            <a:off x="7187040" y="2752200"/>
            <a:ext cx="9961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9" name="Text 43"/>
          <p:cNvSpPr/>
          <p:nvPr/>
        </p:nvSpPr>
        <p:spPr>
          <a:xfrm>
            <a:off x="7260480" y="275220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−0.024</a:t>
            </a:r>
            <a:endParaRPr b="0" lang="en-US" sz="1100" strike="noStrike" u="none">
              <a:solidFill>
                <a:srgbClr val="ffffff"/>
              </a:solidFill>
              <a:effectLst/>
              <a:uFillTx/>
              <a:latin typeface="Arial"/>
            </a:endParaRPr>
          </a:p>
        </p:txBody>
      </p:sp>
      <p:sp>
        <p:nvSpPr>
          <p:cNvPr id="200" name="Shape 44"/>
          <p:cNvSpPr/>
          <p:nvPr/>
        </p:nvSpPr>
        <p:spPr>
          <a:xfrm>
            <a:off x="411480" y="3173040"/>
            <a:ext cx="35197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1" name="Text 45"/>
          <p:cNvSpPr/>
          <p:nvPr/>
        </p:nvSpPr>
        <p:spPr>
          <a:xfrm>
            <a:off x="484560" y="317304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A2: LR bigram, C=5.0</a:t>
            </a:r>
            <a:endParaRPr b="0" lang="en-US" sz="1000" strike="noStrike" u="none">
              <a:solidFill>
                <a:srgbClr val="ffffff"/>
              </a:solidFill>
              <a:effectLst/>
              <a:uFillTx/>
              <a:latin typeface="Arial"/>
            </a:endParaRPr>
          </a:p>
        </p:txBody>
      </p:sp>
      <p:sp>
        <p:nvSpPr>
          <p:cNvPr id="202" name="Shape 46"/>
          <p:cNvSpPr/>
          <p:nvPr/>
        </p:nvSpPr>
        <p:spPr>
          <a:xfrm>
            <a:off x="3931920" y="317304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3" name="Text 47"/>
          <p:cNvSpPr/>
          <p:nvPr/>
        </p:nvSpPr>
        <p:spPr>
          <a:xfrm>
            <a:off x="4005000" y="317304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0.8167</a:t>
            </a:r>
            <a:endParaRPr b="0" lang="en-US" sz="1100" strike="noStrike" u="none">
              <a:solidFill>
                <a:srgbClr val="ffffff"/>
              </a:solidFill>
              <a:effectLst/>
              <a:uFillTx/>
              <a:latin typeface="Arial"/>
            </a:endParaRPr>
          </a:p>
        </p:txBody>
      </p:sp>
      <p:sp>
        <p:nvSpPr>
          <p:cNvPr id="204" name="Shape 48"/>
          <p:cNvSpPr/>
          <p:nvPr/>
        </p:nvSpPr>
        <p:spPr>
          <a:xfrm>
            <a:off x="5047560" y="317304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5" name="Text 49"/>
          <p:cNvSpPr/>
          <p:nvPr/>
        </p:nvSpPr>
        <p:spPr>
          <a:xfrm>
            <a:off x="5120640" y="317304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0.6406</a:t>
            </a:r>
            <a:endParaRPr b="0" lang="en-US" sz="1100" strike="noStrike" u="none">
              <a:solidFill>
                <a:srgbClr val="ffffff"/>
              </a:solidFill>
              <a:effectLst/>
              <a:uFillTx/>
              <a:latin typeface="Arial"/>
            </a:endParaRPr>
          </a:p>
        </p:txBody>
      </p:sp>
      <p:sp>
        <p:nvSpPr>
          <p:cNvPr id="206" name="Shape 50"/>
          <p:cNvSpPr/>
          <p:nvPr/>
        </p:nvSpPr>
        <p:spPr>
          <a:xfrm>
            <a:off x="6163200" y="3173040"/>
            <a:ext cx="102348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7" name="Text 51"/>
          <p:cNvSpPr/>
          <p:nvPr/>
        </p:nvSpPr>
        <p:spPr>
          <a:xfrm>
            <a:off x="6236280" y="317304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c9933a"/>
                </a:solidFill>
                <a:effectLst/>
                <a:uFillTx/>
                <a:latin typeface="Calibri"/>
                <a:ea typeface="Calibri"/>
              </a:rPr>
              <a:t>0.8781</a:t>
            </a:r>
            <a:endParaRPr b="0" lang="en-US" sz="1100" strike="noStrike" u="none">
              <a:solidFill>
                <a:srgbClr val="ffffff"/>
              </a:solidFill>
              <a:effectLst/>
              <a:uFillTx/>
              <a:latin typeface="Arial"/>
            </a:endParaRPr>
          </a:p>
        </p:txBody>
      </p:sp>
      <p:sp>
        <p:nvSpPr>
          <p:cNvPr id="208" name="Shape 52"/>
          <p:cNvSpPr/>
          <p:nvPr/>
        </p:nvSpPr>
        <p:spPr>
          <a:xfrm>
            <a:off x="7187040" y="3173040"/>
            <a:ext cx="9961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9" name="Text 53"/>
          <p:cNvSpPr/>
          <p:nvPr/>
        </p:nvSpPr>
        <p:spPr>
          <a:xfrm>
            <a:off x="7260480" y="317304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+0.005</a:t>
            </a:r>
            <a:endParaRPr b="0" lang="en-US" sz="1100" strike="noStrike" u="none">
              <a:solidFill>
                <a:srgbClr val="ffffff"/>
              </a:solidFill>
              <a:effectLst/>
              <a:uFillTx/>
              <a:latin typeface="Arial"/>
            </a:endParaRPr>
          </a:p>
        </p:txBody>
      </p:sp>
      <p:sp>
        <p:nvSpPr>
          <p:cNvPr id="210" name="Shape 54"/>
          <p:cNvSpPr/>
          <p:nvPr/>
        </p:nvSpPr>
        <p:spPr>
          <a:xfrm>
            <a:off x="411480" y="3593520"/>
            <a:ext cx="35197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1" name="Text 55"/>
          <p:cNvSpPr/>
          <p:nvPr/>
        </p:nvSpPr>
        <p:spPr>
          <a:xfrm>
            <a:off x="484560" y="359352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B1: RF no class weight</a:t>
            </a:r>
            <a:endParaRPr b="0" lang="en-US" sz="1000" strike="noStrike" u="none">
              <a:solidFill>
                <a:srgbClr val="ffffff"/>
              </a:solidFill>
              <a:effectLst/>
              <a:uFillTx/>
              <a:latin typeface="Arial"/>
            </a:endParaRPr>
          </a:p>
        </p:txBody>
      </p:sp>
      <p:sp>
        <p:nvSpPr>
          <p:cNvPr id="212" name="Shape 56"/>
          <p:cNvSpPr/>
          <p:nvPr/>
        </p:nvSpPr>
        <p:spPr>
          <a:xfrm>
            <a:off x="3931920" y="359352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3" name="Text 57"/>
          <p:cNvSpPr/>
          <p:nvPr/>
        </p:nvSpPr>
        <p:spPr>
          <a:xfrm>
            <a:off x="4005000" y="359352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0.7810</a:t>
            </a:r>
            <a:endParaRPr b="0" lang="en-US" sz="1100" strike="noStrike" u="none">
              <a:solidFill>
                <a:srgbClr val="ffffff"/>
              </a:solidFill>
              <a:effectLst/>
              <a:uFillTx/>
              <a:latin typeface="Arial"/>
            </a:endParaRPr>
          </a:p>
        </p:txBody>
      </p:sp>
      <p:sp>
        <p:nvSpPr>
          <p:cNvPr id="214" name="Shape 58"/>
          <p:cNvSpPr/>
          <p:nvPr/>
        </p:nvSpPr>
        <p:spPr>
          <a:xfrm>
            <a:off x="5047560" y="3593520"/>
            <a:ext cx="11149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5" name="Text 59"/>
          <p:cNvSpPr/>
          <p:nvPr/>
        </p:nvSpPr>
        <p:spPr>
          <a:xfrm>
            <a:off x="5120640" y="359352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0.5458</a:t>
            </a:r>
            <a:endParaRPr b="0" lang="en-US" sz="1100" strike="noStrike" u="none">
              <a:solidFill>
                <a:srgbClr val="ffffff"/>
              </a:solidFill>
              <a:effectLst/>
              <a:uFillTx/>
              <a:latin typeface="Arial"/>
            </a:endParaRPr>
          </a:p>
        </p:txBody>
      </p:sp>
      <p:sp>
        <p:nvSpPr>
          <p:cNvPr id="216" name="Shape 60"/>
          <p:cNvSpPr/>
          <p:nvPr/>
        </p:nvSpPr>
        <p:spPr>
          <a:xfrm>
            <a:off x="6163200" y="3593520"/>
            <a:ext cx="102348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7" name="Text 61"/>
          <p:cNvSpPr/>
          <p:nvPr/>
        </p:nvSpPr>
        <p:spPr>
          <a:xfrm>
            <a:off x="6236280" y="359352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0.8333</a:t>
            </a:r>
            <a:endParaRPr b="0" lang="en-US" sz="1100" strike="noStrike" u="none">
              <a:solidFill>
                <a:srgbClr val="ffffff"/>
              </a:solidFill>
              <a:effectLst/>
              <a:uFillTx/>
              <a:latin typeface="Arial"/>
            </a:endParaRPr>
          </a:p>
        </p:txBody>
      </p:sp>
      <p:sp>
        <p:nvSpPr>
          <p:cNvPr id="218" name="Shape 62"/>
          <p:cNvSpPr/>
          <p:nvPr/>
        </p:nvSpPr>
        <p:spPr>
          <a:xfrm>
            <a:off x="7187040" y="3593520"/>
            <a:ext cx="996120" cy="383400"/>
          </a:xfrm>
          <a:prstGeom prst="rect">
            <a:avLst/>
          </a:prstGeom>
          <a:solidFill>
            <a:srgbClr val="0a1628"/>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9" name="Text 63"/>
          <p:cNvSpPr/>
          <p:nvPr/>
        </p:nvSpPr>
        <p:spPr>
          <a:xfrm>
            <a:off x="7260480" y="359352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−0.031</a:t>
            </a:r>
            <a:endParaRPr b="0" lang="en-US" sz="1100" strike="noStrike" u="none">
              <a:solidFill>
                <a:srgbClr val="ffffff"/>
              </a:solidFill>
              <a:effectLst/>
              <a:uFillTx/>
              <a:latin typeface="Arial"/>
            </a:endParaRPr>
          </a:p>
        </p:txBody>
      </p:sp>
      <p:sp>
        <p:nvSpPr>
          <p:cNvPr id="220" name="Shape 64"/>
          <p:cNvSpPr/>
          <p:nvPr/>
        </p:nvSpPr>
        <p:spPr>
          <a:xfrm>
            <a:off x="411480" y="4014360"/>
            <a:ext cx="3519720" cy="383400"/>
          </a:xfrm>
          <a:prstGeom prst="rect">
            <a:avLst/>
          </a:prstGeom>
          <a:solidFill>
            <a:srgbClr val="162440"/>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1" name="Text 65"/>
          <p:cNvSpPr/>
          <p:nvPr/>
        </p:nvSpPr>
        <p:spPr>
          <a:xfrm>
            <a:off x="484560" y="4014360"/>
            <a:ext cx="34282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e8ad50"/>
                </a:solidFill>
                <a:effectLst/>
                <a:uFillTx/>
                <a:latin typeface="Calibri"/>
                <a:ea typeface="Calibri"/>
              </a:rPr>
              <a:t>B2: RF + threshold=0.20  ★ BEST</a:t>
            </a:r>
            <a:endParaRPr b="0" lang="en-US" sz="1000" strike="noStrike" u="none">
              <a:solidFill>
                <a:srgbClr val="ffffff"/>
              </a:solidFill>
              <a:effectLst/>
              <a:uFillTx/>
              <a:latin typeface="Arial"/>
            </a:endParaRPr>
          </a:p>
        </p:txBody>
      </p:sp>
      <p:sp>
        <p:nvSpPr>
          <p:cNvPr id="222" name="Shape 66"/>
          <p:cNvSpPr/>
          <p:nvPr/>
        </p:nvSpPr>
        <p:spPr>
          <a:xfrm>
            <a:off x="3931920" y="4014360"/>
            <a:ext cx="1114920" cy="383400"/>
          </a:xfrm>
          <a:prstGeom prst="rect">
            <a:avLst/>
          </a:prstGeom>
          <a:solidFill>
            <a:srgbClr val="162440"/>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3" name="Text 67"/>
          <p:cNvSpPr/>
          <p:nvPr/>
        </p:nvSpPr>
        <p:spPr>
          <a:xfrm>
            <a:off x="4005000" y="401436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0.7318</a:t>
            </a:r>
            <a:endParaRPr b="0" lang="en-US" sz="1100" strike="noStrike" u="none">
              <a:solidFill>
                <a:srgbClr val="ffffff"/>
              </a:solidFill>
              <a:effectLst/>
              <a:uFillTx/>
              <a:latin typeface="Arial"/>
            </a:endParaRPr>
          </a:p>
        </p:txBody>
      </p:sp>
      <p:sp>
        <p:nvSpPr>
          <p:cNvPr id="224" name="Shape 68"/>
          <p:cNvSpPr/>
          <p:nvPr/>
        </p:nvSpPr>
        <p:spPr>
          <a:xfrm>
            <a:off x="5047560" y="4014360"/>
            <a:ext cx="1114920" cy="383400"/>
          </a:xfrm>
          <a:prstGeom prst="rect">
            <a:avLst/>
          </a:prstGeom>
          <a:solidFill>
            <a:srgbClr val="162440"/>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5" name="Text 69"/>
          <p:cNvSpPr/>
          <p:nvPr/>
        </p:nvSpPr>
        <p:spPr>
          <a:xfrm>
            <a:off x="5120640" y="4014360"/>
            <a:ext cx="10234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c9933a"/>
                </a:solidFill>
                <a:effectLst/>
                <a:uFillTx/>
                <a:latin typeface="Calibri"/>
                <a:ea typeface="Calibri"/>
              </a:rPr>
              <a:t>0.6533</a:t>
            </a:r>
            <a:endParaRPr b="0" lang="en-US" sz="1100" strike="noStrike" u="none">
              <a:solidFill>
                <a:srgbClr val="ffffff"/>
              </a:solidFill>
              <a:effectLst/>
              <a:uFillTx/>
              <a:latin typeface="Arial"/>
            </a:endParaRPr>
          </a:p>
        </p:txBody>
      </p:sp>
      <p:sp>
        <p:nvSpPr>
          <p:cNvPr id="226" name="Shape 70"/>
          <p:cNvSpPr/>
          <p:nvPr/>
        </p:nvSpPr>
        <p:spPr>
          <a:xfrm>
            <a:off x="6163200" y="4014360"/>
            <a:ext cx="1023480" cy="383400"/>
          </a:xfrm>
          <a:prstGeom prst="rect">
            <a:avLst/>
          </a:prstGeom>
          <a:solidFill>
            <a:srgbClr val="162440"/>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7" name="Text 71"/>
          <p:cNvSpPr/>
          <p:nvPr/>
        </p:nvSpPr>
        <p:spPr>
          <a:xfrm>
            <a:off x="6236280" y="4014360"/>
            <a:ext cx="9320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0.8525</a:t>
            </a:r>
            <a:endParaRPr b="0" lang="en-US" sz="1100" strike="noStrike" u="none">
              <a:solidFill>
                <a:srgbClr val="ffffff"/>
              </a:solidFill>
              <a:effectLst/>
              <a:uFillTx/>
              <a:latin typeface="Arial"/>
            </a:endParaRPr>
          </a:p>
        </p:txBody>
      </p:sp>
      <p:sp>
        <p:nvSpPr>
          <p:cNvPr id="228" name="Shape 72"/>
          <p:cNvSpPr/>
          <p:nvPr/>
        </p:nvSpPr>
        <p:spPr>
          <a:xfrm>
            <a:off x="7187040" y="4014360"/>
            <a:ext cx="996120" cy="383400"/>
          </a:xfrm>
          <a:prstGeom prst="rect">
            <a:avLst/>
          </a:prstGeom>
          <a:solidFill>
            <a:srgbClr val="162440"/>
          </a:solidFill>
          <a:ln w="635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9" name="Text 73"/>
          <p:cNvSpPr/>
          <p:nvPr/>
        </p:nvSpPr>
        <p:spPr>
          <a:xfrm>
            <a:off x="7260480" y="4014360"/>
            <a:ext cx="90468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+0.018</a:t>
            </a:r>
            <a:endParaRPr b="0" lang="en-US" sz="1100" strike="noStrike" u="none">
              <a:solidFill>
                <a:srgbClr val="ffffff"/>
              </a:solidFill>
              <a:effectLst/>
              <a:uFillTx/>
              <a:latin typeface="Arial"/>
            </a:endParaRPr>
          </a:p>
        </p:txBody>
      </p:sp>
      <p:sp>
        <p:nvSpPr>
          <p:cNvPr id="230" name="Shape 74"/>
          <p:cNvSpPr/>
          <p:nvPr/>
        </p:nvSpPr>
        <p:spPr>
          <a:xfrm>
            <a:off x="411480" y="4553640"/>
            <a:ext cx="8320320" cy="438120"/>
          </a:xfrm>
          <a:prstGeom prst="rect">
            <a:avLst/>
          </a:prstGeom>
          <a:solidFill>
            <a:srgbClr val="162440"/>
          </a:solidFill>
          <a:ln w="9525">
            <a:solidFill>
              <a:srgbClr val="c9933a"/>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1" name="Text 75"/>
          <p:cNvSpPr/>
          <p:nvPr/>
        </p:nvSpPr>
        <p:spPr>
          <a:xfrm>
            <a:off x="548640" y="4553640"/>
            <a:ext cx="804600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c9933a"/>
                </a:solidFill>
                <a:effectLst/>
                <a:uFillTx/>
                <a:latin typeface="Calibri"/>
                <a:ea typeface="Calibri"/>
              </a:rPr>
              <a:t>★  Biggest single gain: threshold tuning (0.5 → 0.20) recovered +0.139 macro-F1 — no model change, just calibrating the decision boundary to the imbalanced class distribution</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232"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3"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KEY FINDING  ·  WEEK 3</a:t>
            </a:r>
            <a:endParaRPr b="0" lang="en-US" sz="900" strike="noStrike" u="none">
              <a:solidFill>
                <a:srgbClr val="ffffff"/>
              </a:solidFill>
              <a:effectLst/>
              <a:uFillTx/>
              <a:latin typeface="Arial"/>
            </a:endParaRPr>
          </a:p>
        </p:txBody>
      </p:sp>
      <p:sp>
        <p:nvSpPr>
          <p:cNvPr id="234" name="Text 2"/>
          <p:cNvSpPr/>
          <p:nvPr/>
        </p:nvSpPr>
        <p:spPr>
          <a:xfrm>
            <a:off x="457200" y="475560"/>
            <a:ext cx="822888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f5edd6"/>
                </a:solidFill>
                <a:effectLst/>
                <a:uFillTx/>
                <a:latin typeface="Georgia"/>
                <a:ea typeface="Georgia"/>
              </a:rPr>
              <a:t>The vocabulary confusion problem</a:t>
            </a:r>
            <a:endParaRPr b="0" lang="en-US" sz="2800" strike="noStrike" u="none">
              <a:solidFill>
                <a:srgbClr val="ffffff"/>
              </a:solidFill>
              <a:effectLst/>
              <a:uFillTx/>
              <a:latin typeface="Arial"/>
            </a:endParaRPr>
          </a:p>
        </p:txBody>
      </p:sp>
      <p:sp>
        <p:nvSpPr>
          <p:cNvPr id="235" name="Shape 3"/>
          <p:cNvSpPr/>
          <p:nvPr/>
        </p:nvSpPr>
        <p:spPr>
          <a:xfrm>
            <a:off x="411480" y="1097280"/>
            <a:ext cx="4022640" cy="25412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6" name="Shape 4"/>
          <p:cNvSpPr/>
          <p:nvPr/>
        </p:nvSpPr>
        <p:spPr>
          <a:xfrm>
            <a:off x="411480" y="1234440"/>
            <a:ext cx="4022640" cy="63360"/>
          </a:xfrm>
          <a:prstGeom prst="rect">
            <a:avLst/>
          </a:prstGeom>
          <a:solidFill>
            <a:srgbClr val="1e6b40"/>
          </a:solidFill>
          <a:ln w="12700">
            <a:solidFill>
              <a:srgbClr val="1e6b40"/>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237" name="Text 5"/>
          <p:cNvSpPr/>
          <p:nvPr/>
        </p:nvSpPr>
        <p:spPr>
          <a:xfrm>
            <a:off x="548640" y="1344240"/>
            <a:ext cx="374832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e6b40"/>
                </a:solidFill>
                <a:effectLst/>
                <a:uFillTx/>
                <a:latin typeface="Georgia"/>
                <a:ea typeface="Georgia"/>
              </a:rPr>
              <a:t>Cap On Liability</a:t>
            </a:r>
            <a:endParaRPr b="0" lang="en-US" sz="1300" strike="noStrike" u="none">
              <a:solidFill>
                <a:srgbClr val="ffffff"/>
              </a:solidFill>
              <a:effectLst/>
              <a:uFillTx/>
              <a:latin typeface="Arial"/>
            </a:endParaRPr>
          </a:p>
        </p:txBody>
      </p:sp>
      <p:sp>
        <p:nvSpPr>
          <p:cNvPr id="238" name="Text 6"/>
          <p:cNvSpPr/>
          <p:nvPr/>
        </p:nvSpPr>
        <p:spPr>
          <a:xfrm>
            <a:off x="548640" y="1664280"/>
            <a:ext cx="3748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e6b40"/>
                </a:solidFill>
                <a:effectLst/>
                <a:uFillTx/>
                <a:latin typeface="Georgia"/>
                <a:ea typeface="Georgia"/>
              </a:rPr>
              <a:t>LR F1: 0.733   RF F1: 0.800</a:t>
            </a:r>
            <a:endParaRPr b="0" lang="en-US" sz="1800" strike="noStrike" u="none">
              <a:solidFill>
                <a:srgbClr val="ffffff"/>
              </a:solidFill>
              <a:effectLst/>
              <a:uFillTx/>
              <a:latin typeface="Arial"/>
            </a:endParaRPr>
          </a:p>
        </p:txBody>
      </p:sp>
      <p:sp>
        <p:nvSpPr>
          <p:cNvPr id="239" name="Shape 7"/>
          <p:cNvSpPr/>
          <p:nvPr/>
        </p:nvSpPr>
        <p:spPr>
          <a:xfrm>
            <a:off x="548640" y="1984320"/>
            <a:ext cx="45000" cy="803880"/>
          </a:xfrm>
          <a:prstGeom prst="rect">
            <a:avLst/>
          </a:prstGeom>
          <a:solidFill>
            <a:srgbClr val="1e6b40">
              <a:alpha val="60000"/>
            </a:srgbClr>
          </a:solidFill>
          <a:ln w="1270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0" name="Text 8"/>
          <p:cNvSpPr/>
          <p:nvPr/>
        </p:nvSpPr>
        <p:spPr>
          <a:xfrm>
            <a:off x="667440" y="1984320"/>
            <a:ext cx="3611160" cy="803880"/>
          </a:xfrm>
          <a:prstGeom prst="rect">
            <a:avLst/>
          </a:prstGeom>
          <a:noFill/>
          <a:ln w="0">
            <a:noFill/>
          </a:ln>
        </p:spPr>
        <p:style>
          <a:lnRef idx="0"/>
          <a:fillRef idx="0"/>
          <a:effectRef idx="0"/>
          <a:fontRef idx="minor"/>
        </p:style>
        <p:txBody>
          <a:bodyPr lIns="0" rIns="0" tIns="0" bIns="0" anchor="ctr">
            <a:noAutofit/>
          </a:bodyPr>
          <a:p>
            <a:pPr defTabSz="914400">
              <a:lnSpc>
                <a:spcPct val="140000"/>
              </a:lnSpc>
              <a:tabLst>
                <a:tab algn="l" pos="0"/>
              </a:tabLst>
            </a:pPr>
            <a:r>
              <a:rPr b="0" i="1" lang="en-US" sz="1000" strike="noStrike" u="none">
                <a:solidFill>
                  <a:srgbClr val="b8ccdf"/>
                </a:solidFill>
                <a:effectLst/>
                <a:uFillTx/>
                <a:latin typeface="Calibri"/>
                <a:ea typeface="Calibri"/>
              </a:rPr>
              <a:t>"The total liability of either party shall not exceed $5,000,000 in aggregate."</a:t>
            </a:r>
            <a:endParaRPr b="0" lang="en-US" sz="1000" strike="noStrike" u="none">
              <a:solidFill>
                <a:srgbClr val="ffffff"/>
              </a:solidFill>
              <a:effectLst/>
              <a:uFillTx/>
              <a:latin typeface="Arial"/>
            </a:endParaRPr>
          </a:p>
        </p:txBody>
      </p:sp>
      <p:sp>
        <p:nvSpPr>
          <p:cNvPr id="241" name="Text 9"/>
          <p:cNvSpPr/>
          <p:nvPr/>
        </p:nvSpPr>
        <p:spPr>
          <a:xfrm>
            <a:off x="548640" y="2853000"/>
            <a:ext cx="3748320" cy="65772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50" strike="noStrike" u="none">
                <a:solidFill>
                  <a:srgbClr val="8ca0bb"/>
                </a:solidFill>
                <a:effectLst/>
                <a:uFillTx/>
                <a:latin typeface="Calibri"/>
                <a:ea typeface="Calibri"/>
              </a:rPr>
              <a:t>Model learns: "exceed" + dollar amount = capped</a:t>
            </a:r>
            <a:endParaRPr b="0" lang="en-US" sz="1050" strike="noStrike" u="none">
              <a:solidFill>
                <a:srgbClr val="ffffff"/>
              </a:solidFill>
              <a:effectLst/>
              <a:uFillTx/>
              <a:latin typeface="Arial"/>
            </a:endParaRPr>
          </a:p>
        </p:txBody>
      </p:sp>
      <p:sp>
        <p:nvSpPr>
          <p:cNvPr id="242" name="Shape 10"/>
          <p:cNvSpPr/>
          <p:nvPr/>
        </p:nvSpPr>
        <p:spPr>
          <a:xfrm>
            <a:off x="4709160" y="1097280"/>
            <a:ext cx="4022640" cy="254124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3" name="Shape 11"/>
          <p:cNvSpPr/>
          <p:nvPr/>
        </p:nvSpPr>
        <p:spPr>
          <a:xfrm>
            <a:off x="4709160" y="1234440"/>
            <a:ext cx="4022640" cy="63360"/>
          </a:xfrm>
          <a:prstGeom prst="rect">
            <a:avLst/>
          </a:prstGeom>
          <a:solidFill>
            <a:srgbClr val="c0392b"/>
          </a:solidFill>
          <a:ln w="12700">
            <a:solidFill>
              <a:srgbClr val="c0392b"/>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244" name="Text 12"/>
          <p:cNvSpPr/>
          <p:nvPr/>
        </p:nvSpPr>
        <p:spPr>
          <a:xfrm>
            <a:off x="4846320" y="1344240"/>
            <a:ext cx="374832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c0392b"/>
                </a:solidFill>
                <a:effectLst/>
                <a:uFillTx/>
                <a:latin typeface="Georgia"/>
                <a:ea typeface="Georgia"/>
              </a:rPr>
              <a:t>Uncapped Liability</a:t>
            </a:r>
            <a:endParaRPr b="0" lang="en-US" sz="1300" strike="noStrike" u="none">
              <a:solidFill>
                <a:srgbClr val="ffffff"/>
              </a:solidFill>
              <a:effectLst/>
              <a:uFillTx/>
              <a:latin typeface="Arial"/>
            </a:endParaRPr>
          </a:p>
        </p:txBody>
      </p:sp>
      <p:sp>
        <p:nvSpPr>
          <p:cNvPr id="245" name="Text 13"/>
          <p:cNvSpPr/>
          <p:nvPr/>
        </p:nvSpPr>
        <p:spPr>
          <a:xfrm>
            <a:off x="4846320" y="1664280"/>
            <a:ext cx="3748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c0392b"/>
                </a:solidFill>
                <a:effectLst/>
                <a:uFillTx/>
                <a:latin typeface="Georgia"/>
                <a:ea typeface="Georgia"/>
              </a:rPr>
              <a:t>LR F1: 0.000   RF F1: 0.000</a:t>
            </a:r>
            <a:endParaRPr b="0" lang="en-US" sz="1800" strike="noStrike" u="none">
              <a:solidFill>
                <a:srgbClr val="ffffff"/>
              </a:solidFill>
              <a:effectLst/>
              <a:uFillTx/>
              <a:latin typeface="Arial"/>
            </a:endParaRPr>
          </a:p>
        </p:txBody>
      </p:sp>
      <p:sp>
        <p:nvSpPr>
          <p:cNvPr id="246" name="Shape 14"/>
          <p:cNvSpPr/>
          <p:nvPr/>
        </p:nvSpPr>
        <p:spPr>
          <a:xfrm>
            <a:off x="4846320" y="1984320"/>
            <a:ext cx="45000" cy="803880"/>
          </a:xfrm>
          <a:prstGeom prst="rect">
            <a:avLst/>
          </a:prstGeom>
          <a:solidFill>
            <a:srgbClr val="c0392b">
              <a:alpha val="60000"/>
            </a:srgbClr>
          </a:solidFill>
          <a:ln w="12700">
            <a:solidFill>
              <a:srgbClr val="c0392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7" name="Text 15"/>
          <p:cNvSpPr/>
          <p:nvPr/>
        </p:nvSpPr>
        <p:spPr>
          <a:xfrm>
            <a:off x="4965120" y="1984320"/>
            <a:ext cx="3611160" cy="803880"/>
          </a:xfrm>
          <a:prstGeom prst="rect">
            <a:avLst/>
          </a:prstGeom>
          <a:noFill/>
          <a:ln w="0">
            <a:noFill/>
          </a:ln>
        </p:spPr>
        <p:style>
          <a:lnRef idx="0"/>
          <a:fillRef idx="0"/>
          <a:effectRef idx="0"/>
          <a:fontRef idx="minor"/>
        </p:style>
        <p:txBody>
          <a:bodyPr lIns="0" rIns="0" tIns="0" bIns="0" anchor="ctr">
            <a:noAutofit/>
          </a:bodyPr>
          <a:p>
            <a:pPr defTabSz="914400">
              <a:lnSpc>
                <a:spcPct val="140000"/>
              </a:lnSpc>
              <a:tabLst>
                <a:tab algn="l" pos="0"/>
              </a:tabLst>
            </a:pPr>
            <a:r>
              <a:rPr b="0" i="1" lang="en-US" sz="1000" strike="noStrike" u="none">
                <a:solidFill>
                  <a:srgbClr val="b8ccdf"/>
                </a:solidFill>
                <a:effectLst/>
                <a:uFillTx/>
                <a:latin typeface="Calibri"/>
                <a:ea typeface="Calibri"/>
              </a:rPr>
              <a:t>"Vendor's liability shall not be limited or capped under any circumstances whatsoever."</a:t>
            </a:r>
            <a:endParaRPr b="0" lang="en-US" sz="1000" strike="noStrike" u="none">
              <a:solidFill>
                <a:srgbClr val="ffffff"/>
              </a:solidFill>
              <a:effectLst/>
              <a:uFillTx/>
              <a:latin typeface="Arial"/>
            </a:endParaRPr>
          </a:p>
        </p:txBody>
      </p:sp>
      <p:sp>
        <p:nvSpPr>
          <p:cNvPr id="248" name="Text 16"/>
          <p:cNvSpPr/>
          <p:nvPr/>
        </p:nvSpPr>
        <p:spPr>
          <a:xfrm>
            <a:off x="4846320" y="2853000"/>
            <a:ext cx="3748320" cy="65772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50" strike="noStrike" u="none">
                <a:solidFill>
                  <a:srgbClr val="8ca0bb"/>
                </a:solidFill>
                <a:effectLst/>
                <a:uFillTx/>
                <a:latin typeface="Calibri"/>
                <a:ea typeface="Calibri"/>
              </a:rPr>
              <a:t>Same words, opposite meaning. TF-IDF cannot distinguish.</a:t>
            </a:r>
            <a:endParaRPr b="0" lang="en-US" sz="1050" strike="noStrike" u="none">
              <a:solidFill>
                <a:srgbClr val="ffffff"/>
              </a:solidFill>
              <a:effectLst/>
              <a:uFillTx/>
              <a:latin typeface="Arial"/>
            </a:endParaRPr>
          </a:p>
        </p:txBody>
      </p:sp>
      <p:sp>
        <p:nvSpPr>
          <p:cNvPr id="249" name="Shape 17"/>
          <p:cNvSpPr/>
          <p:nvPr/>
        </p:nvSpPr>
        <p:spPr>
          <a:xfrm>
            <a:off x="411480" y="3767400"/>
            <a:ext cx="8320320" cy="474840"/>
          </a:xfrm>
          <a:prstGeom prst="rect">
            <a:avLst/>
          </a:prstGeom>
          <a:solidFill>
            <a:srgbClr val="0a1628"/>
          </a:solidFill>
          <a:ln w="9525">
            <a:solidFill>
              <a:srgbClr val="c0392b"/>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0" name="Text 18"/>
          <p:cNvSpPr/>
          <p:nvPr/>
        </p:nvSpPr>
        <p:spPr>
          <a:xfrm>
            <a:off x="548640" y="3776400"/>
            <a:ext cx="80460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b8ccdf"/>
                </a:solidFill>
                <a:effectLst/>
                <a:uFillTx/>
                <a:latin typeface="Calibri"/>
                <a:ea typeface="Calibri"/>
              </a:rPr>
              <a:t>Both clauses share vocabulary: liability · cap · limit · exceed · maximum · damages. TF-IDF sees nearly identical feature vectors. The only distinguishing signal is negation polarity — and bag-of-words cannot encode negation scope.</a:t>
            </a:r>
            <a:endParaRPr b="0" lang="en-US" sz="1100" strike="noStrike" u="none">
              <a:solidFill>
                <a:srgbClr val="ffffff"/>
              </a:solidFill>
              <a:effectLst/>
              <a:uFillTx/>
              <a:latin typeface="Arial"/>
            </a:endParaRPr>
          </a:p>
        </p:txBody>
      </p:sp>
      <p:sp>
        <p:nvSpPr>
          <p:cNvPr id="251" name="Text 19"/>
          <p:cNvSpPr/>
          <p:nvPr/>
        </p:nvSpPr>
        <p:spPr>
          <a:xfrm>
            <a:off x="457200" y="437076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c9933a"/>
                </a:solidFill>
                <a:effectLst/>
                <a:uFillTx/>
                <a:latin typeface="Calibri"/>
                <a:ea typeface="Calibri"/>
              </a:rPr>
              <a:t>→  This one finding drove the entire move to LegalBERT</a:t>
            </a:r>
            <a:endParaRPr b="0" lang="en-US" sz="11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252"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3"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MODEL EVOLUTION  ·  WEEK 4</a:t>
            </a:r>
            <a:endParaRPr b="0" lang="en-US" sz="900" strike="noStrike" u="none">
              <a:solidFill>
                <a:srgbClr val="ffffff"/>
              </a:solidFill>
              <a:effectLst/>
              <a:uFillTx/>
              <a:latin typeface="Arial"/>
            </a:endParaRPr>
          </a:p>
        </p:txBody>
      </p:sp>
      <p:sp>
        <p:nvSpPr>
          <p:cNvPr id="254" name="Text 2"/>
          <p:cNvSpPr/>
          <p:nvPr/>
        </p:nvSpPr>
        <p:spPr>
          <a:xfrm>
            <a:off x="457200" y="502920"/>
            <a:ext cx="822888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f5edd6"/>
                </a:solidFill>
                <a:effectLst/>
                <a:uFillTx/>
                <a:latin typeface="Georgia"/>
                <a:ea typeface="Georgia"/>
              </a:rPr>
              <a:t>Neural Cross-Check: Does non-linearity help?</a:t>
            </a:r>
            <a:endParaRPr b="0" lang="en-US" sz="2800" strike="noStrike" u="none">
              <a:solidFill>
                <a:srgbClr val="ffffff"/>
              </a:solidFill>
              <a:effectLst/>
              <a:uFillTx/>
              <a:latin typeface="Arial"/>
            </a:endParaRPr>
          </a:p>
        </p:txBody>
      </p:sp>
      <p:sp>
        <p:nvSpPr>
          <p:cNvPr id="255" name="Text 3"/>
          <p:cNvSpPr/>
          <p:nvPr/>
        </p:nvSpPr>
        <p:spPr>
          <a:xfrm>
            <a:off x="457200" y="118872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trike="noStrike" u="none">
                <a:solidFill>
                  <a:srgbClr val="e8ad50"/>
                </a:solidFill>
                <a:effectLst/>
                <a:uFillTx/>
                <a:latin typeface="Calibri"/>
                <a:ea typeface="Calibri"/>
              </a:rPr>
              <a:t>Short answer: No. And that tells us exactly where the problem is.</a:t>
            </a:r>
            <a:endParaRPr b="0" lang="en-US" sz="1300" strike="noStrike" u="none">
              <a:solidFill>
                <a:srgbClr val="ffffff"/>
              </a:solidFill>
              <a:effectLst/>
              <a:uFillTx/>
              <a:latin typeface="Arial"/>
            </a:endParaRPr>
          </a:p>
        </p:txBody>
      </p:sp>
      <p:sp>
        <p:nvSpPr>
          <p:cNvPr id="256" name="Shape 4"/>
          <p:cNvSpPr/>
          <p:nvPr/>
        </p:nvSpPr>
        <p:spPr>
          <a:xfrm>
            <a:off x="411480" y="1600200"/>
            <a:ext cx="2696760" cy="1572120"/>
          </a:xfrm>
          <a:prstGeom prst="rect">
            <a:avLst/>
          </a:prstGeom>
          <a:solidFill>
            <a:srgbClr val="162440"/>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7" name="Shape 5"/>
          <p:cNvSpPr/>
          <p:nvPr/>
        </p:nvSpPr>
        <p:spPr>
          <a:xfrm>
            <a:off x="411480" y="1600200"/>
            <a:ext cx="269676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258" name="Text 6"/>
          <p:cNvSpPr/>
          <p:nvPr/>
        </p:nvSpPr>
        <p:spPr>
          <a:xfrm>
            <a:off x="521280" y="16642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MLP-A  1×128</a:t>
            </a:r>
            <a:endParaRPr b="0" lang="en-US" sz="1100" strike="noStrike" u="none">
              <a:solidFill>
                <a:srgbClr val="ffffff"/>
              </a:solidFill>
              <a:effectLst/>
              <a:uFillTx/>
              <a:latin typeface="Arial"/>
            </a:endParaRPr>
          </a:p>
        </p:txBody>
      </p:sp>
      <p:sp>
        <p:nvSpPr>
          <p:cNvPr id="259" name="Text 7"/>
          <p:cNvSpPr/>
          <p:nvPr/>
        </p:nvSpPr>
        <p:spPr>
          <a:xfrm>
            <a:off x="521280" y="1956960"/>
            <a:ext cx="24681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c9933a"/>
                </a:solidFill>
                <a:effectLst/>
                <a:uFillTx/>
                <a:latin typeface="Georgia"/>
                <a:ea typeface="Georgia"/>
              </a:rPr>
              <a:t>Macro-F1  0.5119</a:t>
            </a:r>
            <a:endParaRPr b="0" lang="en-US" sz="2200" strike="noStrike" u="none">
              <a:solidFill>
                <a:srgbClr val="ffffff"/>
              </a:solidFill>
              <a:effectLst/>
              <a:uFillTx/>
              <a:latin typeface="Arial"/>
            </a:endParaRPr>
          </a:p>
        </p:txBody>
      </p:sp>
      <p:sp>
        <p:nvSpPr>
          <p:cNvPr id="260" name="Text 8"/>
          <p:cNvSpPr/>
          <p:nvPr/>
        </p:nvSpPr>
        <p:spPr>
          <a:xfrm>
            <a:off x="521280" y="23590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8ca0bb"/>
                </a:solidFill>
                <a:effectLst/>
                <a:uFillTx/>
                <a:latin typeface="Calibri"/>
                <a:ea typeface="Calibri"/>
              </a:rPr>
              <a:t>µF1 0.6168   AUROC 0.6761   Ep 100</a:t>
            </a:r>
            <a:endParaRPr b="0" lang="en-US" sz="950" strike="noStrike" u="none">
              <a:solidFill>
                <a:srgbClr val="ffffff"/>
              </a:solidFill>
              <a:effectLst/>
              <a:uFillTx/>
              <a:latin typeface="Arial"/>
            </a:endParaRPr>
          </a:p>
        </p:txBody>
      </p:sp>
      <p:sp>
        <p:nvSpPr>
          <p:cNvPr id="261" name="Text 9"/>
          <p:cNvSpPr/>
          <p:nvPr/>
        </p:nvSpPr>
        <p:spPr>
          <a:xfrm>
            <a:off x="521280" y="2834640"/>
            <a:ext cx="9136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201" strike="noStrike" u="none">
                <a:solidFill>
                  <a:srgbClr val="c9933a"/>
                </a:solidFill>
                <a:effectLst/>
                <a:uFillTx/>
                <a:latin typeface="Calibri"/>
                <a:ea typeface="Calibri"/>
              </a:rPr>
              <a:t>BEST</a:t>
            </a:r>
            <a:endParaRPr b="0" lang="en-US" sz="900" strike="noStrike" u="none">
              <a:solidFill>
                <a:srgbClr val="ffffff"/>
              </a:solidFill>
              <a:effectLst/>
              <a:uFillTx/>
              <a:latin typeface="Arial"/>
            </a:endParaRPr>
          </a:p>
        </p:txBody>
      </p:sp>
      <p:sp>
        <p:nvSpPr>
          <p:cNvPr id="262" name="Shape 10"/>
          <p:cNvSpPr/>
          <p:nvPr/>
        </p:nvSpPr>
        <p:spPr>
          <a:xfrm>
            <a:off x="3264480" y="1600200"/>
            <a:ext cx="2696760" cy="15721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3" name="Text 11"/>
          <p:cNvSpPr/>
          <p:nvPr/>
        </p:nvSpPr>
        <p:spPr>
          <a:xfrm>
            <a:off x="3374280" y="16642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b8ccdf"/>
                </a:solidFill>
                <a:effectLst/>
                <a:uFillTx/>
                <a:latin typeface="Calibri"/>
                <a:ea typeface="Calibri"/>
              </a:rPr>
              <a:t>MLP-B  2×[256,128]</a:t>
            </a:r>
            <a:endParaRPr b="0" lang="en-US" sz="1100" strike="noStrike" u="none">
              <a:solidFill>
                <a:srgbClr val="ffffff"/>
              </a:solidFill>
              <a:effectLst/>
              <a:uFillTx/>
              <a:latin typeface="Arial"/>
            </a:endParaRPr>
          </a:p>
        </p:txBody>
      </p:sp>
      <p:sp>
        <p:nvSpPr>
          <p:cNvPr id="264" name="Text 12"/>
          <p:cNvSpPr/>
          <p:nvPr/>
        </p:nvSpPr>
        <p:spPr>
          <a:xfrm>
            <a:off x="3374280" y="1956960"/>
            <a:ext cx="24681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8ca0bb"/>
                </a:solidFill>
                <a:effectLst/>
                <a:uFillTx/>
                <a:latin typeface="Georgia"/>
                <a:ea typeface="Georgia"/>
              </a:rPr>
              <a:t>Macro-F1  0.4465</a:t>
            </a:r>
            <a:endParaRPr b="0" lang="en-US" sz="2200" strike="noStrike" u="none">
              <a:solidFill>
                <a:srgbClr val="ffffff"/>
              </a:solidFill>
              <a:effectLst/>
              <a:uFillTx/>
              <a:latin typeface="Arial"/>
            </a:endParaRPr>
          </a:p>
        </p:txBody>
      </p:sp>
      <p:sp>
        <p:nvSpPr>
          <p:cNvPr id="265" name="Text 13"/>
          <p:cNvSpPr/>
          <p:nvPr/>
        </p:nvSpPr>
        <p:spPr>
          <a:xfrm>
            <a:off x="3374280" y="23590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8ca0bb"/>
                </a:solidFill>
                <a:effectLst/>
                <a:uFillTx/>
                <a:latin typeface="Calibri"/>
                <a:ea typeface="Calibri"/>
              </a:rPr>
              <a:t>µF1 0.6521   AUROC 0.7131   Ep 100</a:t>
            </a:r>
            <a:endParaRPr b="0" lang="en-US" sz="950" strike="noStrike" u="none">
              <a:solidFill>
                <a:srgbClr val="ffffff"/>
              </a:solidFill>
              <a:effectLst/>
              <a:uFillTx/>
              <a:latin typeface="Arial"/>
            </a:endParaRPr>
          </a:p>
        </p:txBody>
      </p:sp>
      <p:sp>
        <p:nvSpPr>
          <p:cNvPr id="266" name="Text 14"/>
          <p:cNvSpPr/>
          <p:nvPr/>
        </p:nvSpPr>
        <p:spPr>
          <a:xfrm>
            <a:off x="3374280" y="2834640"/>
            <a:ext cx="9136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201" strike="noStrike" u="none">
                <a:solidFill>
                  <a:srgbClr val="0f1e35"/>
                </a:solidFill>
                <a:effectLst/>
                <a:uFillTx/>
                <a:latin typeface="Calibri"/>
                <a:ea typeface="Calibri"/>
              </a:rPr>
              <a:t>BEST</a:t>
            </a:r>
            <a:endParaRPr b="0" lang="en-US" sz="900" strike="noStrike" u="none">
              <a:solidFill>
                <a:srgbClr val="ffffff"/>
              </a:solidFill>
              <a:effectLst/>
              <a:uFillTx/>
              <a:latin typeface="Arial"/>
            </a:endParaRPr>
          </a:p>
        </p:txBody>
      </p:sp>
      <p:sp>
        <p:nvSpPr>
          <p:cNvPr id="267" name="Shape 15"/>
          <p:cNvSpPr/>
          <p:nvPr/>
        </p:nvSpPr>
        <p:spPr>
          <a:xfrm>
            <a:off x="6117480" y="1600200"/>
            <a:ext cx="2696760" cy="15721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8" name="Text 16"/>
          <p:cNvSpPr/>
          <p:nvPr/>
        </p:nvSpPr>
        <p:spPr>
          <a:xfrm>
            <a:off x="6226920" y="16642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b8ccdf"/>
                </a:solidFill>
                <a:effectLst/>
                <a:uFillTx/>
                <a:latin typeface="Calibri"/>
                <a:ea typeface="Calibri"/>
              </a:rPr>
              <a:t>MLP-C  2×[256,128], lower LR</a:t>
            </a:r>
            <a:endParaRPr b="0" lang="en-US" sz="1100" strike="noStrike" u="none">
              <a:solidFill>
                <a:srgbClr val="ffffff"/>
              </a:solidFill>
              <a:effectLst/>
              <a:uFillTx/>
              <a:latin typeface="Arial"/>
            </a:endParaRPr>
          </a:p>
        </p:txBody>
      </p:sp>
      <p:sp>
        <p:nvSpPr>
          <p:cNvPr id="269" name="Text 17"/>
          <p:cNvSpPr/>
          <p:nvPr/>
        </p:nvSpPr>
        <p:spPr>
          <a:xfrm>
            <a:off x="6226920" y="1956960"/>
            <a:ext cx="24681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trike="noStrike" u="none">
                <a:solidFill>
                  <a:srgbClr val="8ca0bb"/>
                </a:solidFill>
                <a:effectLst/>
                <a:uFillTx/>
                <a:latin typeface="Georgia"/>
                <a:ea typeface="Georgia"/>
              </a:rPr>
              <a:t>Macro-F1  0.4192</a:t>
            </a:r>
            <a:endParaRPr b="0" lang="en-US" sz="2200" strike="noStrike" u="none">
              <a:solidFill>
                <a:srgbClr val="ffffff"/>
              </a:solidFill>
              <a:effectLst/>
              <a:uFillTx/>
              <a:latin typeface="Arial"/>
            </a:endParaRPr>
          </a:p>
        </p:txBody>
      </p:sp>
      <p:sp>
        <p:nvSpPr>
          <p:cNvPr id="270" name="Text 18"/>
          <p:cNvSpPr/>
          <p:nvPr/>
        </p:nvSpPr>
        <p:spPr>
          <a:xfrm>
            <a:off x="6226920" y="2359080"/>
            <a:ext cx="24681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8ca0bb"/>
                </a:solidFill>
                <a:effectLst/>
                <a:uFillTx/>
                <a:latin typeface="Calibri"/>
                <a:ea typeface="Calibri"/>
              </a:rPr>
              <a:t>µF1 0.5895   AUROC 0.6366   Ep 30 ★</a:t>
            </a:r>
            <a:endParaRPr b="0" lang="en-US" sz="950" strike="noStrike" u="none">
              <a:solidFill>
                <a:srgbClr val="ffffff"/>
              </a:solidFill>
              <a:effectLst/>
              <a:uFillTx/>
              <a:latin typeface="Arial"/>
            </a:endParaRPr>
          </a:p>
        </p:txBody>
      </p:sp>
      <p:sp>
        <p:nvSpPr>
          <p:cNvPr id="271" name="Text 19"/>
          <p:cNvSpPr/>
          <p:nvPr/>
        </p:nvSpPr>
        <p:spPr>
          <a:xfrm>
            <a:off x="6226920" y="2834640"/>
            <a:ext cx="9136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201" strike="noStrike" u="none">
                <a:solidFill>
                  <a:srgbClr val="0f1e35"/>
                </a:solidFill>
                <a:effectLst/>
                <a:uFillTx/>
                <a:latin typeface="Calibri"/>
                <a:ea typeface="Calibri"/>
              </a:rPr>
              <a:t>BEST</a:t>
            </a:r>
            <a:endParaRPr b="0" lang="en-US" sz="900" strike="noStrike" u="none">
              <a:solidFill>
                <a:srgbClr val="ffffff"/>
              </a:solidFill>
              <a:effectLst/>
              <a:uFillTx/>
              <a:latin typeface="Arial"/>
            </a:endParaRPr>
          </a:p>
        </p:txBody>
      </p:sp>
      <p:sp>
        <p:nvSpPr>
          <p:cNvPr id="272" name="Text 20"/>
          <p:cNvSpPr/>
          <p:nvPr/>
        </p:nvSpPr>
        <p:spPr>
          <a:xfrm>
            <a:off x="411480" y="3291840"/>
            <a:ext cx="31996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b8ccdf"/>
                </a:solidFill>
                <a:effectLst/>
                <a:uFillTx/>
                <a:latin typeface="Calibri"/>
                <a:ea typeface="Calibri"/>
              </a:rPr>
              <a:t>vs LR baseline (Macro-F1 = 0.6358):</a:t>
            </a:r>
            <a:endParaRPr b="0" lang="en-US" sz="1100" strike="noStrike" u="none">
              <a:solidFill>
                <a:srgbClr val="ffffff"/>
              </a:solidFill>
              <a:effectLst/>
              <a:uFillTx/>
              <a:latin typeface="Arial"/>
            </a:endParaRPr>
          </a:p>
        </p:txBody>
      </p:sp>
      <p:sp>
        <p:nvSpPr>
          <p:cNvPr id="273" name="Text 21"/>
          <p:cNvSpPr/>
          <p:nvPr/>
        </p:nvSpPr>
        <p:spPr>
          <a:xfrm>
            <a:off x="3566160" y="3291840"/>
            <a:ext cx="51199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c0392b"/>
                </a:solidFill>
                <a:effectLst/>
                <a:uFillTx/>
                <a:latin typeface="Georgia"/>
                <a:ea typeface="Georgia"/>
              </a:rPr>
              <a:t>Best MLP is  −0.124  below LR. Not a marginal difference — a decisive result.</a:t>
            </a:r>
            <a:endParaRPr b="0" lang="en-US" sz="1300" strike="noStrike" u="none">
              <a:solidFill>
                <a:srgbClr val="ffffff"/>
              </a:solidFill>
              <a:effectLst/>
              <a:uFillTx/>
              <a:latin typeface="Arial"/>
            </a:endParaRPr>
          </a:p>
        </p:txBody>
      </p:sp>
      <p:sp>
        <p:nvSpPr>
          <p:cNvPr id="274" name="Shape 22"/>
          <p:cNvSpPr/>
          <p:nvPr/>
        </p:nvSpPr>
        <p:spPr>
          <a:xfrm>
            <a:off x="411480" y="3657600"/>
            <a:ext cx="8320320" cy="3650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5" name="Shape 23"/>
          <p:cNvSpPr/>
          <p:nvPr/>
        </p:nvSpPr>
        <p:spPr>
          <a:xfrm>
            <a:off x="411480" y="3657600"/>
            <a:ext cx="54000" cy="36504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6" name="Shape 24"/>
          <p:cNvSpPr/>
          <p:nvPr/>
        </p:nvSpPr>
        <p:spPr>
          <a:xfrm>
            <a:off x="658440" y="3703320"/>
            <a:ext cx="273600" cy="273600"/>
          </a:xfrm>
          <a:prstGeom prst="ellipse">
            <a:avLst/>
          </a:prstGeom>
          <a:solidFill>
            <a:srgbClr val="c9933a"/>
          </a:solidFill>
          <a:ln w="1270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7" name="Text 25"/>
          <p:cNvSpPr/>
          <p:nvPr/>
        </p:nvSpPr>
        <p:spPr>
          <a:xfrm>
            <a:off x="658440" y="3703320"/>
            <a:ext cx="273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050c1a"/>
                </a:solidFill>
                <a:effectLst/>
                <a:uFillTx/>
                <a:latin typeface="Calibri"/>
                <a:ea typeface="Calibri"/>
              </a:rPr>
              <a:t>1</a:t>
            </a:r>
            <a:endParaRPr b="0" lang="en-US" sz="1000" strike="noStrike" u="none">
              <a:solidFill>
                <a:srgbClr val="ffffff"/>
              </a:solidFill>
              <a:effectLst/>
              <a:uFillTx/>
              <a:latin typeface="Arial"/>
            </a:endParaRPr>
          </a:p>
        </p:txBody>
      </p:sp>
      <p:sp>
        <p:nvSpPr>
          <p:cNvPr id="278" name="Text 26"/>
          <p:cNvSpPr/>
          <p:nvPr/>
        </p:nvSpPr>
        <p:spPr>
          <a:xfrm>
            <a:off x="1005840" y="3703320"/>
            <a:ext cx="1508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Feature compression:  </a:t>
            </a:r>
            <a:endParaRPr b="0" lang="en-US" sz="1050" strike="noStrike" u="none">
              <a:solidFill>
                <a:srgbClr val="ffffff"/>
              </a:solidFill>
              <a:effectLst/>
              <a:uFillTx/>
              <a:latin typeface="Arial"/>
            </a:endParaRPr>
          </a:p>
        </p:txBody>
      </p:sp>
      <p:sp>
        <p:nvSpPr>
          <p:cNvPr id="279" name="Text 27"/>
          <p:cNvSpPr/>
          <p:nvPr/>
        </p:nvSpPr>
        <p:spPr>
          <a:xfrm>
            <a:off x="2514600" y="3703320"/>
            <a:ext cx="61257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MLP used 500-dim TF-IDF vs LR's 10,000. The 9,500 removed features include "source code escrow", "covenant not sue" — primary signals for rare clauses.</a:t>
            </a:r>
            <a:endParaRPr b="0" lang="en-US" sz="1000" strike="noStrike" u="none">
              <a:solidFill>
                <a:srgbClr val="ffffff"/>
              </a:solidFill>
              <a:effectLst/>
              <a:uFillTx/>
              <a:latin typeface="Arial"/>
            </a:endParaRPr>
          </a:p>
        </p:txBody>
      </p:sp>
      <p:sp>
        <p:nvSpPr>
          <p:cNvPr id="280" name="Shape 28"/>
          <p:cNvSpPr/>
          <p:nvPr/>
        </p:nvSpPr>
        <p:spPr>
          <a:xfrm>
            <a:off x="411480" y="4087440"/>
            <a:ext cx="8320320" cy="3650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1" name="Shape 29"/>
          <p:cNvSpPr/>
          <p:nvPr/>
        </p:nvSpPr>
        <p:spPr>
          <a:xfrm>
            <a:off x="411480" y="4087440"/>
            <a:ext cx="54000" cy="36504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2" name="Shape 30"/>
          <p:cNvSpPr/>
          <p:nvPr/>
        </p:nvSpPr>
        <p:spPr>
          <a:xfrm>
            <a:off x="658440" y="4133160"/>
            <a:ext cx="273600" cy="273600"/>
          </a:xfrm>
          <a:prstGeom prst="ellipse">
            <a:avLst/>
          </a:prstGeom>
          <a:solidFill>
            <a:srgbClr val="c9933a"/>
          </a:solidFill>
          <a:ln w="1270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3" name="Text 31"/>
          <p:cNvSpPr/>
          <p:nvPr/>
        </p:nvSpPr>
        <p:spPr>
          <a:xfrm>
            <a:off x="658440" y="4133160"/>
            <a:ext cx="273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050c1a"/>
                </a:solidFill>
                <a:effectLst/>
                <a:uFillTx/>
                <a:latin typeface="Calibri"/>
                <a:ea typeface="Calibri"/>
              </a:rPr>
              <a:t>2</a:t>
            </a:r>
            <a:endParaRPr b="0" lang="en-US" sz="1000" strike="noStrike" u="none">
              <a:solidFill>
                <a:srgbClr val="ffffff"/>
              </a:solidFill>
              <a:effectLst/>
              <a:uFillTx/>
              <a:latin typeface="Arial"/>
            </a:endParaRPr>
          </a:p>
        </p:txBody>
      </p:sp>
      <p:sp>
        <p:nvSpPr>
          <p:cNvPr id="284" name="Text 32"/>
          <p:cNvSpPr/>
          <p:nvPr/>
        </p:nvSpPr>
        <p:spPr>
          <a:xfrm>
            <a:off x="1005840" y="4133160"/>
            <a:ext cx="1508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Linear separability:  </a:t>
            </a:r>
            <a:endParaRPr b="0" lang="en-US" sz="1050" strike="noStrike" u="none">
              <a:solidFill>
                <a:srgbClr val="ffffff"/>
              </a:solidFill>
              <a:effectLst/>
              <a:uFillTx/>
              <a:latin typeface="Arial"/>
            </a:endParaRPr>
          </a:p>
        </p:txBody>
      </p:sp>
      <p:sp>
        <p:nvSpPr>
          <p:cNvPr id="285" name="Text 33"/>
          <p:cNvSpPr/>
          <p:nvPr/>
        </p:nvSpPr>
        <p:spPr>
          <a:xfrm>
            <a:off x="2514600" y="4133160"/>
            <a:ext cx="61257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Clauses are identified by sparse discriminating bigrams. LR already finds the optimal hyperplane. There is no non-linear structure to exploit.</a:t>
            </a:r>
            <a:endParaRPr b="0" lang="en-US" sz="1000" strike="noStrike" u="none">
              <a:solidFill>
                <a:srgbClr val="ffffff"/>
              </a:solidFill>
              <a:effectLst/>
              <a:uFillTx/>
              <a:latin typeface="Arial"/>
            </a:endParaRPr>
          </a:p>
        </p:txBody>
      </p:sp>
      <p:sp>
        <p:nvSpPr>
          <p:cNvPr id="286" name="Shape 34"/>
          <p:cNvSpPr/>
          <p:nvPr/>
        </p:nvSpPr>
        <p:spPr>
          <a:xfrm>
            <a:off x="411480" y="4517280"/>
            <a:ext cx="8320320" cy="3650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7" name="Shape 35"/>
          <p:cNvSpPr/>
          <p:nvPr/>
        </p:nvSpPr>
        <p:spPr>
          <a:xfrm>
            <a:off x="411480" y="4517280"/>
            <a:ext cx="54000" cy="36504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8" name="Shape 36"/>
          <p:cNvSpPr/>
          <p:nvPr/>
        </p:nvSpPr>
        <p:spPr>
          <a:xfrm>
            <a:off x="658440" y="4563000"/>
            <a:ext cx="273600" cy="273600"/>
          </a:xfrm>
          <a:prstGeom prst="ellipse">
            <a:avLst/>
          </a:prstGeom>
          <a:solidFill>
            <a:srgbClr val="c9933a"/>
          </a:solidFill>
          <a:ln w="12700">
            <a:solidFill>
              <a:srgbClr val="a0782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9" name="Text 37"/>
          <p:cNvSpPr/>
          <p:nvPr/>
        </p:nvSpPr>
        <p:spPr>
          <a:xfrm>
            <a:off x="658440" y="4563000"/>
            <a:ext cx="273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050c1a"/>
                </a:solidFill>
                <a:effectLst/>
                <a:uFillTx/>
                <a:latin typeface="Calibri"/>
                <a:ea typeface="Calibri"/>
              </a:rPr>
              <a:t>3</a:t>
            </a:r>
            <a:endParaRPr b="0" lang="en-US" sz="1000" strike="noStrike" u="none">
              <a:solidFill>
                <a:srgbClr val="ffffff"/>
              </a:solidFill>
              <a:effectLst/>
              <a:uFillTx/>
              <a:latin typeface="Arial"/>
            </a:endParaRPr>
          </a:p>
        </p:txBody>
      </p:sp>
      <p:sp>
        <p:nvSpPr>
          <p:cNvPr id="290" name="Text 38"/>
          <p:cNvSpPr/>
          <p:nvPr/>
        </p:nvSpPr>
        <p:spPr>
          <a:xfrm>
            <a:off x="1005840" y="4563000"/>
            <a:ext cx="1508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Overparameterized:  </a:t>
            </a:r>
            <a:endParaRPr b="0" lang="en-US" sz="1050" strike="noStrike" u="none">
              <a:solidFill>
                <a:srgbClr val="ffffff"/>
              </a:solidFill>
              <a:effectLst/>
              <a:uFillTx/>
              <a:latin typeface="Arial"/>
            </a:endParaRPr>
          </a:p>
        </p:txBody>
      </p:sp>
      <p:sp>
        <p:nvSpPr>
          <p:cNvPr id="291" name="Text 39"/>
          <p:cNvSpPr/>
          <p:nvPr/>
        </p:nvSpPr>
        <p:spPr>
          <a:xfrm>
            <a:off x="2514600" y="4563000"/>
            <a:ext cx="612576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8ccdf"/>
                </a:solidFill>
                <a:effectLst/>
                <a:uFillTx/>
                <a:latin typeface="Calibri"/>
                <a:ea typeface="Calibri"/>
              </a:rPr>
              <a:t>MLP-A has 64K first-layer parameters for 466 training examples. L2 + early stopping partially compensate but can't fix a fundamentally ill-posed problem.</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292"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3"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MODEL EVOLUTION  ·  WEEK 5+</a:t>
            </a:r>
            <a:endParaRPr b="0" lang="en-US" sz="900" strike="noStrike" u="none">
              <a:solidFill>
                <a:srgbClr val="ffffff"/>
              </a:solidFill>
              <a:effectLst/>
              <a:uFillTx/>
              <a:latin typeface="Arial"/>
            </a:endParaRPr>
          </a:p>
        </p:txBody>
      </p:sp>
      <p:sp>
        <p:nvSpPr>
          <p:cNvPr id="294" name="Text 2"/>
          <p:cNvSpPr/>
          <p:nvPr/>
        </p:nvSpPr>
        <p:spPr>
          <a:xfrm>
            <a:off x="457200" y="457200"/>
            <a:ext cx="8228880" cy="105084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1" lang="en-US" sz="3300" strike="noStrike" u="none">
                <a:solidFill>
                  <a:srgbClr val="f5edd6"/>
                </a:solidFill>
                <a:effectLst/>
                <a:uFillTx/>
                <a:latin typeface="Georgia"/>
                <a:ea typeface="Georgia"/>
              </a:rPr>
              <a:t>The architecture shift:</a:t>
            </a:r>
            <a:endParaRPr b="0" lang="en-US" sz="3300" strike="noStrike" u="none">
              <a:solidFill>
                <a:srgbClr val="ffffff"/>
              </a:solidFill>
              <a:effectLst/>
              <a:uFillTx/>
              <a:latin typeface="Arial"/>
            </a:endParaRPr>
          </a:p>
          <a:p>
            <a:pPr defTabSz="914400">
              <a:lnSpc>
                <a:spcPct val="115000"/>
              </a:lnSpc>
              <a:tabLst>
                <a:tab algn="l" pos="0"/>
              </a:tabLst>
            </a:pPr>
            <a:r>
              <a:rPr b="1" lang="en-US" sz="3300" strike="noStrike" u="none">
                <a:solidFill>
                  <a:srgbClr val="f5edd6"/>
                </a:solidFill>
                <a:effectLst/>
                <a:uFillTx/>
                <a:latin typeface="Georgia"/>
                <a:ea typeface="Georgia"/>
              </a:rPr>
              <a:t>Extractive QA with RoBERTa</a:t>
            </a:r>
            <a:endParaRPr b="0" lang="en-US" sz="3300" strike="noStrike" u="none">
              <a:solidFill>
                <a:srgbClr val="ffffff"/>
              </a:solidFill>
              <a:effectLst/>
              <a:uFillTx/>
              <a:latin typeface="Arial"/>
            </a:endParaRPr>
          </a:p>
        </p:txBody>
      </p:sp>
      <p:sp>
        <p:nvSpPr>
          <p:cNvPr id="295" name="Shape 3"/>
          <p:cNvSpPr/>
          <p:nvPr/>
        </p:nvSpPr>
        <p:spPr>
          <a:xfrm>
            <a:off x="411480" y="1600200"/>
            <a:ext cx="4068360" cy="330948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6" name="Shape 4"/>
          <p:cNvSpPr/>
          <p:nvPr/>
        </p:nvSpPr>
        <p:spPr>
          <a:xfrm>
            <a:off x="411480" y="1600200"/>
            <a:ext cx="406836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297" name="Text 5"/>
          <p:cNvSpPr/>
          <p:nvPr/>
        </p:nvSpPr>
        <p:spPr>
          <a:xfrm>
            <a:off x="548640" y="167328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50" strike="noStrike" u="none">
                <a:solidFill>
                  <a:srgbClr val="c9933a"/>
                </a:solidFill>
                <a:effectLst/>
                <a:uFillTx/>
                <a:latin typeface="Calibri"/>
                <a:ea typeface="Calibri"/>
              </a:rPr>
              <a:t>Why this architecture</a:t>
            </a:r>
            <a:endParaRPr b="0" lang="en-US" sz="1200" strike="noStrike" u="none">
              <a:solidFill>
                <a:srgbClr val="ffffff"/>
              </a:solidFill>
              <a:effectLst/>
              <a:uFillTx/>
              <a:latin typeface="Arial"/>
            </a:endParaRPr>
          </a:p>
        </p:txBody>
      </p:sp>
      <p:sp>
        <p:nvSpPr>
          <p:cNvPr id="298" name="Text 6"/>
          <p:cNvSpPr/>
          <p:nvPr/>
        </p:nvSpPr>
        <p:spPr>
          <a:xfrm>
            <a:off x="567000" y="2030040"/>
            <a:ext cx="3766680" cy="47484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TF-IDF loses negation scope — "not exceed" and "not limited" look identical</a:t>
            </a:r>
            <a:endParaRPr b="0" lang="en-US" sz="1050" strike="noStrike" u="none">
              <a:solidFill>
                <a:srgbClr val="ffffff"/>
              </a:solidFill>
              <a:effectLst/>
              <a:uFillTx/>
              <a:latin typeface="Arial"/>
            </a:endParaRPr>
          </a:p>
        </p:txBody>
      </p:sp>
      <p:sp>
        <p:nvSpPr>
          <p:cNvPr id="299" name="Text 7"/>
          <p:cNvSpPr/>
          <p:nvPr/>
        </p:nvSpPr>
        <p:spPr>
          <a:xfrm>
            <a:off x="567000" y="2569320"/>
            <a:ext cx="3766680" cy="47484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MLP proved non-linearity on TF-IDF features doesn't help — need better input</a:t>
            </a:r>
            <a:endParaRPr b="0" lang="en-US" sz="1050" strike="noStrike" u="none">
              <a:solidFill>
                <a:srgbClr val="ffffff"/>
              </a:solidFill>
              <a:effectLst/>
              <a:uFillTx/>
              <a:latin typeface="Arial"/>
            </a:endParaRPr>
          </a:p>
        </p:txBody>
      </p:sp>
      <p:sp>
        <p:nvSpPr>
          <p:cNvPr id="300" name="Text 8"/>
          <p:cNvSpPr/>
          <p:nvPr/>
        </p:nvSpPr>
        <p:spPr>
          <a:xfrm>
            <a:off x="567000" y="3108960"/>
            <a:ext cx="3766680" cy="47484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CUAD data is natively in QA format — the data tells you the architecture</a:t>
            </a:r>
            <a:endParaRPr b="0" lang="en-US" sz="1050" strike="noStrike" u="none">
              <a:solidFill>
                <a:srgbClr val="ffffff"/>
              </a:solidFill>
              <a:effectLst/>
              <a:uFillTx/>
              <a:latin typeface="Arial"/>
            </a:endParaRPr>
          </a:p>
        </p:txBody>
      </p:sp>
      <p:sp>
        <p:nvSpPr>
          <p:cNvPr id="301" name="Text 9"/>
          <p:cNvSpPr/>
          <p:nvPr/>
        </p:nvSpPr>
        <p:spPr>
          <a:xfrm>
            <a:off x="567000" y="3648600"/>
            <a:ext cx="3766680" cy="47484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Extractive QA returns the exact clause text — more useful to attorneys than a binary flag</a:t>
            </a:r>
            <a:endParaRPr b="0" lang="en-US" sz="1050" strike="noStrike" u="none">
              <a:solidFill>
                <a:srgbClr val="ffffff"/>
              </a:solidFill>
              <a:effectLst/>
              <a:uFillTx/>
              <a:latin typeface="Arial"/>
            </a:endParaRPr>
          </a:p>
        </p:txBody>
      </p:sp>
      <p:sp>
        <p:nvSpPr>
          <p:cNvPr id="302" name="Text 10"/>
          <p:cNvSpPr/>
          <p:nvPr/>
        </p:nvSpPr>
        <p:spPr>
          <a:xfrm>
            <a:off x="567000" y="4187880"/>
            <a:ext cx="3766680" cy="47484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RoBERTa reads full 512-token windows with attention — resolves negation polarity</a:t>
            </a:r>
            <a:endParaRPr b="0" lang="en-US" sz="1050" strike="noStrike" u="none">
              <a:solidFill>
                <a:srgbClr val="ffffff"/>
              </a:solidFill>
              <a:effectLst/>
              <a:uFillTx/>
              <a:latin typeface="Arial"/>
            </a:endParaRPr>
          </a:p>
        </p:txBody>
      </p:sp>
      <p:sp>
        <p:nvSpPr>
          <p:cNvPr id="303" name="Shape 11"/>
          <p:cNvSpPr/>
          <p:nvPr/>
        </p:nvSpPr>
        <p:spPr>
          <a:xfrm>
            <a:off x="4663440" y="1600200"/>
            <a:ext cx="4068360" cy="330948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4" name="Shape 12"/>
          <p:cNvSpPr/>
          <p:nvPr/>
        </p:nvSpPr>
        <p:spPr>
          <a:xfrm>
            <a:off x="4663440" y="1600200"/>
            <a:ext cx="4068360" cy="49680"/>
          </a:xfrm>
          <a:prstGeom prst="rect">
            <a:avLst/>
          </a:prstGeom>
          <a:solidFill>
            <a:srgbClr val="e8ad50"/>
          </a:solidFill>
          <a:ln w="12700">
            <a:solidFill>
              <a:srgbClr val="e8ad50"/>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000000"/>
              </a:solidFill>
              <a:effectLst/>
              <a:uFillTx/>
              <a:latin typeface="Arial"/>
            </a:endParaRPr>
          </a:p>
        </p:txBody>
      </p:sp>
      <p:sp>
        <p:nvSpPr>
          <p:cNvPr id="305" name="Text 13"/>
          <p:cNvSpPr/>
          <p:nvPr/>
        </p:nvSpPr>
        <p:spPr>
          <a:xfrm>
            <a:off x="4800600" y="167328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50" strike="noStrike" u="none">
                <a:solidFill>
                  <a:srgbClr val="e8ad50"/>
                </a:solidFill>
                <a:effectLst/>
                <a:uFillTx/>
                <a:latin typeface="Calibri"/>
                <a:ea typeface="Calibri"/>
              </a:rPr>
              <a:t>Technical decisions</a:t>
            </a:r>
            <a:endParaRPr b="0" lang="en-US" sz="1200" strike="noStrike" u="none">
              <a:solidFill>
                <a:srgbClr val="ffffff"/>
              </a:solidFill>
              <a:effectLst/>
              <a:uFillTx/>
              <a:latin typeface="Arial"/>
            </a:endParaRPr>
          </a:p>
        </p:txBody>
      </p:sp>
      <p:sp>
        <p:nvSpPr>
          <p:cNvPr id="306" name="Text 14"/>
          <p:cNvSpPr/>
          <p:nvPr/>
        </p:nvSpPr>
        <p:spPr>
          <a:xfrm>
            <a:off x="4800600" y="2030040"/>
            <a:ext cx="3748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Direct class imports</a:t>
            </a:r>
            <a:endParaRPr b="0" lang="en-US" sz="1050" strike="noStrike" u="none">
              <a:solidFill>
                <a:srgbClr val="ffffff"/>
              </a:solidFill>
              <a:effectLst/>
              <a:uFillTx/>
              <a:latin typeface="Arial"/>
            </a:endParaRPr>
          </a:p>
        </p:txBody>
      </p:sp>
      <p:sp>
        <p:nvSpPr>
          <p:cNvPr id="307" name="Text 15"/>
          <p:cNvSpPr/>
          <p:nvPr/>
        </p:nvSpPr>
        <p:spPr>
          <a:xfrm>
            <a:off x="4800600" y="223128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950" strike="noStrike" u="none">
                <a:solidFill>
                  <a:srgbClr val="b8ccdf"/>
                </a:solidFill>
                <a:effectLst/>
                <a:uFillTx/>
                <a:latin typeface="Calibri"/>
                <a:ea typeface="Calibri"/>
              </a:rPr>
              <a:t>RobertaForQuestionAnswering — avoids Auto registry scanning broken modules</a:t>
            </a:r>
            <a:endParaRPr b="0" lang="en-US" sz="950" strike="noStrike" u="none">
              <a:solidFill>
                <a:srgbClr val="ffffff"/>
              </a:solidFill>
              <a:effectLst/>
              <a:uFillTx/>
              <a:latin typeface="Arial"/>
            </a:endParaRPr>
          </a:p>
        </p:txBody>
      </p:sp>
      <p:sp>
        <p:nvSpPr>
          <p:cNvPr id="308" name="Text 16"/>
          <p:cNvSpPr/>
          <p:nvPr/>
        </p:nvSpPr>
        <p:spPr>
          <a:xfrm>
            <a:off x="4800600" y="2569320"/>
            <a:ext cx="3748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Plain PyTorch loop</a:t>
            </a:r>
            <a:endParaRPr b="0" lang="en-US" sz="1050" strike="noStrike" u="none">
              <a:solidFill>
                <a:srgbClr val="ffffff"/>
              </a:solidFill>
              <a:effectLst/>
              <a:uFillTx/>
              <a:latin typeface="Arial"/>
            </a:endParaRPr>
          </a:p>
        </p:txBody>
      </p:sp>
      <p:sp>
        <p:nvSpPr>
          <p:cNvPr id="309" name="Text 17"/>
          <p:cNvSpPr/>
          <p:nvPr/>
        </p:nvSpPr>
        <p:spPr>
          <a:xfrm>
            <a:off x="4800600" y="277056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950" strike="noStrike" u="none">
                <a:solidFill>
                  <a:srgbClr val="b8ccdf"/>
                </a:solidFill>
                <a:effectLst/>
                <a:uFillTx/>
                <a:latin typeface="Calibri"/>
                <a:ea typeface="Calibri"/>
              </a:rPr>
              <a:t>Replaced Trainer — avoids transformers version conflicts on Colab Python 3.12</a:t>
            </a:r>
            <a:endParaRPr b="0" lang="en-US" sz="950" strike="noStrike" u="none">
              <a:solidFill>
                <a:srgbClr val="ffffff"/>
              </a:solidFill>
              <a:effectLst/>
              <a:uFillTx/>
              <a:latin typeface="Arial"/>
            </a:endParaRPr>
          </a:p>
        </p:txBody>
      </p:sp>
      <p:sp>
        <p:nvSpPr>
          <p:cNvPr id="310" name="Text 18"/>
          <p:cNvSpPr/>
          <p:nvPr/>
        </p:nvSpPr>
        <p:spPr>
          <a:xfrm>
            <a:off x="4800600" y="3108960"/>
            <a:ext cx="3748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FP16 + GradScaler</a:t>
            </a:r>
            <a:endParaRPr b="0" lang="en-US" sz="1050" strike="noStrike" u="none">
              <a:solidFill>
                <a:srgbClr val="ffffff"/>
              </a:solidFill>
              <a:effectLst/>
              <a:uFillTx/>
              <a:latin typeface="Arial"/>
            </a:endParaRPr>
          </a:p>
        </p:txBody>
      </p:sp>
      <p:sp>
        <p:nvSpPr>
          <p:cNvPr id="311" name="Text 19"/>
          <p:cNvSpPr/>
          <p:nvPr/>
        </p:nvSpPr>
        <p:spPr>
          <a:xfrm>
            <a:off x="4800600" y="331020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950" strike="noStrike" u="none">
                <a:solidFill>
                  <a:srgbClr val="b8ccdf"/>
                </a:solidFill>
                <a:effectLst/>
                <a:uFillTx/>
                <a:latin typeface="Calibri"/>
                <a:ea typeface="Calibri"/>
              </a:rPr>
              <a:t>Half precision training — halves VRAM, T4 fits batch_size=8 × accum=4 = effective 32</a:t>
            </a:r>
            <a:endParaRPr b="0" lang="en-US" sz="950" strike="noStrike" u="none">
              <a:solidFill>
                <a:srgbClr val="ffffff"/>
              </a:solidFill>
              <a:effectLst/>
              <a:uFillTx/>
              <a:latin typeface="Arial"/>
            </a:endParaRPr>
          </a:p>
        </p:txBody>
      </p:sp>
      <p:sp>
        <p:nvSpPr>
          <p:cNvPr id="312" name="Text 20"/>
          <p:cNvSpPr/>
          <p:nvPr/>
        </p:nvSpPr>
        <p:spPr>
          <a:xfrm>
            <a:off x="4800600" y="3648600"/>
            <a:ext cx="3748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Sliding window</a:t>
            </a:r>
            <a:endParaRPr b="0" lang="en-US" sz="1050" strike="noStrike" u="none">
              <a:solidFill>
                <a:srgbClr val="ffffff"/>
              </a:solidFill>
              <a:effectLst/>
              <a:uFillTx/>
              <a:latin typeface="Arial"/>
            </a:endParaRPr>
          </a:p>
        </p:txBody>
      </p:sp>
      <p:sp>
        <p:nvSpPr>
          <p:cNvPr id="313" name="Text 21"/>
          <p:cNvSpPr/>
          <p:nvPr/>
        </p:nvSpPr>
        <p:spPr>
          <a:xfrm>
            <a:off x="4800600" y="384948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950" strike="noStrike" u="none">
                <a:solidFill>
                  <a:srgbClr val="b8ccdf"/>
                </a:solidFill>
                <a:effectLst/>
                <a:uFillTx/>
                <a:latin typeface="Calibri"/>
                <a:ea typeface="Calibri"/>
              </a:rPr>
              <a:t>All contracts exceed 512 tokens — process overlapping windows, max-pool across results</a:t>
            </a:r>
            <a:endParaRPr b="0" lang="en-US" sz="950" strike="noStrike" u="none">
              <a:solidFill>
                <a:srgbClr val="ffffff"/>
              </a:solidFill>
              <a:effectLst/>
              <a:uFillTx/>
              <a:latin typeface="Arial"/>
            </a:endParaRPr>
          </a:p>
        </p:txBody>
      </p:sp>
      <p:sp>
        <p:nvSpPr>
          <p:cNvPr id="314" name="Text 22"/>
          <p:cNvSpPr/>
          <p:nvPr/>
        </p:nvSpPr>
        <p:spPr>
          <a:xfrm>
            <a:off x="4800600" y="4187880"/>
            <a:ext cx="3748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SQuAD v2 format</a:t>
            </a:r>
            <a:endParaRPr b="0" lang="en-US" sz="1050" strike="noStrike" u="none">
              <a:solidFill>
                <a:srgbClr val="ffffff"/>
              </a:solidFill>
              <a:effectLst/>
              <a:uFillTx/>
              <a:latin typeface="Arial"/>
            </a:endParaRPr>
          </a:p>
        </p:txBody>
      </p:sp>
      <p:sp>
        <p:nvSpPr>
          <p:cNvPr id="315" name="Text 23"/>
          <p:cNvSpPr/>
          <p:nvPr/>
        </p:nvSpPr>
        <p:spPr>
          <a:xfrm>
            <a:off x="4800600" y="438912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950" strike="noStrike" u="none">
                <a:solidFill>
                  <a:srgbClr val="b8ccdf"/>
                </a:solidFill>
                <a:effectLst/>
                <a:uFillTx/>
                <a:latin typeface="Calibri"/>
                <a:ea typeface="Calibri"/>
              </a:rPr>
              <a:t>is_impossible=True for absent clauses — model learns to say "not present" explicitly</a:t>
            </a:r>
            <a:endParaRPr b="0" lang="en-US" sz="950" strike="noStrike" u="none">
              <a:solidFill>
                <a:srgbClr val="ffffff"/>
              </a:solidFill>
              <a:effectLst/>
              <a:uFillTx/>
              <a:latin typeface="Arial"/>
            </a:endParaRPr>
          </a:p>
        </p:txBody>
      </p:sp>
      <p:sp>
        <p:nvSpPr>
          <p:cNvPr id="316" name="Shape 24"/>
          <p:cNvSpPr/>
          <p:nvPr/>
        </p:nvSpPr>
        <p:spPr>
          <a:xfrm>
            <a:off x="411480" y="5029200"/>
            <a:ext cx="8320320" cy="360"/>
          </a:xfrm>
          <a:prstGeom prst="rect">
            <a:avLst/>
          </a:prstGeom>
          <a:solidFill>
            <a:srgbClr val="162440"/>
          </a:solidFill>
          <a:ln w="12700">
            <a:solidFill>
              <a:srgbClr val="1e3050"/>
            </a:solidFill>
            <a:round/>
          </a:ln>
        </p:spPr>
        <p:style>
          <a:lnRef idx="0"/>
          <a:fillRef idx="0"/>
          <a:effectRef idx="0"/>
          <a:fontRef idx="minor"/>
        </p:style>
        <p:txBody>
          <a:bodyPr lIns="90000" rIns="90000" tIns="-44280" bIns="-44280" anchor="t">
            <a:noAutofit/>
          </a:bodyPr>
          <a:p>
            <a:pPr>
              <a:lnSpc>
                <a:spcPct val="100000"/>
              </a:lnSpc>
            </a:pPr>
            <a:endParaRPr b="0" lang="en-US" sz="1800" strike="noStrike" u="none">
              <a:solidFill>
                <a:srgbClr val="ffffff"/>
              </a:solidFill>
              <a:effectLst/>
              <a:uFillTx/>
              <a:latin typeface="Arial"/>
            </a:endParaRPr>
          </a:p>
        </p:txBody>
      </p:sp>
      <p:sp>
        <p:nvSpPr>
          <p:cNvPr id="317" name="Text 25"/>
          <p:cNvSpPr/>
          <p:nvPr/>
        </p:nvSpPr>
        <p:spPr>
          <a:xfrm>
            <a:off x="411480" y="4773240"/>
            <a:ext cx="8320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ca0bb"/>
                </a:solidFill>
                <a:effectLst/>
                <a:uFillTx/>
                <a:latin typeface="Calibri"/>
                <a:ea typeface="Calibri"/>
              </a:rPr>
              <a:t>Evaluation shifts from F1 (classification) to AUPR + Precision@80%Recall (span extraction) — Jaccard ≥ 0.5 match criterion, same as the CUAD paper</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318"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9"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MODEL PROGRESSION  ·  ALL WEEKS</a:t>
            </a:r>
            <a:endParaRPr b="0" lang="en-US" sz="900" strike="noStrike" u="none">
              <a:solidFill>
                <a:srgbClr val="ffffff"/>
              </a:solidFill>
              <a:effectLst/>
              <a:uFillTx/>
              <a:latin typeface="Arial"/>
            </a:endParaRPr>
          </a:p>
        </p:txBody>
      </p:sp>
      <p:sp>
        <p:nvSpPr>
          <p:cNvPr id="320" name="Text 2"/>
          <p:cNvSpPr/>
          <p:nvPr/>
        </p:nvSpPr>
        <p:spPr>
          <a:xfrm>
            <a:off x="457200" y="457200"/>
            <a:ext cx="8228880" cy="529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trike="noStrike" u="none">
                <a:solidFill>
                  <a:srgbClr val="f5edd6"/>
                </a:solidFill>
                <a:effectLst/>
                <a:uFillTx/>
                <a:latin typeface="Georgia"/>
                <a:ea typeface="Georgia"/>
              </a:rPr>
              <a:t>Every iteration told us something specific</a:t>
            </a:r>
            <a:endParaRPr b="0" lang="en-US" sz="2700" strike="noStrike" u="none">
              <a:solidFill>
                <a:srgbClr val="ffffff"/>
              </a:solidFill>
              <a:effectLst/>
              <a:uFillTx/>
              <a:latin typeface="Arial"/>
            </a:endParaRPr>
          </a:p>
        </p:txBody>
      </p:sp>
      <p:graphicFrame>
        <p:nvGraphicFramePr>
          <p:cNvPr id="321" name="Chart 0"/>
          <p:cNvGraphicFramePr/>
          <p:nvPr/>
        </p:nvGraphicFramePr>
        <p:xfrm>
          <a:off x="411480" y="1115640"/>
          <a:ext cx="5028480" cy="2925360"/>
        </p:xfrm>
        <a:graphic>
          <a:graphicData uri="http://schemas.openxmlformats.org/drawingml/2006/chart">
            <c:chart xmlns:c="http://schemas.openxmlformats.org/drawingml/2006/chart" xmlns:r="http://schemas.openxmlformats.org/officeDocument/2006/relationships" r:id="rId1"/>
          </a:graphicData>
        </a:graphic>
      </p:graphicFrame>
      <p:sp>
        <p:nvSpPr>
          <p:cNvPr id="322" name="Text 3"/>
          <p:cNvSpPr/>
          <p:nvPr/>
        </p:nvSpPr>
        <p:spPr>
          <a:xfrm>
            <a:off x="640080" y="4114800"/>
            <a:ext cx="456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c9933a"/>
                </a:solidFill>
                <a:effectLst/>
                <a:uFillTx/>
                <a:latin typeface="Calibri"/>
                <a:ea typeface="Calibri"/>
              </a:rPr>
              <a:t>W2</a:t>
            </a:r>
            <a:endParaRPr b="0" lang="en-US" sz="850" strike="noStrike" u="none">
              <a:solidFill>
                <a:srgbClr val="ffffff"/>
              </a:solidFill>
              <a:effectLst/>
              <a:uFillTx/>
              <a:latin typeface="Arial"/>
            </a:endParaRPr>
          </a:p>
        </p:txBody>
      </p:sp>
      <p:sp>
        <p:nvSpPr>
          <p:cNvPr id="323" name="Text 4"/>
          <p:cNvSpPr/>
          <p:nvPr/>
        </p:nvSpPr>
        <p:spPr>
          <a:xfrm>
            <a:off x="1353240" y="4114800"/>
            <a:ext cx="456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2a4060"/>
                </a:solidFill>
                <a:effectLst/>
                <a:uFillTx/>
                <a:latin typeface="Calibri"/>
                <a:ea typeface="Calibri"/>
              </a:rPr>
              <a:t>W3</a:t>
            </a:r>
            <a:endParaRPr b="0" lang="en-US" sz="850" strike="noStrike" u="none">
              <a:solidFill>
                <a:srgbClr val="ffffff"/>
              </a:solidFill>
              <a:effectLst/>
              <a:uFillTx/>
              <a:latin typeface="Arial"/>
            </a:endParaRPr>
          </a:p>
        </p:txBody>
      </p:sp>
      <p:sp>
        <p:nvSpPr>
          <p:cNvPr id="324" name="Text 5"/>
          <p:cNvSpPr/>
          <p:nvPr/>
        </p:nvSpPr>
        <p:spPr>
          <a:xfrm>
            <a:off x="2057400" y="4114800"/>
            <a:ext cx="5022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e8ad50"/>
                </a:solidFill>
                <a:effectLst/>
                <a:uFillTx/>
                <a:latin typeface="Calibri"/>
                <a:ea typeface="Calibri"/>
              </a:rPr>
              <a:t>W3★</a:t>
            </a:r>
            <a:endParaRPr b="0" lang="en-US" sz="850" strike="noStrike" u="none">
              <a:solidFill>
                <a:srgbClr val="ffffff"/>
              </a:solidFill>
              <a:effectLst/>
              <a:uFillTx/>
              <a:latin typeface="Arial"/>
            </a:endParaRPr>
          </a:p>
        </p:txBody>
      </p:sp>
      <p:sp>
        <p:nvSpPr>
          <p:cNvPr id="325" name="Text 6"/>
          <p:cNvSpPr/>
          <p:nvPr/>
        </p:nvSpPr>
        <p:spPr>
          <a:xfrm>
            <a:off x="2770560" y="4114800"/>
            <a:ext cx="456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b8ccdf"/>
                </a:solidFill>
                <a:effectLst/>
                <a:uFillTx/>
                <a:latin typeface="Calibri"/>
                <a:ea typeface="Calibri"/>
              </a:rPr>
              <a:t>W3</a:t>
            </a:r>
            <a:endParaRPr b="0" lang="en-US" sz="850" strike="noStrike" u="none">
              <a:solidFill>
                <a:srgbClr val="ffffff"/>
              </a:solidFill>
              <a:effectLst/>
              <a:uFillTx/>
              <a:latin typeface="Arial"/>
            </a:endParaRPr>
          </a:p>
        </p:txBody>
      </p:sp>
      <p:sp>
        <p:nvSpPr>
          <p:cNvPr id="326" name="Text 7"/>
          <p:cNvSpPr/>
          <p:nvPr/>
        </p:nvSpPr>
        <p:spPr>
          <a:xfrm>
            <a:off x="3493080" y="4114800"/>
            <a:ext cx="456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c0392b"/>
                </a:solidFill>
                <a:effectLst/>
                <a:uFillTx/>
                <a:latin typeface="Calibri"/>
                <a:ea typeface="Calibri"/>
              </a:rPr>
              <a:t>W4</a:t>
            </a:r>
            <a:endParaRPr b="0" lang="en-US" sz="850" strike="noStrike" u="none">
              <a:solidFill>
                <a:srgbClr val="ffffff"/>
              </a:solidFill>
              <a:effectLst/>
              <a:uFillTx/>
              <a:latin typeface="Arial"/>
            </a:endParaRPr>
          </a:p>
        </p:txBody>
      </p:sp>
      <p:sp>
        <p:nvSpPr>
          <p:cNvPr id="327" name="Text 8"/>
          <p:cNvSpPr/>
          <p:nvPr/>
        </p:nvSpPr>
        <p:spPr>
          <a:xfrm>
            <a:off x="5623560" y="1115640"/>
            <a:ext cx="31082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01" strike="noStrike" u="none">
                <a:solidFill>
                  <a:srgbClr val="c9933a"/>
                </a:solidFill>
                <a:effectLst/>
                <a:uFillTx/>
                <a:latin typeface="Calibri"/>
                <a:ea typeface="Calibri"/>
              </a:rPr>
              <a:t>What each step proved</a:t>
            </a:r>
            <a:endParaRPr b="0" lang="en-US" sz="1050" strike="noStrike" u="none">
              <a:solidFill>
                <a:srgbClr val="ffffff"/>
              </a:solidFill>
              <a:effectLst/>
              <a:uFillTx/>
              <a:latin typeface="Arial"/>
            </a:endParaRPr>
          </a:p>
        </p:txBody>
      </p:sp>
      <p:sp>
        <p:nvSpPr>
          <p:cNvPr id="328" name="Shape 9"/>
          <p:cNvSpPr/>
          <p:nvPr/>
        </p:nvSpPr>
        <p:spPr>
          <a:xfrm>
            <a:off x="5623560" y="1508760"/>
            <a:ext cx="3108240" cy="7491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9" name="Shape 10"/>
          <p:cNvSpPr/>
          <p:nvPr/>
        </p:nvSpPr>
        <p:spPr>
          <a:xfrm>
            <a:off x="5623560" y="1508760"/>
            <a:ext cx="54000" cy="7491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0" name="Text 11"/>
          <p:cNvSpPr/>
          <p:nvPr/>
        </p:nvSpPr>
        <p:spPr>
          <a:xfrm>
            <a:off x="5852160" y="155448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W2 → W3</a:t>
            </a:r>
            <a:endParaRPr b="0" lang="en-US" sz="1100" strike="noStrike" u="none">
              <a:solidFill>
                <a:srgbClr val="ffffff"/>
              </a:solidFill>
              <a:effectLst/>
              <a:uFillTx/>
              <a:latin typeface="Arial"/>
            </a:endParaRPr>
          </a:p>
        </p:txBody>
      </p:sp>
      <p:sp>
        <p:nvSpPr>
          <p:cNvPr id="331" name="Text 12"/>
          <p:cNvSpPr/>
          <p:nvPr/>
        </p:nvSpPr>
        <p:spPr>
          <a:xfrm>
            <a:off x="5852160" y="1810440"/>
            <a:ext cx="2742480" cy="41976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50" strike="noStrike" u="none">
                <a:solidFill>
                  <a:srgbClr val="b8ccdf"/>
                </a:solidFill>
                <a:effectLst/>
                <a:uFillTx/>
                <a:latin typeface="Calibri"/>
                <a:ea typeface="Calibri"/>
              </a:rPr>
              <a:t>RF has equal AUROC to LR but worse macro-F1 at threshold=0.5. Signal exists but calibration is wrong.</a:t>
            </a:r>
            <a:endParaRPr b="0" lang="en-US" sz="950" strike="noStrike" u="none">
              <a:solidFill>
                <a:srgbClr val="ffffff"/>
              </a:solidFill>
              <a:effectLst/>
              <a:uFillTx/>
              <a:latin typeface="Arial"/>
            </a:endParaRPr>
          </a:p>
        </p:txBody>
      </p:sp>
      <p:sp>
        <p:nvSpPr>
          <p:cNvPr id="332" name="Shape 13"/>
          <p:cNvSpPr/>
          <p:nvPr/>
        </p:nvSpPr>
        <p:spPr>
          <a:xfrm>
            <a:off x="5623560" y="2359080"/>
            <a:ext cx="3108240" cy="7491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3" name="Shape 14"/>
          <p:cNvSpPr/>
          <p:nvPr/>
        </p:nvSpPr>
        <p:spPr>
          <a:xfrm>
            <a:off x="5623560" y="2359080"/>
            <a:ext cx="54000" cy="7491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4" name="Text 15"/>
          <p:cNvSpPr/>
          <p:nvPr/>
        </p:nvSpPr>
        <p:spPr>
          <a:xfrm>
            <a:off x="5852160" y="240480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W3 B2</a:t>
            </a:r>
            <a:endParaRPr b="0" lang="en-US" sz="1100" strike="noStrike" u="none">
              <a:solidFill>
                <a:srgbClr val="ffffff"/>
              </a:solidFill>
              <a:effectLst/>
              <a:uFillTx/>
              <a:latin typeface="Arial"/>
            </a:endParaRPr>
          </a:p>
        </p:txBody>
      </p:sp>
      <p:sp>
        <p:nvSpPr>
          <p:cNvPr id="335" name="Text 16"/>
          <p:cNvSpPr/>
          <p:nvPr/>
        </p:nvSpPr>
        <p:spPr>
          <a:xfrm>
            <a:off x="5852160" y="2660760"/>
            <a:ext cx="2742480" cy="41976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50" strike="noStrike" u="none">
                <a:solidFill>
                  <a:srgbClr val="b8ccdf"/>
                </a:solidFill>
                <a:effectLst/>
                <a:uFillTx/>
                <a:latin typeface="Calibri"/>
                <a:ea typeface="Calibri"/>
              </a:rPr>
              <a:t>Threshold tuning (+0.139 MF1) proves the representation is adequate — just the decision boundary was wrong.</a:t>
            </a:r>
            <a:endParaRPr b="0" lang="en-US" sz="950" strike="noStrike" u="none">
              <a:solidFill>
                <a:srgbClr val="ffffff"/>
              </a:solidFill>
              <a:effectLst/>
              <a:uFillTx/>
              <a:latin typeface="Arial"/>
            </a:endParaRPr>
          </a:p>
        </p:txBody>
      </p:sp>
      <p:sp>
        <p:nvSpPr>
          <p:cNvPr id="336" name="Shape 17"/>
          <p:cNvSpPr/>
          <p:nvPr/>
        </p:nvSpPr>
        <p:spPr>
          <a:xfrm>
            <a:off x="5623560" y="3209400"/>
            <a:ext cx="3108240" cy="7491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7" name="Shape 18"/>
          <p:cNvSpPr/>
          <p:nvPr/>
        </p:nvSpPr>
        <p:spPr>
          <a:xfrm>
            <a:off x="5623560" y="3209400"/>
            <a:ext cx="54000" cy="7491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8" name="Text 19"/>
          <p:cNvSpPr/>
          <p:nvPr/>
        </p:nvSpPr>
        <p:spPr>
          <a:xfrm>
            <a:off x="5852160" y="325512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W4</a:t>
            </a:r>
            <a:endParaRPr b="0" lang="en-US" sz="1100" strike="noStrike" u="none">
              <a:solidFill>
                <a:srgbClr val="ffffff"/>
              </a:solidFill>
              <a:effectLst/>
              <a:uFillTx/>
              <a:latin typeface="Arial"/>
            </a:endParaRPr>
          </a:p>
        </p:txBody>
      </p:sp>
      <p:sp>
        <p:nvSpPr>
          <p:cNvPr id="339" name="Text 20"/>
          <p:cNvSpPr/>
          <p:nvPr/>
        </p:nvSpPr>
        <p:spPr>
          <a:xfrm>
            <a:off x="5852160" y="3511440"/>
            <a:ext cx="2742480" cy="41976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50" strike="noStrike" u="none">
                <a:solidFill>
                  <a:srgbClr val="b8ccdf"/>
                </a:solidFill>
                <a:effectLst/>
                <a:uFillTx/>
                <a:latin typeface="Calibri"/>
                <a:ea typeface="Calibri"/>
              </a:rPr>
              <a:t>MLP is −0.124 vs LR. Non-linearity doesn't help. The bottleneck is input features, not model capacity.</a:t>
            </a:r>
            <a:endParaRPr b="0" lang="en-US" sz="950" strike="noStrike" u="none">
              <a:solidFill>
                <a:srgbClr val="ffffff"/>
              </a:solidFill>
              <a:effectLst/>
              <a:uFillTx/>
              <a:latin typeface="Arial"/>
            </a:endParaRPr>
          </a:p>
        </p:txBody>
      </p:sp>
      <p:sp>
        <p:nvSpPr>
          <p:cNvPr id="340" name="Shape 21"/>
          <p:cNvSpPr/>
          <p:nvPr/>
        </p:nvSpPr>
        <p:spPr>
          <a:xfrm>
            <a:off x="5623560" y="4060080"/>
            <a:ext cx="3108240" cy="7491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1" name="Shape 22"/>
          <p:cNvSpPr/>
          <p:nvPr/>
        </p:nvSpPr>
        <p:spPr>
          <a:xfrm>
            <a:off x="5623560" y="4060080"/>
            <a:ext cx="54000" cy="74916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2" name="Text 23"/>
          <p:cNvSpPr/>
          <p:nvPr/>
        </p:nvSpPr>
        <p:spPr>
          <a:xfrm>
            <a:off x="5852160" y="410580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8ad50"/>
                </a:solidFill>
                <a:effectLst/>
                <a:uFillTx/>
                <a:latin typeface="Calibri"/>
                <a:ea typeface="Calibri"/>
              </a:rPr>
              <a:t>W5+</a:t>
            </a:r>
            <a:endParaRPr b="0" lang="en-US" sz="1100" strike="noStrike" u="none">
              <a:solidFill>
                <a:srgbClr val="ffffff"/>
              </a:solidFill>
              <a:effectLst/>
              <a:uFillTx/>
              <a:latin typeface="Arial"/>
            </a:endParaRPr>
          </a:p>
        </p:txBody>
      </p:sp>
      <p:sp>
        <p:nvSpPr>
          <p:cNvPr id="343" name="Text 24"/>
          <p:cNvSpPr/>
          <p:nvPr/>
        </p:nvSpPr>
        <p:spPr>
          <a:xfrm>
            <a:off x="5852160" y="4361760"/>
            <a:ext cx="2742480" cy="41976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50" strike="noStrike" u="none">
                <a:solidFill>
                  <a:srgbClr val="b8ccdf"/>
                </a:solidFill>
                <a:effectLst/>
                <a:uFillTx/>
                <a:latin typeface="Calibri"/>
                <a:ea typeface="Calibri"/>
              </a:rPr>
              <a:t>Shift to extractive QA on real CUAD data. Contextual embeddings directly address the negation-polarity failure.</a:t>
            </a:r>
            <a:endParaRPr b="0" lang="en-US" sz="9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344"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5"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RESPONSIBLE AI  ·  WEEK 5</a:t>
            </a:r>
            <a:endParaRPr b="0" lang="en-US" sz="900" strike="noStrike" u="none">
              <a:solidFill>
                <a:srgbClr val="ffffff"/>
              </a:solidFill>
              <a:effectLst/>
              <a:uFillTx/>
              <a:latin typeface="Arial"/>
            </a:endParaRPr>
          </a:p>
        </p:txBody>
      </p:sp>
      <p:sp>
        <p:nvSpPr>
          <p:cNvPr id="346" name="Text 2"/>
          <p:cNvSpPr/>
          <p:nvPr/>
        </p:nvSpPr>
        <p:spPr>
          <a:xfrm>
            <a:off x="457200" y="457200"/>
            <a:ext cx="5028480" cy="100512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1" lang="en-US" sz="2800" strike="noStrike" u="none">
                <a:solidFill>
                  <a:srgbClr val="f5edd6"/>
                </a:solidFill>
                <a:effectLst/>
                <a:uFillTx/>
                <a:latin typeface="Georgia"/>
                <a:ea typeface="Georgia"/>
              </a:rPr>
              <a:t>How does the model behave</a:t>
            </a:r>
            <a:endParaRPr b="0" lang="en-US" sz="2800" strike="noStrike" u="none">
              <a:solidFill>
                <a:srgbClr val="ffffff"/>
              </a:solidFill>
              <a:effectLst/>
              <a:uFillTx/>
              <a:latin typeface="Arial"/>
            </a:endParaRPr>
          </a:p>
          <a:p>
            <a:pPr defTabSz="914400">
              <a:lnSpc>
                <a:spcPct val="115000"/>
              </a:lnSpc>
              <a:tabLst>
                <a:tab algn="l" pos="0"/>
              </a:tabLst>
            </a:pPr>
            <a:r>
              <a:rPr b="1" lang="en-US" sz="2800" strike="noStrike" u="none">
                <a:solidFill>
                  <a:srgbClr val="f5edd6"/>
                </a:solidFill>
                <a:effectLst/>
                <a:uFillTx/>
                <a:latin typeface="Georgia"/>
                <a:ea typeface="Georgia"/>
              </a:rPr>
              <a:t>under stress?</a:t>
            </a:r>
            <a:endParaRPr b="0" lang="en-US" sz="2800" strike="noStrike" u="none">
              <a:solidFill>
                <a:srgbClr val="ffffff"/>
              </a:solidFill>
              <a:effectLst/>
              <a:uFillTx/>
              <a:latin typeface="Arial"/>
            </a:endParaRPr>
          </a:p>
        </p:txBody>
      </p:sp>
      <p:sp>
        <p:nvSpPr>
          <p:cNvPr id="347" name="Text 3"/>
          <p:cNvSpPr/>
          <p:nvPr/>
        </p:nvSpPr>
        <p:spPr>
          <a:xfrm>
            <a:off x="411480" y="1572840"/>
            <a:ext cx="4662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01" strike="noStrike" u="none">
                <a:solidFill>
                  <a:srgbClr val="c9933a"/>
                </a:solidFill>
                <a:effectLst/>
                <a:uFillTx/>
                <a:latin typeface="Calibri"/>
                <a:ea typeface="Calibri"/>
              </a:rPr>
              <a:t>Robustness (tested at 10% degradation rate)</a:t>
            </a:r>
            <a:endParaRPr b="0" lang="en-US" sz="1050" strike="noStrike" u="none">
              <a:solidFill>
                <a:srgbClr val="ffffff"/>
              </a:solidFill>
              <a:effectLst/>
              <a:uFillTx/>
              <a:latin typeface="Arial"/>
            </a:endParaRPr>
          </a:p>
        </p:txBody>
      </p:sp>
      <p:sp>
        <p:nvSpPr>
          <p:cNvPr id="348" name="Shape 4"/>
          <p:cNvSpPr/>
          <p:nvPr/>
        </p:nvSpPr>
        <p:spPr>
          <a:xfrm>
            <a:off x="411480" y="1920240"/>
            <a:ext cx="4662720" cy="5295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9" name="Shape 5"/>
          <p:cNvSpPr/>
          <p:nvPr/>
        </p:nvSpPr>
        <p:spPr>
          <a:xfrm>
            <a:off x="411480" y="1920240"/>
            <a:ext cx="54000" cy="529560"/>
          </a:xfrm>
          <a:prstGeom prst="rect">
            <a:avLst/>
          </a:prstGeom>
          <a:solidFill>
            <a:srgbClr val="1e6b40"/>
          </a:solidFill>
          <a:ln w="1270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0" name="Text 6"/>
          <p:cNvSpPr/>
          <p:nvPr/>
        </p:nvSpPr>
        <p:spPr>
          <a:xfrm>
            <a:off x="621720" y="1956960"/>
            <a:ext cx="2605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b8ccdf"/>
                </a:solidFill>
                <a:effectLst/>
                <a:uFillTx/>
                <a:latin typeface="Calibri"/>
                <a:ea typeface="Calibri"/>
              </a:rPr>
              <a:t>Word dropout (OCR errors)</a:t>
            </a:r>
            <a:endParaRPr b="0" lang="en-US" sz="1050" strike="noStrike" u="none">
              <a:solidFill>
                <a:srgbClr val="ffffff"/>
              </a:solidFill>
              <a:effectLst/>
              <a:uFillTx/>
              <a:latin typeface="Arial"/>
            </a:endParaRPr>
          </a:p>
        </p:txBody>
      </p:sp>
      <p:sp>
        <p:nvSpPr>
          <p:cNvPr id="351" name="Text 7"/>
          <p:cNvSpPr/>
          <p:nvPr/>
        </p:nvSpPr>
        <p:spPr>
          <a:xfrm>
            <a:off x="621720" y="2176200"/>
            <a:ext cx="2605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0.6358  →  0.6338  (-0.002)</a:t>
            </a:r>
            <a:endParaRPr b="0" lang="en-US" sz="1000" strike="noStrike" u="none">
              <a:solidFill>
                <a:srgbClr val="ffffff"/>
              </a:solidFill>
              <a:effectLst/>
              <a:uFillTx/>
              <a:latin typeface="Arial"/>
            </a:endParaRPr>
          </a:p>
        </p:txBody>
      </p:sp>
      <p:sp>
        <p:nvSpPr>
          <p:cNvPr id="352" name="Shape 8"/>
          <p:cNvSpPr/>
          <p:nvPr/>
        </p:nvSpPr>
        <p:spPr>
          <a:xfrm>
            <a:off x="3383280" y="2011680"/>
            <a:ext cx="1279440" cy="273600"/>
          </a:xfrm>
          <a:prstGeom prst="rect">
            <a:avLst/>
          </a:prstGeom>
          <a:solidFill>
            <a:srgbClr val="1e6b40">
              <a:alpha val="25000"/>
            </a:srgbClr>
          </a:solidFill>
          <a:ln w="635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3" name="Text 9"/>
          <p:cNvSpPr/>
          <p:nvPr/>
        </p:nvSpPr>
        <p:spPr>
          <a:xfrm>
            <a:off x="3383280" y="2011680"/>
            <a:ext cx="12794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1e6b40"/>
                </a:solidFill>
                <a:effectLst/>
                <a:uFillTx/>
                <a:latin typeface="Calibri"/>
                <a:ea typeface="Calibri"/>
              </a:rPr>
              <a:t>ROBUST</a:t>
            </a:r>
            <a:endParaRPr b="0" lang="en-US" sz="950" strike="noStrike" u="none">
              <a:solidFill>
                <a:srgbClr val="ffffff"/>
              </a:solidFill>
              <a:effectLst/>
              <a:uFillTx/>
              <a:latin typeface="Arial"/>
            </a:endParaRPr>
          </a:p>
        </p:txBody>
      </p:sp>
      <p:sp>
        <p:nvSpPr>
          <p:cNvPr id="354" name="Shape 10"/>
          <p:cNvSpPr/>
          <p:nvPr/>
        </p:nvSpPr>
        <p:spPr>
          <a:xfrm>
            <a:off x="411480" y="2532960"/>
            <a:ext cx="4662720" cy="5295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5" name="Shape 11"/>
          <p:cNvSpPr/>
          <p:nvPr/>
        </p:nvSpPr>
        <p:spPr>
          <a:xfrm>
            <a:off x="411480" y="2532960"/>
            <a:ext cx="54000" cy="529560"/>
          </a:xfrm>
          <a:prstGeom prst="rect">
            <a:avLst/>
          </a:prstGeom>
          <a:solidFill>
            <a:srgbClr val="1e6b40"/>
          </a:solidFill>
          <a:ln w="1270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6" name="Text 12"/>
          <p:cNvSpPr/>
          <p:nvPr/>
        </p:nvSpPr>
        <p:spPr>
          <a:xfrm>
            <a:off x="621720" y="2569320"/>
            <a:ext cx="2605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b8ccdf"/>
                </a:solidFill>
                <a:effectLst/>
                <a:uFillTx/>
                <a:latin typeface="Calibri"/>
                <a:ea typeface="Calibri"/>
              </a:rPr>
              <a:t>Vocab substitution (domain shift)</a:t>
            </a:r>
            <a:endParaRPr b="0" lang="en-US" sz="1050" strike="noStrike" u="none">
              <a:solidFill>
                <a:srgbClr val="ffffff"/>
              </a:solidFill>
              <a:effectLst/>
              <a:uFillTx/>
              <a:latin typeface="Arial"/>
            </a:endParaRPr>
          </a:p>
        </p:txBody>
      </p:sp>
      <p:sp>
        <p:nvSpPr>
          <p:cNvPr id="357" name="Text 13"/>
          <p:cNvSpPr/>
          <p:nvPr/>
        </p:nvSpPr>
        <p:spPr>
          <a:xfrm>
            <a:off x="621720" y="2788920"/>
            <a:ext cx="2605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0.6358  →  0.6487  (+0.013)</a:t>
            </a:r>
            <a:endParaRPr b="0" lang="en-US" sz="1000" strike="noStrike" u="none">
              <a:solidFill>
                <a:srgbClr val="ffffff"/>
              </a:solidFill>
              <a:effectLst/>
              <a:uFillTx/>
              <a:latin typeface="Arial"/>
            </a:endParaRPr>
          </a:p>
        </p:txBody>
      </p:sp>
      <p:sp>
        <p:nvSpPr>
          <p:cNvPr id="358" name="Shape 14"/>
          <p:cNvSpPr/>
          <p:nvPr/>
        </p:nvSpPr>
        <p:spPr>
          <a:xfrm>
            <a:off x="3383280" y="2624400"/>
            <a:ext cx="1279440" cy="273600"/>
          </a:xfrm>
          <a:prstGeom prst="rect">
            <a:avLst/>
          </a:prstGeom>
          <a:solidFill>
            <a:srgbClr val="1e6b40">
              <a:alpha val="25000"/>
            </a:srgbClr>
          </a:solidFill>
          <a:ln w="635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9" name="Text 15"/>
          <p:cNvSpPr/>
          <p:nvPr/>
        </p:nvSpPr>
        <p:spPr>
          <a:xfrm>
            <a:off x="3383280" y="2624400"/>
            <a:ext cx="12794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1e6b40"/>
                </a:solidFill>
                <a:effectLst/>
                <a:uFillTx/>
                <a:latin typeface="Calibri"/>
                <a:ea typeface="Calibri"/>
              </a:rPr>
              <a:t>ROBUST</a:t>
            </a:r>
            <a:endParaRPr b="0" lang="en-US" sz="950" strike="noStrike" u="none">
              <a:solidFill>
                <a:srgbClr val="ffffff"/>
              </a:solidFill>
              <a:effectLst/>
              <a:uFillTx/>
              <a:latin typeface="Arial"/>
            </a:endParaRPr>
          </a:p>
        </p:txBody>
      </p:sp>
      <p:sp>
        <p:nvSpPr>
          <p:cNvPr id="360" name="Shape 16"/>
          <p:cNvSpPr/>
          <p:nvPr/>
        </p:nvSpPr>
        <p:spPr>
          <a:xfrm>
            <a:off x="411480" y="3145680"/>
            <a:ext cx="4662720" cy="5295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1" name="Shape 17"/>
          <p:cNvSpPr/>
          <p:nvPr/>
        </p:nvSpPr>
        <p:spPr>
          <a:xfrm>
            <a:off x="411480" y="3145680"/>
            <a:ext cx="54000" cy="529560"/>
          </a:xfrm>
          <a:prstGeom prst="rect">
            <a:avLst/>
          </a:prstGeom>
          <a:solidFill>
            <a:srgbClr val="b87332"/>
          </a:solidFill>
          <a:ln w="12700">
            <a:solidFill>
              <a:srgbClr val="b87332"/>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2" name="Text 18"/>
          <p:cNvSpPr/>
          <p:nvPr/>
        </p:nvSpPr>
        <p:spPr>
          <a:xfrm>
            <a:off x="621720" y="3182040"/>
            <a:ext cx="2605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b8ccdf"/>
                </a:solidFill>
                <a:effectLst/>
                <a:uFillTx/>
                <a:latin typeface="Calibri"/>
                <a:ea typeface="Calibri"/>
              </a:rPr>
              <a:t>Truncation @50% (PDF misordering)</a:t>
            </a:r>
            <a:endParaRPr b="0" lang="en-US" sz="1050" strike="noStrike" u="none">
              <a:solidFill>
                <a:srgbClr val="ffffff"/>
              </a:solidFill>
              <a:effectLst/>
              <a:uFillTx/>
              <a:latin typeface="Arial"/>
            </a:endParaRPr>
          </a:p>
        </p:txBody>
      </p:sp>
      <p:sp>
        <p:nvSpPr>
          <p:cNvPr id="363" name="Text 19"/>
          <p:cNvSpPr/>
          <p:nvPr/>
        </p:nvSpPr>
        <p:spPr>
          <a:xfrm>
            <a:off x="621720" y="3401640"/>
            <a:ext cx="2605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0.6358  →  0.6211  (-0.015)</a:t>
            </a:r>
            <a:endParaRPr b="0" lang="en-US" sz="1000" strike="noStrike" u="none">
              <a:solidFill>
                <a:srgbClr val="ffffff"/>
              </a:solidFill>
              <a:effectLst/>
              <a:uFillTx/>
              <a:latin typeface="Arial"/>
            </a:endParaRPr>
          </a:p>
        </p:txBody>
      </p:sp>
      <p:sp>
        <p:nvSpPr>
          <p:cNvPr id="364" name="Shape 20"/>
          <p:cNvSpPr/>
          <p:nvPr/>
        </p:nvSpPr>
        <p:spPr>
          <a:xfrm>
            <a:off x="3383280" y="3237120"/>
            <a:ext cx="1279440" cy="273600"/>
          </a:xfrm>
          <a:prstGeom prst="rect">
            <a:avLst/>
          </a:prstGeom>
          <a:solidFill>
            <a:srgbClr val="b87332">
              <a:alpha val="25000"/>
            </a:srgbClr>
          </a:solidFill>
          <a:ln w="6350">
            <a:solidFill>
              <a:srgbClr val="b87332"/>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5" name="Text 21"/>
          <p:cNvSpPr/>
          <p:nvPr/>
        </p:nvSpPr>
        <p:spPr>
          <a:xfrm>
            <a:off x="3383280" y="3237120"/>
            <a:ext cx="12794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b87332"/>
                </a:solidFill>
                <a:effectLst/>
                <a:uFillTx/>
                <a:latin typeface="Calibri"/>
                <a:ea typeface="Calibri"/>
              </a:rPr>
              <a:t>MODERATE</a:t>
            </a:r>
            <a:endParaRPr b="0" lang="en-US" sz="950" strike="noStrike" u="none">
              <a:solidFill>
                <a:srgbClr val="ffffff"/>
              </a:solidFill>
              <a:effectLst/>
              <a:uFillTx/>
              <a:latin typeface="Arial"/>
            </a:endParaRPr>
          </a:p>
        </p:txBody>
      </p:sp>
      <p:sp>
        <p:nvSpPr>
          <p:cNvPr id="366" name="Shape 22"/>
          <p:cNvSpPr/>
          <p:nvPr/>
        </p:nvSpPr>
        <p:spPr>
          <a:xfrm>
            <a:off x="411480" y="3758040"/>
            <a:ext cx="4662720" cy="52956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7" name="Shape 23"/>
          <p:cNvSpPr/>
          <p:nvPr/>
        </p:nvSpPr>
        <p:spPr>
          <a:xfrm>
            <a:off x="411480" y="3758040"/>
            <a:ext cx="54000" cy="529560"/>
          </a:xfrm>
          <a:prstGeom prst="rect">
            <a:avLst/>
          </a:prstGeom>
          <a:solidFill>
            <a:srgbClr val="c0392b"/>
          </a:solidFill>
          <a:ln w="12700">
            <a:solidFill>
              <a:srgbClr val="c0392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8" name="Text 24"/>
          <p:cNvSpPr/>
          <p:nvPr/>
        </p:nvSpPr>
        <p:spPr>
          <a:xfrm>
            <a:off x="621720" y="3794760"/>
            <a:ext cx="2605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b8ccdf"/>
                </a:solidFill>
                <a:effectLst/>
                <a:uFillTx/>
                <a:latin typeface="Calibri"/>
                <a:ea typeface="Calibri"/>
              </a:rPr>
              <a:t>Truncation @75% (severe damage)</a:t>
            </a:r>
            <a:endParaRPr b="0" lang="en-US" sz="1050" strike="noStrike" u="none">
              <a:solidFill>
                <a:srgbClr val="ffffff"/>
              </a:solidFill>
              <a:effectLst/>
              <a:uFillTx/>
              <a:latin typeface="Arial"/>
            </a:endParaRPr>
          </a:p>
        </p:txBody>
      </p:sp>
      <p:sp>
        <p:nvSpPr>
          <p:cNvPr id="369" name="Text 25"/>
          <p:cNvSpPr/>
          <p:nvPr/>
        </p:nvSpPr>
        <p:spPr>
          <a:xfrm>
            <a:off x="621720" y="4014360"/>
            <a:ext cx="2605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ca0bb"/>
                </a:solidFill>
                <a:effectLst/>
                <a:uFillTx/>
                <a:latin typeface="Calibri"/>
                <a:ea typeface="Calibri"/>
              </a:rPr>
              <a:t>0.6358  →  0.6101  (-0.026)</a:t>
            </a:r>
            <a:endParaRPr b="0" lang="en-US" sz="1000" strike="noStrike" u="none">
              <a:solidFill>
                <a:srgbClr val="ffffff"/>
              </a:solidFill>
              <a:effectLst/>
              <a:uFillTx/>
              <a:latin typeface="Arial"/>
            </a:endParaRPr>
          </a:p>
        </p:txBody>
      </p:sp>
      <p:sp>
        <p:nvSpPr>
          <p:cNvPr id="370" name="Shape 26"/>
          <p:cNvSpPr/>
          <p:nvPr/>
        </p:nvSpPr>
        <p:spPr>
          <a:xfrm>
            <a:off x="3383280" y="3849480"/>
            <a:ext cx="1279440" cy="273600"/>
          </a:xfrm>
          <a:prstGeom prst="rect">
            <a:avLst/>
          </a:prstGeom>
          <a:solidFill>
            <a:srgbClr val="c0392b">
              <a:alpha val="25000"/>
            </a:srgbClr>
          </a:solidFill>
          <a:ln w="6350">
            <a:solidFill>
              <a:srgbClr val="c0392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1" name="Text 27"/>
          <p:cNvSpPr/>
          <p:nvPr/>
        </p:nvSpPr>
        <p:spPr>
          <a:xfrm>
            <a:off x="3383280" y="3849480"/>
            <a:ext cx="12794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c0392b"/>
                </a:solidFill>
                <a:effectLst/>
                <a:uFillTx/>
                <a:latin typeface="Calibri"/>
                <a:ea typeface="Calibri"/>
              </a:rPr>
              <a:t>SENSITIVE</a:t>
            </a:r>
            <a:endParaRPr b="0" lang="en-US" sz="950" strike="noStrike" u="none">
              <a:solidFill>
                <a:srgbClr val="ffffff"/>
              </a:solidFill>
              <a:effectLst/>
              <a:uFillTx/>
              <a:latin typeface="Arial"/>
            </a:endParaRPr>
          </a:p>
        </p:txBody>
      </p:sp>
      <p:sp>
        <p:nvSpPr>
          <p:cNvPr id="372" name="Text 28"/>
          <p:cNvSpPr/>
          <p:nvPr/>
        </p:nvSpPr>
        <p:spPr>
          <a:xfrm>
            <a:off x="411480" y="4407480"/>
            <a:ext cx="4662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50" strike="noStrike" u="none">
                <a:solidFill>
                  <a:srgbClr val="8ca0bb"/>
                </a:solidFill>
                <a:effectLst/>
                <a:uFillTx/>
                <a:latin typeface="Calibri"/>
                <a:ea typeface="Calibri"/>
              </a:rPr>
              <a:t>Truncation risk directly mitigated by sliding window: every section processed regardless of position</a:t>
            </a:r>
            <a:endParaRPr b="0" lang="en-US" sz="950" strike="noStrike" u="none">
              <a:solidFill>
                <a:srgbClr val="ffffff"/>
              </a:solidFill>
              <a:effectLst/>
              <a:uFillTx/>
              <a:latin typeface="Arial"/>
            </a:endParaRPr>
          </a:p>
        </p:txBody>
      </p:sp>
      <p:sp>
        <p:nvSpPr>
          <p:cNvPr id="373" name="Text 29"/>
          <p:cNvSpPr/>
          <p:nvPr/>
        </p:nvSpPr>
        <p:spPr>
          <a:xfrm>
            <a:off x="5257800" y="1572840"/>
            <a:ext cx="34740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01" strike="noStrike" u="none">
                <a:solidFill>
                  <a:srgbClr val="c9933a"/>
                </a:solidFill>
                <a:effectLst/>
                <a:uFillTx/>
                <a:latin typeface="Calibri"/>
                <a:ea typeface="Calibri"/>
              </a:rPr>
              <a:t>Fairness dimension: contract type</a:t>
            </a:r>
            <a:endParaRPr b="0" lang="en-US" sz="1050" strike="noStrike" u="none">
              <a:solidFill>
                <a:srgbClr val="ffffff"/>
              </a:solidFill>
              <a:effectLst/>
              <a:uFillTx/>
              <a:latin typeface="Arial"/>
            </a:endParaRPr>
          </a:p>
        </p:txBody>
      </p:sp>
      <p:sp>
        <p:nvSpPr>
          <p:cNvPr id="374" name="Shape 30"/>
          <p:cNvSpPr/>
          <p:nvPr/>
        </p:nvSpPr>
        <p:spPr>
          <a:xfrm>
            <a:off x="5257800" y="1920240"/>
            <a:ext cx="347400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5" name="Shape 31"/>
          <p:cNvSpPr/>
          <p:nvPr/>
        </p:nvSpPr>
        <p:spPr>
          <a:xfrm>
            <a:off x="5257800" y="1920240"/>
            <a:ext cx="54000" cy="657720"/>
          </a:xfrm>
          <a:prstGeom prst="rect">
            <a:avLst/>
          </a:prstGeom>
          <a:solidFill>
            <a:srgbClr val="e8ad50"/>
          </a:solidFill>
          <a:ln w="12700">
            <a:solidFill>
              <a:srgbClr val="e8ad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76" name="Text 32"/>
          <p:cNvSpPr/>
          <p:nvPr/>
        </p:nvSpPr>
        <p:spPr>
          <a:xfrm>
            <a:off x="5468040" y="1956960"/>
            <a:ext cx="30898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Why contract type matters</a:t>
            </a:r>
            <a:endParaRPr b="0" lang="en-US" sz="1050" strike="noStrike" u="none">
              <a:solidFill>
                <a:srgbClr val="ffffff"/>
              </a:solidFill>
              <a:effectLst/>
              <a:uFillTx/>
              <a:latin typeface="Arial"/>
            </a:endParaRPr>
          </a:p>
        </p:txBody>
      </p:sp>
      <p:sp>
        <p:nvSpPr>
          <p:cNvPr id="377" name="Text 33"/>
          <p:cNvSpPr/>
          <p:nvPr/>
        </p:nvSpPr>
        <p:spPr>
          <a:xfrm>
            <a:off x="5468040" y="2176200"/>
            <a:ext cx="308988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All 510 CUAD contracts from SEC EDGAR — Fortune 500 only. Selection bias toward large-company legal language.</a:t>
            </a:r>
            <a:endParaRPr b="0" lang="en-US" sz="1000" strike="noStrike" u="none">
              <a:solidFill>
                <a:srgbClr val="ffffff"/>
              </a:solidFill>
              <a:effectLst/>
              <a:uFillTx/>
              <a:latin typeface="Arial"/>
            </a:endParaRPr>
          </a:p>
        </p:txBody>
      </p:sp>
      <p:sp>
        <p:nvSpPr>
          <p:cNvPr id="378" name="Shape 34"/>
          <p:cNvSpPr/>
          <p:nvPr/>
        </p:nvSpPr>
        <p:spPr>
          <a:xfrm>
            <a:off x="5257800" y="2670120"/>
            <a:ext cx="347400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9" name="Shape 35"/>
          <p:cNvSpPr/>
          <p:nvPr/>
        </p:nvSpPr>
        <p:spPr>
          <a:xfrm>
            <a:off x="5257800" y="2670120"/>
            <a:ext cx="54000" cy="657720"/>
          </a:xfrm>
          <a:prstGeom prst="rect">
            <a:avLst/>
          </a:prstGeom>
          <a:solidFill>
            <a:srgbClr val="e8ad50"/>
          </a:solidFill>
          <a:ln w="12700">
            <a:solidFill>
              <a:srgbClr val="e8ad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80" name="Text 36"/>
          <p:cNvSpPr/>
          <p:nvPr/>
        </p:nvSpPr>
        <p:spPr>
          <a:xfrm>
            <a:off x="5468040" y="2706480"/>
            <a:ext cx="30898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Gap measured</a:t>
            </a:r>
            <a:endParaRPr b="0" lang="en-US" sz="1050" strike="noStrike" u="none">
              <a:solidFill>
                <a:srgbClr val="ffffff"/>
              </a:solidFill>
              <a:effectLst/>
              <a:uFillTx/>
              <a:latin typeface="Arial"/>
            </a:endParaRPr>
          </a:p>
        </p:txBody>
      </p:sp>
      <p:sp>
        <p:nvSpPr>
          <p:cNvPr id="381" name="Text 37"/>
          <p:cNvSpPr/>
          <p:nvPr/>
        </p:nvSpPr>
        <p:spPr>
          <a:xfrm>
            <a:off x="5468040" y="2926080"/>
            <a:ext cx="308988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High-prevalence contract types: MF1 = 0.4925. Low-prevalence: MF1 = 0.6361. Gap = −0.144.</a:t>
            </a:r>
            <a:endParaRPr b="0" lang="en-US" sz="1000" strike="noStrike" u="none">
              <a:solidFill>
                <a:srgbClr val="ffffff"/>
              </a:solidFill>
              <a:effectLst/>
              <a:uFillTx/>
              <a:latin typeface="Arial"/>
            </a:endParaRPr>
          </a:p>
        </p:txBody>
      </p:sp>
      <p:sp>
        <p:nvSpPr>
          <p:cNvPr id="382" name="Shape 38"/>
          <p:cNvSpPr/>
          <p:nvPr/>
        </p:nvSpPr>
        <p:spPr>
          <a:xfrm>
            <a:off x="5257800" y="3420000"/>
            <a:ext cx="347400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3" name="Shape 39"/>
          <p:cNvSpPr/>
          <p:nvPr/>
        </p:nvSpPr>
        <p:spPr>
          <a:xfrm>
            <a:off x="5257800" y="3420000"/>
            <a:ext cx="54000" cy="657720"/>
          </a:xfrm>
          <a:prstGeom prst="rect">
            <a:avLst/>
          </a:prstGeom>
          <a:solidFill>
            <a:srgbClr val="e8ad50"/>
          </a:solidFill>
          <a:ln w="12700">
            <a:solidFill>
              <a:srgbClr val="e8ad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84" name="Text 40"/>
          <p:cNvSpPr/>
          <p:nvPr/>
        </p:nvSpPr>
        <p:spPr>
          <a:xfrm>
            <a:off x="5468040" y="3456360"/>
            <a:ext cx="30898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Mitigation</a:t>
            </a:r>
            <a:endParaRPr b="0" lang="en-US" sz="1050" strike="noStrike" u="none">
              <a:solidFill>
                <a:srgbClr val="ffffff"/>
              </a:solidFill>
              <a:effectLst/>
              <a:uFillTx/>
              <a:latin typeface="Arial"/>
            </a:endParaRPr>
          </a:p>
        </p:txBody>
      </p:sp>
      <p:sp>
        <p:nvSpPr>
          <p:cNvPr id="385" name="Text 41"/>
          <p:cNvSpPr/>
          <p:nvPr/>
        </p:nvSpPr>
        <p:spPr>
          <a:xfrm>
            <a:off x="5468040" y="3675960"/>
            <a:ext cx="308988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Report F1 per contract type in model card. Flag predictions on underrepresented types with lower confidence.</a:t>
            </a:r>
            <a:endParaRPr b="0" lang="en-US" sz="1000" strike="noStrike" u="none">
              <a:solidFill>
                <a:srgbClr val="ffffff"/>
              </a:solidFill>
              <a:effectLst/>
              <a:uFillTx/>
              <a:latin typeface="Arial"/>
            </a:endParaRPr>
          </a:p>
        </p:txBody>
      </p:sp>
      <p:sp>
        <p:nvSpPr>
          <p:cNvPr id="386" name="Shape 42"/>
          <p:cNvSpPr/>
          <p:nvPr/>
        </p:nvSpPr>
        <p:spPr>
          <a:xfrm>
            <a:off x="5257800" y="4169520"/>
            <a:ext cx="347400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7" name="Shape 43"/>
          <p:cNvSpPr/>
          <p:nvPr/>
        </p:nvSpPr>
        <p:spPr>
          <a:xfrm>
            <a:off x="5257800" y="4169520"/>
            <a:ext cx="54000" cy="657720"/>
          </a:xfrm>
          <a:prstGeom prst="rect">
            <a:avLst/>
          </a:prstGeom>
          <a:solidFill>
            <a:srgbClr val="e8ad50"/>
          </a:solidFill>
          <a:ln w="12700">
            <a:solidFill>
              <a:srgbClr val="e8ad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88" name="Text 44"/>
          <p:cNvSpPr/>
          <p:nvPr/>
        </p:nvSpPr>
        <p:spPr>
          <a:xfrm>
            <a:off x="5468040" y="4206240"/>
            <a:ext cx="30898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f5edd6"/>
                </a:solidFill>
                <a:effectLst/>
                <a:uFillTx/>
                <a:latin typeface="Calibri"/>
                <a:ea typeface="Calibri"/>
              </a:rPr>
              <a:t>Limitation</a:t>
            </a:r>
            <a:endParaRPr b="0" lang="en-US" sz="1050" strike="noStrike" u="none">
              <a:solidFill>
                <a:srgbClr val="ffffff"/>
              </a:solidFill>
              <a:effectLst/>
              <a:uFillTx/>
              <a:latin typeface="Arial"/>
            </a:endParaRPr>
          </a:p>
        </p:txBody>
      </p:sp>
      <p:sp>
        <p:nvSpPr>
          <p:cNvPr id="389" name="Text 45"/>
          <p:cNvSpPr/>
          <p:nvPr/>
        </p:nvSpPr>
        <p:spPr>
          <a:xfrm>
            <a:off x="5468040" y="4425840"/>
            <a:ext cx="308988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System scoped to US English commercial contracts only. International and private company contracts are out of distribution.</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390"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1"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LESSONS LEARNED  ·  MODELLING</a:t>
            </a:r>
            <a:endParaRPr b="0" lang="en-US" sz="900" strike="noStrike" u="none">
              <a:solidFill>
                <a:srgbClr val="ffffff"/>
              </a:solidFill>
              <a:effectLst/>
              <a:uFillTx/>
              <a:latin typeface="Arial"/>
            </a:endParaRPr>
          </a:p>
        </p:txBody>
      </p:sp>
      <p:sp>
        <p:nvSpPr>
          <p:cNvPr id="392" name="Text 2"/>
          <p:cNvSpPr/>
          <p:nvPr/>
        </p:nvSpPr>
        <p:spPr>
          <a:xfrm>
            <a:off x="457200" y="502920"/>
            <a:ext cx="82288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5edd6"/>
                </a:solidFill>
                <a:effectLst/>
                <a:uFillTx/>
                <a:latin typeface="Georgia"/>
                <a:ea typeface="Georgia"/>
              </a:rPr>
              <a:t>What the models taught us</a:t>
            </a:r>
            <a:endParaRPr b="0" lang="en-US" sz="3400" strike="noStrike" u="none">
              <a:solidFill>
                <a:srgbClr val="ffffff"/>
              </a:solidFill>
              <a:effectLst/>
              <a:uFillTx/>
              <a:latin typeface="Arial"/>
            </a:endParaRPr>
          </a:p>
        </p:txBody>
      </p:sp>
      <p:sp>
        <p:nvSpPr>
          <p:cNvPr id="393" name="Shape 3"/>
          <p:cNvSpPr/>
          <p:nvPr/>
        </p:nvSpPr>
        <p:spPr>
          <a:xfrm>
            <a:off x="411480" y="120708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4" name="Shape 4"/>
          <p:cNvSpPr/>
          <p:nvPr/>
        </p:nvSpPr>
        <p:spPr>
          <a:xfrm>
            <a:off x="411480" y="120708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5" name="Text 5"/>
          <p:cNvSpPr/>
          <p:nvPr/>
        </p:nvSpPr>
        <p:spPr>
          <a:xfrm>
            <a:off x="640080" y="123444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01</a:t>
            </a:r>
            <a:endParaRPr b="0" lang="en-US" sz="2000" strike="noStrike" u="none">
              <a:solidFill>
                <a:srgbClr val="ffffff"/>
              </a:solidFill>
              <a:effectLst/>
              <a:uFillTx/>
              <a:latin typeface="Arial"/>
            </a:endParaRPr>
          </a:p>
        </p:txBody>
      </p:sp>
      <p:sp>
        <p:nvSpPr>
          <p:cNvPr id="396" name="Shape 6"/>
          <p:cNvSpPr/>
          <p:nvPr/>
        </p:nvSpPr>
        <p:spPr>
          <a:xfrm>
            <a:off x="1234440" y="123444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7" name="Text 7"/>
          <p:cNvSpPr/>
          <p:nvPr/>
        </p:nvSpPr>
        <p:spPr>
          <a:xfrm>
            <a:off x="1371600" y="1234440"/>
            <a:ext cx="7177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Macro-F1 is the only honest metric for imbalanced multi-label problems</a:t>
            </a:r>
            <a:endParaRPr b="0" lang="en-US" sz="1150" strike="noStrike" u="none">
              <a:solidFill>
                <a:srgbClr val="ffffff"/>
              </a:solidFill>
              <a:effectLst/>
              <a:uFillTx/>
              <a:latin typeface="Arial"/>
            </a:endParaRPr>
          </a:p>
        </p:txBody>
      </p:sp>
      <p:sp>
        <p:nvSpPr>
          <p:cNvPr id="398" name="Text 8"/>
          <p:cNvSpPr/>
          <p:nvPr/>
        </p:nvSpPr>
        <p:spPr>
          <a:xfrm>
            <a:off x="1371600" y="148140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Micro-F1 = 0.8071 looked great. Macro-F1 = 0.6358 told the truth. Governing Law at 89% prevalence dominates micro. An attorney doesn't care about Governing Law — they care about Uncapped Liability at 9%.</a:t>
            </a:r>
            <a:endParaRPr b="0" lang="en-US" sz="1000" strike="noStrike" u="none">
              <a:solidFill>
                <a:srgbClr val="ffffff"/>
              </a:solidFill>
              <a:effectLst/>
              <a:uFillTx/>
              <a:latin typeface="Arial"/>
            </a:endParaRPr>
          </a:p>
        </p:txBody>
      </p:sp>
      <p:sp>
        <p:nvSpPr>
          <p:cNvPr id="399" name="Shape 9"/>
          <p:cNvSpPr/>
          <p:nvPr/>
        </p:nvSpPr>
        <p:spPr>
          <a:xfrm>
            <a:off x="411480" y="1956960"/>
            <a:ext cx="832032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0" name="Shape 10"/>
          <p:cNvSpPr/>
          <p:nvPr/>
        </p:nvSpPr>
        <p:spPr>
          <a:xfrm>
            <a:off x="411480" y="195696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1" name="Text 11"/>
          <p:cNvSpPr/>
          <p:nvPr/>
        </p:nvSpPr>
        <p:spPr>
          <a:xfrm>
            <a:off x="640080" y="198432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02</a:t>
            </a:r>
            <a:endParaRPr b="0" lang="en-US" sz="2000" strike="noStrike" u="none">
              <a:solidFill>
                <a:srgbClr val="ffffff"/>
              </a:solidFill>
              <a:effectLst/>
              <a:uFillTx/>
              <a:latin typeface="Arial"/>
            </a:endParaRPr>
          </a:p>
        </p:txBody>
      </p:sp>
      <p:sp>
        <p:nvSpPr>
          <p:cNvPr id="402" name="Shape 12"/>
          <p:cNvSpPr/>
          <p:nvPr/>
        </p:nvSpPr>
        <p:spPr>
          <a:xfrm>
            <a:off x="1234440" y="198432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3" name="Text 13"/>
          <p:cNvSpPr/>
          <p:nvPr/>
        </p:nvSpPr>
        <p:spPr>
          <a:xfrm>
            <a:off x="1371600" y="1984320"/>
            <a:ext cx="7177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Threshold tuning is not optional — it's the most impactful lever</a:t>
            </a:r>
            <a:endParaRPr b="0" lang="en-US" sz="1150" strike="noStrike" u="none">
              <a:solidFill>
                <a:srgbClr val="ffffff"/>
              </a:solidFill>
              <a:effectLst/>
              <a:uFillTx/>
              <a:latin typeface="Arial"/>
            </a:endParaRPr>
          </a:p>
        </p:txBody>
      </p:sp>
      <p:sp>
        <p:nvSpPr>
          <p:cNvPr id="404" name="Text 14"/>
          <p:cNvSpPr/>
          <p:nvPr/>
        </p:nvSpPr>
        <p:spPr>
          <a:xfrm>
            <a:off x="1371600" y="223128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The biggest single gain in the entire project was not a new model. It was changing the threshold from 0.5 to 0.20. +0.139 macro-F1 with no architectural change. Always tune the decision boundary on the validation set.</a:t>
            </a:r>
            <a:endParaRPr b="0" lang="en-US" sz="1000" strike="noStrike" u="none">
              <a:solidFill>
                <a:srgbClr val="ffffff"/>
              </a:solidFill>
              <a:effectLst/>
              <a:uFillTx/>
              <a:latin typeface="Arial"/>
            </a:endParaRPr>
          </a:p>
        </p:txBody>
      </p:sp>
      <p:sp>
        <p:nvSpPr>
          <p:cNvPr id="405" name="Shape 15"/>
          <p:cNvSpPr/>
          <p:nvPr/>
        </p:nvSpPr>
        <p:spPr>
          <a:xfrm>
            <a:off x="411480" y="270648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6" name="Shape 16"/>
          <p:cNvSpPr/>
          <p:nvPr/>
        </p:nvSpPr>
        <p:spPr>
          <a:xfrm>
            <a:off x="411480" y="270648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7" name="Text 17"/>
          <p:cNvSpPr/>
          <p:nvPr/>
        </p:nvSpPr>
        <p:spPr>
          <a:xfrm>
            <a:off x="640080" y="273420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03</a:t>
            </a:r>
            <a:endParaRPr b="0" lang="en-US" sz="2000" strike="noStrike" u="none">
              <a:solidFill>
                <a:srgbClr val="ffffff"/>
              </a:solidFill>
              <a:effectLst/>
              <a:uFillTx/>
              <a:latin typeface="Arial"/>
            </a:endParaRPr>
          </a:p>
        </p:txBody>
      </p:sp>
      <p:sp>
        <p:nvSpPr>
          <p:cNvPr id="408" name="Shape 18"/>
          <p:cNvSpPr/>
          <p:nvPr/>
        </p:nvSpPr>
        <p:spPr>
          <a:xfrm>
            <a:off x="1234440" y="273420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9" name="Text 19"/>
          <p:cNvSpPr/>
          <p:nvPr/>
        </p:nvSpPr>
        <p:spPr>
          <a:xfrm>
            <a:off x="1371600" y="2734200"/>
            <a:ext cx="7177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A negative result is a result: MLP proved representation is the bottleneck</a:t>
            </a:r>
            <a:endParaRPr b="0" lang="en-US" sz="1150" strike="noStrike" u="none">
              <a:solidFill>
                <a:srgbClr val="ffffff"/>
              </a:solidFill>
              <a:effectLst/>
              <a:uFillTx/>
              <a:latin typeface="Arial"/>
            </a:endParaRPr>
          </a:p>
        </p:txBody>
      </p:sp>
      <p:sp>
        <p:nvSpPr>
          <p:cNvPr id="410" name="Text 20"/>
          <p:cNvSpPr/>
          <p:nvPr/>
        </p:nvSpPr>
        <p:spPr>
          <a:xfrm>
            <a:off x="1371600" y="298080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MLP underperforming LR by −0.124 macro-F1 wasn't a failure. It was a proof: the bottleneck is input features, not model capacity. That's the logical justification for moving to contextual embeddings.</a:t>
            </a:r>
            <a:endParaRPr b="0" lang="en-US" sz="1000" strike="noStrike" u="none">
              <a:solidFill>
                <a:srgbClr val="ffffff"/>
              </a:solidFill>
              <a:effectLst/>
              <a:uFillTx/>
              <a:latin typeface="Arial"/>
            </a:endParaRPr>
          </a:p>
        </p:txBody>
      </p:sp>
      <p:sp>
        <p:nvSpPr>
          <p:cNvPr id="411" name="Shape 21"/>
          <p:cNvSpPr/>
          <p:nvPr/>
        </p:nvSpPr>
        <p:spPr>
          <a:xfrm>
            <a:off x="411480" y="3456360"/>
            <a:ext cx="832032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2" name="Shape 22"/>
          <p:cNvSpPr/>
          <p:nvPr/>
        </p:nvSpPr>
        <p:spPr>
          <a:xfrm>
            <a:off x="411480" y="345636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3" name="Text 23"/>
          <p:cNvSpPr/>
          <p:nvPr/>
        </p:nvSpPr>
        <p:spPr>
          <a:xfrm>
            <a:off x="640080" y="348372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04</a:t>
            </a:r>
            <a:endParaRPr b="0" lang="en-US" sz="2000" strike="noStrike" u="none">
              <a:solidFill>
                <a:srgbClr val="ffffff"/>
              </a:solidFill>
              <a:effectLst/>
              <a:uFillTx/>
              <a:latin typeface="Arial"/>
            </a:endParaRPr>
          </a:p>
        </p:txBody>
      </p:sp>
      <p:sp>
        <p:nvSpPr>
          <p:cNvPr id="414" name="Shape 24"/>
          <p:cNvSpPr/>
          <p:nvPr/>
        </p:nvSpPr>
        <p:spPr>
          <a:xfrm>
            <a:off x="1234440" y="348372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5" name="Text 25"/>
          <p:cNvSpPr/>
          <p:nvPr/>
        </p:nvSpPr>
        <p:spPr>
          <a:xfrm>
            <a:off x="1371600" y="3483720"/>
            <a:ext cx="7177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Data format tells you the architecture</a:t>
            </a:r>
            <a:endParaRPr b="0" lang="en-US" sz="1150" strike="noStrike" u="none">
              <a:solidFill>
                <a:srgbClr val="ffffff"/>
              </a:solidFill>
              <a:effectLst/>
              <a:uFillTx/>
              <a:latin typeface="Arial"/>
            </a:endParaRPr>
          </a:p>
        </p:txBody>
      </p:sp>
      <p:sp>
        <p:nvSpPr>
          <p:cNvPr id="416" name="Text 26"/>
          <p:cNvSpPr/>
          <p:nvPr/>
        </p:nvSpPr>
        <p:spPr>
          <a:xfrm>
            <a:off x="1371600" y="373068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CUAD ships as question-answer pairs. The dataset designers chose extractive QA for a reason — contracts are long, clauses are located at specific spans, and binary classification discards the attorney's actual need: show me the text.</a:t>
            </a:r>
            <a:endParaRPr b="0" lang="en-US" sz="1000" strike="noStrike" u="none">
              <a:solidFill>
                <a:srgbClr val="ffffff"/>
              </a:solidFill>
              <a:effectLst/>
              <a:uFillTx/>
              <a:latin typeface="Arial"/>
            </a:endParaRPr>
          </a:p>
        </p:txBody>
      </p:sp>
      <p:sp>
        <p:nvSpPr>
          <p:cNvPr id="417" name="Shape 27"/>
          <p:cNvSpPr/>
          <p:nvPr/>
        </p:nvSpPr>
        <p:spPr>
          <a:xfrm>
            <a:off x="411480" y="420624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8" name="Shape 28"/>
          <p:cNvSpPr/>
          <p:nvPr/>
        </p:nvSpPr>
        <p:spPr>
          <a:xfrm>
            <a:off x="411480" y="420624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9" name="Text 29"/>
          <p:cNvSpPr/>
          <p:nvPr/>
        </p:nvSpPr>
        <p:spPr>
          <a:xfrm>
            <a:off x="640080" y="423360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05</a:t>
            </a:r>
            <a:endParaRPr b="0" lang="en-US" sz="2000" strike="noStrike" u="none">
              <a:solidFill>
                <a:srgbClr val="ffffff"/>
              </a:solidFill>
              <a:effectLst/>
              <a:uFillTx/>
              <a:latin typeface="Arial"/>
            </a:endParaRPr>
          </a:p>
        </p:txBody>
      </p:sp>
      <p:sp>
        <p:nvSpPr>
          <p:cNvPr id="420" name="Shape 30"/>
          <p:cNvSpPr/>
          <p:nvPr/>
        </p:nvSpPr>
        <p:spPr>
          <a:xfrm>
            <a:off x="1234440" y="423360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1" name="Text 31"/>
          <p:cNvSpPr/>
          <p:nvPr/>
        </p:nvSpPr>
        <p:spPr>
          <a:xfrm>
            <a:off x="1371600" y="4233600"/>
            <a:ext cx="7177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Iterative stratification is mandatory for multi-label imbalanced splits</a:t>
            </a:r>
            <a:endParaRPr b="0" lang="en-US" sz="1150" strike="noStrike" u="none">
              <a:solidFill>
                <a:srgbClr val="ffffff"/>
              </a:solidFill>
              <a:effectLst/>
              <a:uFillTx/>
              <a:latin typeface="Arial"/>
            </a:endParaRPr>
          </a:p>
        </p:txBody>
      </p:sp>
      <p:sp>
        <p:nvSpPr>
          <p:cNvPr id="422" name="Text 32"/>
          <p:cNvSpPr/>
          <p:nvPr/>
        </p:nvSpPr>
        <p:spPr>
          <a:xfrm>
            <a:off x="1371600" y="448056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Standard StratifiedKFold silently produces folds with zero positives for rare labels. F1 is then undefined. Sechidis (2011) iterative stratification guarantees all 41 clause types in every fold with proportional positive counts.</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423"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4"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LESSONS LEARNED  ·  ENGINEERING</a:t>
            </a:r>
            <a:endParaRPr b="0" lang="en-US" sz="900" strike="noStrike" u="none">
              <a:solidFill>
                <a:srgbClr val="ffffff"/>
              </a:solidFill>
              <a:effectLst/>
              <a:uFillTx/>
              <a:latin typeface="Arial"/>
            </a:endParaRPr>
          </a:p>
        </p:txBody>
      </p:sp>
      <p:sp>
        <p:nvSpPr>
          <p:cNvPr id="425" name="Text 2"/>
          <p:cNvSpPr/>
          <p:nvPr/>
        </p:nvSpPr>
        <p:spPr>
          <a:xfrm>
            <a:off x="457200" y="502920"/>
            <a:ext cx="82288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5edd6"/>
                </a:solidFill>
                <a:effectLst/>
                <a:uFillTx/>
                <a:latin typeface="Georgia"/>
                <a:ea typeface="Georgia"/>
              </a:rPr>
              <a:t>What the engineering taught us</a:t>
            </a:r>
            <a:endParaRPr b="0" lang="en-US" sz="3400" strike="noStrike" u="none">
              <a:solidFill>
                <a:srgbClr val="ffffff"/>
              </a:solidFill>
              <a:effectLst/>
              <a:uFillTx/>
              <a:latin typeface="Arial"/>
            </a:endParaRPr>
          </a:p>
        </p:txBody>
      </p:sp>
      <p:sp>
        <p:nvSpPr>
          <p:cNvPr id="426" name="Shape 3"/>
          <p:cNvSpPr/>
          <p:nvPr/>
        </p:nvSpPr>
        <p:spPr>
          <a:xfrm>
            <a:off x="411480" y="120708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7" name="Shape 4"/>
          <p:cNvSpPr/>
          <p:nvPr/>
        </p:nvSpPr>
        <p:spPr>
          <a:xfrm>
            <a:off x="411480" y="120708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8" name="Text 5"/>
          <p:cNvSpPr/>
          <p:nvPr/>
        </p:nvSpPr>
        <p:spPr>
          <a:xfrm>
            <a:off x="640080" y="123444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01</a:t>
            </a:r>
            <a:endParaRPr b="0" lang="en-US" sz="2000" strike="noStrike" u="none">
              <a:solidFill>
                <a:srgbClr val="ffffff"/>
              </a:solidFill>
              <a:effectLst/>
              <a:uFillTx/>
              <a:latin typeface="Arial"/>
            </a:endParaRPr>
          </a:p>
        </p:txBody>
      </p:sp>
      <p:sp>
        <p:nvSpPr>
          <p:cNvPr id="429" name="Shape 6"/>
          <p:cNvSpPr/>
          <p:nvPr/>
        </p:nvSpPr>
        <p:spPr>
          <a:xfrm>
            <a:off x="1234440" y="123444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0" name="Shape 7"/>
          <p:cNvSpPr/>
          <p:nvPr/>
        </p:nvSpPr>
        <p:spPr>
          <a:xfrm>
            <a:off x="7863840" y="1261800"/>
            <a:ext cx="803880" cy="218880"/>
          </a:xfrm>
          <a:prstGeom prst="rect">
            <a:avLst/>
          </a:prstGeom>
          <a:solidFill>
            <a:srgbClr val="c0392b">
              <a:alpha val="25000"/>
            </a:srgbClr>
          </a:solidFill>
          <a:ln w="6350">
            <a:solidFill>
              <a:srgbClr val="c0392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1" name="Text 8"/>
          <p:cNvSpPr/>
          <p:nvPr/>
        </p:nvSpPr>
        <p:spPr>
          <a:xfrm>
            <a:off x="7863840" y="1261800"/>
            <a:ext cx="803880" cy="218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9" strike="noStrike" u="none">
                <a:solidFill>
                  <a:srgbClr val="c0392b"/>
                </a:solidFill>
                <a:effectLst/>
                <a:uFillTx/>
                <a:latin typeface="Calibri"/>
                <a:ea typeface="Calibri"/>
              </a:rPr>
              <a:t>COLAB</a:t>
            </a:r>
            <a:endParaRPr b="0" lang="en-US" sz="850" strike="noStrike" u="none">
              <a:solidFill>
                <a:srgbClr val="ffffff"/>
              </a:solidFill>
              <a:effectLst/>
              <a:uFillTx/>
              <a:latin typeface="Arial"/>
            </a:endParaRPr>
          </a:p>
        </p:txBody>
      </p:sp>
      <p:sp>
        <p:nvSpPr>
          <p:cNvPr id="432" name="Text 9"/>
          <p:cNvSpPr/>
          <p:nvPr/>
        </p:nvSpPr>
        <p:spPr>
          <a:xfrm>
            <a:off x="1371600" y="1234440"/>
            <a:ext cx="64000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Never use Auto classes on Colab — use direct imports</a:t>
            </a:r>
            <a:endParaRPr b="0" lang="en-US" sz="1150" strike="noStrike" u="none">
              <a:solidFill>
                <a:srgbClr val="ffffff"/>
              </a:solidFill>
              <a:effectLst/>
              <a:uFillTx/>
              <a:latin typeface="Arial"/>
            </a:endParaRPr>
          </a:p>
        </p:txBody>
      </p:sp>
      <p:sp>
        <p:nvSpPr>
          <p:cNvPr id="433" name="Text 10"/>
          <p:cNvSpPr/>
          <p:nvPr/>
        </p:nvSpPr>
        <p:spPr>
          <a:xfrm>
            <a:off x="1371600" y="148140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AutoModelForQuestionAnswering triggers the full model registry, scanning every model including broken ernie_m entries. RobertaForQuestionAnswering imports directly without touching the registry. This applies to any HuggingFace model on Colab Python 3.12.</a:t>
            </a:r>
            <a:endParaRPr b="0" lang="en-US" sz="1000" strike="noStrike" u="none">
              <a:solidFill>
                <a:srgbClr val="ffffff"/>
              </a:solidFill>
              <a:effectLst/>
              <a:uFillTx/>
              <a:latin typeface="Arial"/>
            </a:endParaRPr>
          </a:p>
        </p:txBody>
      </p:sp>
      <p:sp>
        <p:nvSpPr>
          <p:cNvPr id="434" name="Shape 11"/>
          <p:cNvSpPr/>
          <p:nvPr/>
        </p:nvSpPr>
        <p:spPr>
          <a:xfrm>
            <a:off x="411480" y="1956960"/>
            <a:ext cx="832032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5" name="Shape 12"/>
          <p:cNvSpPr/>
          <p:nvPr/>
        </p:nvSpPr>
        <p:spPr>
          <a:xfrm>
            <a:off x="411480" y="195696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6" name="Text 13"/>
          <p:cNvSpPr/>
          <p:nvPr/>
        </p:nvSpPr>
        <p:spPr>
          <a:xfrm>
            <a:off x="640080" y="198432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02</a:t>
            </a:r>
            <a:endParaRPr b="0" lang="en-US" sz="2000" strike="noStrike" u="none">
              <a:solidFill>
                <a:srgbClr val="ffffff"/>
              </a:solidFill>
              <a:effectLst/>
              <a:uFillTx/>
              <a:latin typeface="Arial"/>
            </a:endParaRPr>
          </a:p>
        </p:txBody>
      </p:sp>
      <p:sp>
        <p:nvSpPr>
          <p:cNvPr id="437" name="Shape 14"/>
          <p:cNvSpPr/>
          <p:nvPr/>
        </p:nvSpPr>
        <p:spPr>
          <a:xfrm>
            <a:off x="1234440" y="198432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8" name="Shape 15"/>
          <p:cNvSpPr/>
          <p:nvPr/>
        </p:nvSpPr>
        <p:spPr>
          <a:xfrm>
            <a:off x="7863840" y="2011680"/>
            <a:ext cx="803880" cy="218880"/>
          </a:xfrm>
          <a:prstGeom prst="rect">
            <a:avLst/>
          </a:prstGeom>
          <a:solidFill>
            <a:srgbClr val="c0392b">
              <a:alpha val="25000"/>
            </a:srgbClr>
          </a:solidFill>
          <a:ln w="6350">
            <a:solidFill>
              <a:srgbClr val="c0392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9" name="Text 16"/>
          <p:cNvSpPr/>
          <p:nvPr/>
        </p:nvSpPr>
        <p:spPr>
          <a:xfrm>
            <a:off x="7863840" y="2011680"/>
            <a:ext cx="803880" cy="218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9" strike="noStrike" u="none">
                <a:solidFill>
                  <a:srgbClr val="c0392b"/>
                </a:solidFill>
                <a:effectLst/>
                <a:uFillTx/>
                <a:latin typeface="Calibri"/>
                <a:ea typeface="Calibri"/>
              </a:rPr>
              <a:t>COLAB</a:t>
            </a:r>
            <a:endParaRPr b="0" lang="en-US" sz="850" strike="noStrike" u="none">
              <a:solidFill>
                <a:srgbClr val="ffffff"/>
              </a:solidFill>
              <a:effectLst/>
              <a:uFillTx/>
              <a:latin typeface="Arial"/>
            </a:endParaRPr>
          </a:p>
        </p:txBody>
      </p:sp>
      <p:sp>
        <p:nvSpPr>
          <p:cNvPr id="440" name="Text 17"/>
          <p:cNvSpPr/>
          <p:nvPr/>
        </p:nvSpPr>
        <p:spPr>
          <a:xfrm>
            <a:off x="1371600" y="1984320"/>
            <a:ext cx="64000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Replace Trainer with a plain PyTorch loop to avoid version conflicts</a:t>
            </a:r>
            <a:endParaRPr b="0" lang="en-US" sz="1150" strike="noStrike" u="none">
              <a:solidFill>
                <a:srgbClr val="ffffff"/>
              </a:solidFill>
              <a:effectLst/>
              <a:uFillTx/>
              <a:latin typeface="Arial"/>
            </a:endParaRPr>
          </a:p>
        </p:txBody>
      </p:sp>
      <p:sp>
        <p:nvSpPr>
          <p:cNvPr id="441" name="Text 18"/>
          <p:cNvSpPr/>
          <p:nvPr/>
        </p:nvSpPr>
        <p:spPr>
          <a:xfrm>
            <a:off x="1371600" y="223128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transformers.Trainer pulls in trainer_utils which depends on internal imports that break across Python/transformers versions. A plain loop with AdamW, GradScaler, and get_linear_schedule_with_warmup is equivalent and always works.</a:t>
            </a:r>
            <a:endParaRPr b="0" lang="en-US" sz="1000" strike="noStrike" u="none">
              <a:solidFill>
                <a:srgbClr val="ffffff"/>
              </a:solidFill>
              <a:effectLst/>
              <a:uFillTx/>
              <a:latin typeface="Arial"/>
            </a:endParaRPr>
          </a:p>
        </p:txBody>
      </p:sp>
      <p:sp>
        <p:nvSpPr>
          <p:cNvPr id="442" name="Shape 19"/>
          <p:cNvSpPr/>
          <p:nvPr/>
        </p:nvSpPr>
        <p:spPr>
          <a:xfrm>
            <a:off x="411480" y="270648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3" name="Shape 20"/>
          <p:cNvSpPr/>
          <p:nvPr/>
        </p:nvSpPr>
        <p:spPr>
          <a:xfrm>
            <a:off x="411480" y="270648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4" name="Text 21"/>
          <p:cNvSpPr/>
          <p:nvPr/>
        </p:nvSpPr>
        <p:spPr>
          <a:xfrm>
            <a:off x="640080" y="273420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03</a:t>
            </a:r>
            <a:endParaRPr b="0" lang="en-US" sz="2000" strike="noStrike" u="none">
              <a:solidFill>
                <a:srgbClr val="ffffff"/>
              </a:solidFill>
              <a:effectLst/>
              <a:uFillTx/>
              <a:latin typeface="Arial"/>
            </a:endParaRPr>
          </a:p>
        </p:txBody>
      </p:sp>
      <p:sp>
        <p:nvSpPr>
          <p:cNvPr id="445" name="Shape 22"/>
          <p:cNvSpPr/>
          <p:nvPr/>
        </p:nvSpPr>
        <p:spPr>
          <a:xfrm>
            <a:off x="1234440" y="273420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6" name="Shape 23"/>
          <p:cNvSpPr/>
          <p:nvPr/>
        </p:nvSpPr>
        <p:spPr>
          <a:xfrm>
            <a:off x="7863840" y="2761560"/>
            <a:ext cx="803880" cy="218880"/>
          </a:xfrm>
          <a:prstGeom prst="rect">
            <a:avLst/>
          </a:prstGeom>
          <a:solidFill>
            <a:srgbClr val="c9933a">
              <a:alpha val="25000"/>
            </a:srgbClr>
          </a:solidFill>
          <a:ln w="635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7" name="Text 24"/>
          <p:cNvSpPr/>
          <p:nvPr/>
        </p:nvSpPr>
        <p:spPr>
          <a:xfrm>
            <a:off x="7863840" y="2761560"/>
            <a:ext cx="803880" cy="218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9" strike="noStrike" u="none">
                <a:solidFill>
                  <a:srgbClr val="c9933a"/>
                </a:solidFill>
                <a:effectLst/>
                <a:uFillTx/>
                <a:latin typeface="Calibri"/>
                <a:ea typeface="Calibri"/>
              </a:rPr>
              <a:t>INFRA</a:t>
            </a:r>
            <a:endParaRPr b="0" lang="en-US" sz="850" strike="noStrike" u="none">
              <a:solidFill>
                <a:srgbClr val="ffffff"/>
              </a:solidFill>
              <a:effectLst/>
              <a:uFillTx/>
              <a:latin typeface="Arial"/>
            </a:endParaRPr>
          </a:p>
        </p:txBody>
      </p:sp>
      <p:sp>
        <p:nvSpPr>
          <p:cNvPr id="448" name="Text 25"/>
          <p:cNvSpPr/>
          <p:nvPr/>
        </p:nvSpPr>
        <p:spPr>
          <a:xfrm>
            <a:off x="1371600" y="2734200"/>
            <a:ext cx="64000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Pin transformers version explicitly — never rely on Colab's pre-installed</a:t>
            </a:r>
            <a:endParaRPr b="0" lang="en-US" sz="1150" strike="noStrike" u="none">
              <a:solidFill>
                <a:srgbClr val="ffffff"/>
              </a:solidFill>
              <a:effectLst/>
              <a:uFillTx/>
              <a:latin typeface="Arial"/>
            </a:endParaRPr>
          </a:p>
        </p:txBody>
      </p:sp>
      <p:sp>
        <p:nvSpPr>
          <p:cNvPr id="449" name="Text 26"/>
          <p:cNvSpPr/>
          <p:nvPr/>
        </p:nvSpPr>
        <p:spPr>
          <a:xfrm>
            <a:off x="1371600" y="298080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Colab ships transformers 4.40.0 which conflicts with Python 3.12. The fix is transformers==4.46.3 with --force-reinstall followed by a runtime restart. The restart is mandatory — in-memory modules don't update on reinstall.</a:t>
            </a:r>
            <a:endParaRPr b="0" lang="en-US" sz="1000" strike="noStrike" u="none">
              <a:solidFill>
                <a:srgbClr val="ffffff"/>
              </a:solidFill>
              <a:effectLst/>
              <a:uFillTx/>
              <a:latin typeface="Arial"/>
            </a:endParaRPr>
          </a:p>
        </p:txBody>
      </p:sp>
      <p:sp>
        <p:nvSpPr>
          <p:cNvPr id="450" name="Shape 27"/>
          <p:cNvSpPr/>
          <p:nvPr/>
        </p:nvSpPr>
        <p:spPr>
          <a:xfrm>
            <a:off x="411480" y="3456360"/>
            <a:ext cx="8320320" cy="65772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1" name="Shape 28"/>
          <p:cNvSpPr/>
          <p:nvPr/>
        </p:nvSpPr>
        <p:spPr>
          <a:xfrm>
            <a:off x="411480" y="345636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2" name="Text 29"/>
          <p:cNvSpPr/>
          <p:nvPr/>
        </p:nvSpPr>
        <p:spPr>
          <a:xfrm>
            <a:off x="640080" y="348372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04</a:t>
            </a:r>
            <a:endParaRPr b="0" lang="en-US" sz="2000" strike="noStrike" u="none">
              <a:solidFill>
                <a:srgbClr val="ffffff"/>
              </a:solidFill>
              <a:effectLst/>
              <a:uFillTx/>
              <a:latin typeface="Arial"/>
            </a:endParaRPr>
          </a:p>
        </p:txBody>
      </p:sp>
      <p:sp>
        <p:nvSpPr>
          <p:cNvPr id="453" name="Shape 30"/>
          <p:cNvSpPr/>
          <p:nvPr/>
        </p:nvSpPr>
        <p:spPr>
          <a:xfrm>
            <a:off x="1234440" y="348372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4" name="Shape 31"/>
          <p:cNvSpPr/>
          <p:nvPr/>
        </p:nvSpPr>
        <p:spPr>
          <a:xfrm>
            <a:off x="7863840" y="3511440"/>
            <a:ext cx="803880" cy="218880"/>
          </a:xfrm>
          <a:prstGeom prst="rect">
            <a:avLst/>
          </a:prstGeom>
          <a:solidFill>
            <a:srgbClr val="1e6b40">
              <a:alpha val="25000"/>
            </a:srgbClr>
          </a:solidFill>
          <a:ln w="635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5" name="Text 32"/>
          <p:cNvSpPr/>
          <p:nvPr/>
        </p:nvSpPr>
        <p:spPr>
          <a:xfrm>
            <a:off x="7863840" y="3511440"/>
            <a:ext cx="803880" cy="218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9" strike="noStrike" u="none">
                <a:solidFill>
                  <a:srgbClr val="1e6b40"/>
                </a:solidFill>
                <a:effectLst/>
                <a:uFillTx/>
                <a:latin typeface="Calibri"/>
                <a:ea typeface="Calibri"/>
              </a:rPr>
              <a:t>PRACTICE</a:t>
            </a:r>
            <a:endParaRPr b="0" lang="en-US" sz="850" strike="noStrike" u="none">
              <a:solidFill>
                <a:srgbClr val="ffffff"/>
              </a:solidFill>
              <a:effectLst/>
              <a:uFillTx/>
              <a:latin typeface="Arial"/>
            </a:endParaRPr>
          </a:p>
        </p:txBody>
      </p:sp>
      <p:sp>
        <p:nvSpPr>
          <p:cNvPr id="456" name="Text 33"/>
          <p:cNvSpPr/>
          <p:nvPr/>
        </p:nvSpPr>
        <p:spPr>
          <a:xfrm>
            <a:off x="1371600" y="3483720"/>
            <a:ext cx="64000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Single source of truth: all hyperparameters in one config block</a:t>
            </a:r>
            <a:endParaRPr b="0" lang="en-US" sz="1150" strike="noStrike" u="none">
              <a:solidFill>
                <a:srgbClr val="ffffff"/>
              </a:solidFill>
              <a:effectLst/>
              <a:uFillTx/>
              <a:latin typeface="Arial"/>
            </a:endParaRPr>
          </a:p>
        </p:txBody>
      </p:sp>
      <p:sp>
        <p:nvSpPr>
          <p:cNvPr id="457" name="Text 34"/>
          <p:cNvSpPr/>
          <p:nvPr/>
        </p:nvSpPr>
        <p:spPr>
          <a:xfrm>
            <a:off x="1371600" y="373068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BATCH, ACCUM, LR, MAX_LEN, SEED at the top of the notebook. Never scatter magic numbers across cells. When a training run fails at epoch 3, you need to know exactly what parameters you used.</a:t>
            </a:r>
            <a:endParaRPr b="0" lang="en-US" sz="1000" strike="noStrike" u="none">
              <a:solidFill>
                <a:srgbClr val="ffffff"/>
              </a:solidFill>
              <a:effectLst/>
              <a:uFillTx/>
              <a:latin typeface="Arial"/>
            </a:endParaRPr>
          </a:p>
        </p:txBody>
      </p:sp>
      <p:sp>
        <p:nvSpPr>
          <p:cNvPr id="458" name="Shape 35"/>
          <p:cNvSpPr/>
          <p:nvPr/>
        </p:nvSpPr>
        <p:spPr>
          <a:xfrm>
            <a:off x="411480" y="4206240"/>
            <a:ext cx="8320320" cy="65772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9" name="Shape 36"/>
          <p:cNvSpPr/>
          <p:nvPr/>
        </p:nvSpPr>
        <p:spPr>
          <a:xfrm>
            <a:off x="411480" y="4206240"/>
            <a:ext cx="54000" cy="65772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0" name="Text 37"/>
          <p:cNvSpPr/>
          <p:nvPr/>
        </p:nvSpPr>
        <p:spPr>
          <a:xfrm>
            <a:off x="640080" y="4233600"/>
            <a:ext cx="474840" cy="566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c9933a"/>
                </a:solidFill>
                <a:effectLst/>
                <a:uFillTx/>
                <a:latin typeface="Georgia"/>
                <a:ea typeface="Georgia"/>
              </a:rPr>
              <a:t>05</a:t>
            </a:r>
            <a:endParaRPr b="0" lang="en-US" sz="2000" strike="noStrike" u="none">
              <a:solidFill>
                <a:srgbClr val="ffffff"/>
              </a:solidFill>
              <a:effectLst/>
              <a:uFillTx/>
              <a:latin typeface="Arial"/>
            </a:endParaRPr>
          </a:p>
        </p:txBody>
      </p:sp>
      <p:sp>
        <p:nvSpPr>
          <p:cNvPr id="461" name="Shape 38"/>
          <p:cNvSpPr/>
          <p:nvPr/>
        </p:nvSpPr>
        <p:spPr>
          <a:xfrm>
            <a:off x="1234440" y="4233600"/>
            <a:ext cx="26640" cy="566280"/>
          </a:xfrm>
          <a:prstGeom prst="rect">
            <a:avLst/>
          </a:prstGeom>
          <a:solidFill>
            <a:srgbClr val="1e3050"/>
          </a:solidFill>
          <a:ln w="12700">
            <a:solidFill>
              <a:srgbClr val="1e305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2" name="Shape 39"/>
          <p:cNvSpPr/>
          <p:nvPr/>
        </p:nvSpPr>
        <p:spPr>
          <a:xfrm>
            <a:off x="7863840" y="4260960"/>
            <a:ext cx="803880" cy="218880"/>
          </a:xfrm>
          <a:prstGeom prst="rect">
            <a:avLst/>
          </a:prstGeom>
          <a:solidFill>
            <a:srgbClr val="1e6b40">
              <a:alpha val="25000"/>
            </a:srgbClr>
          </a:solidFill>
          <a:ln w="6350">
            <a:solidFill>
              <a:srgbClr val="1e6b40"/>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3" name="Text 40"/>
          <p:cNvSpPr/>
          <p:nvPr/>
        </p:nvSpPr>
        <p:spPr>
          <a:xfrm>
            <a:off x="7863840" y="4260960"/>
            <a:ext cx="803880" cy="218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9" strike="noStrike" u="none">
                <a:solidFill>
                  <a:srgbClr val="1e6b40"/>
                </a:solidFill>
                <a:effectLst/>
                <a:uFillTx/>
                <a:latin typeface="Calibri"/>
                <a:ea typeface="Calibri"/>
              </a:rPr>
              <a:t>PRACTICE</a:t>
            </a:r>
            <a:endParaRPr b="0" lang="en-US" sz="850" strike="noStrike" u="none">
              <a:solidFill>
                <a:srgbClr val="ffffff"/>
              </a:solidFill>
              <a:effectLst/>
              <a:uFillTx/>
              <a:latin typeface="Arial"/>
            </a:endParaRPr>
          </a:p>
        </p:txBody>
      </p:sp>
      <p:sp>
        <p:nvSpPr>
          <p:cNvPr id="464" name="Text 41"/>
          <p:cNvSpPr/>
          <p:nvPr/>
        </p:nvSpPr>
        <p:spPr>
          <a:xfrm>
            <a:off x="1371600" y="4233600"/>
            <a:ext cx="64000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trike="noStrike" u="none">
                <a:solidFill>
                  <a:srgbClr val="f5edd6"/>
                </a:solidFill>
                <a:effectLst/>
                <a:uFillTx/>
                <a:latin typeface="Calibri"/>
                <a:ea typeface="Calibri"/>
              </a:rPr>
              <a:t>Save everything to Drive immediately — Colab sessions die</a:t>
            </a:r>
            <a:endParaRPr b="0" lang="en-US" sz="1150" strike="noStrike" u="none">
              <a:solidFill>
                <a:srgbClr val="ffffff"/>
              </a:solidFill>
              <a:effectLst/>
              <a:uFillTx/>
              <a:latin typeface="Arial"/>
            </a:endParaRPr>
          </a:p>
        </p:txBody>
      </p:sp>
      <p:sp>
        <p:nvSpPr>
          <p:cNvPr id="465" name="Text 42"/>
          <p:cNvSpPr/>
          <p:nvPr/>
        </p:nvSpPr>
        <p:spPr>
          <a:xfrm>
            <a:off x="1371600" y="4480560"/>
            <a:ext cx="717732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000" strike="noStrike" u="none">
                <a:solidFill>
                  <a:srgbClr val="b8ccdf"/>
                </a:solidFill>
                <a:effectLst/>
                <a:uFillTx/>
                <a:latin typeface="Calibri"/>
                <a:ea typeface="Calibri"/>
              </a:rPr>
              <a:t>A T4 session can disconnect mid-training with no warning. tokenizer.save_pretrained(), model.save_pretrained(), and torch.save() after every epoch to Drive. The trained model is worth more than the code.</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466"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7"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PRESENTATION GUIDE  ·  TALKING POINTS</a:t>
            </a:r>
            <a:endParaRPr b="0" lang="en-US" sz="900" strike="noStrike" u="none">
              <a:solidFill>
                <a:srgbClr val="ffffff"/>
              </a:solidFill>
              <a:effectLst/>
              <a:uFillTx/>
              <a:latin typeface="Arial"/>
            </a:endParaRPr>
          </a:p>
        </p:txBody>
      </p:sp>
      <p:sp>
        <p:nvSpPr>
          <p:cNvPr id="468" name="Text 2"/>
          <p:cNvSpPr/>
          <p:nvPr/>
        </p:nvSpPr>
        <p:spPr>
          <a:xfrm>
            <a:off x="457200" y="502920"/>
            <a:ext cx="82288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f5edd6"/>
                </a:solidFill>
                <a:effectLst/>
                <a:uFillTx/>
                <a:latin typeface="Georgia"/>
                <a:ea typeface="Georgia"/>
              </a:rPr>
              <a:t>How to present this project</a:t>
            </a:r>
            <a:endParaRPr b="0" lang="en-US" sz="3400" strike="noStrike" u="none">
              <a:solidFill>
                <a:srgbClr val="ffffff"/>
              </a:solidFill>
              <a:effectLst/>
              <a:uFillTx/>
              <a:latin typeface="Arial"/>
            </a:endParaRPr>
          </a:p>
        </p:txBody>
      </p:sp>
      <p:sp>
        <p:nvSpPr>
          <p:cNvPr id="469" name="Shape 3"/>
          <p:cNvSpPr/>
          <p:nvPr/>
        </p:nvSpPr>
        <p:spPr>
          <a:xfrm>
            <a:off x="411480" y="123444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0" name="Shape 4"/>
          <p:cNvSpPr/>
          <p:nvPr/>
        </p:nvSpPr>
        <p:spPr>
          <a:xfrm>
            <a:off x="411480" y="123444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71" name="Text 5"/>
          <p:cNvSpPr/>
          <p:nvPr/>
        </p:nvSpPr>
        <p:spPr>
          <a:xfrm>
            <a:off x="539640" y="132588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Problem (S.2)</a:t>
            </a:r>
            <a:endParaRPr b="0" lang="en-US" sz="1000" strike="noStrike" u="none">
              <a:solidFill>
                <a:srgbClr val="ffffff"/>
              </a:solidFill>
              <a:effectLst/>
              <a:uFillTx/>
              <a:latin typeface="Arial"/>
            </a:endParaRPr>
          </a:p>
        </p:txBody>
      </p:sp>
      <p:sp>
        <p:nvSpPr>
          <p:cNvPr id="472" name="Text 6"/>
          <p:cNvSpPr/>
          <p:nvPr/>
        </p:nvSpPr>
        <p:spPr>
          <a:xfrm>
            <a:off x="539640" y="158184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Open with the dollar number: $300–$800/hr × 400 contracts × 60% routine = $72K–$192K/year in misallocated attorney time. That's the problem in one sentence.</a:t>
            </a:r>
            <a:endParaRPr b="0" lang="en-US" sz="1000" strike="noStrike" u="none">
              <a:solidFill>
                <a:srgbClr val="ffffff"/>
              </a:solidFill>
              <a:effectLst/>
              <a:uFillTx/>
              <a:latin typeface="Arial"/>
            </a:endParaRPr>
          </a:p>
        </p:txBody>
      </p:sp>
      <p:sp>
        <p:nvSpPr>
          <p:cNvPr id="473" name="Shape 7"/>
          <p:cNvSpPr/>
          <p:nvPr/>
        </p:nvSpPr>
        <p:spPr>
          <a:xfrm>
            <a:off x="4709160" y="123444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4" name="Shape 8"/>
          <p:cNvSpPr/>
          <p:nvPr/>
        </p:nvSpPr>
        <p:spPr>
          <a:xfrm>
            <a:off x="4709160" y="123444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75" name="Text 9"/>
          <p:cNvSpPr/>
          <p:nvPr/>
        </p:nvSpPr>
        <p:spPr>
          <a:xfrm>
            <a:off x="4837320" y="132588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Baseline (S.5)</a:t>
            </a:r>
            <a:endParaRPr b="0" lang="en-US" sz="1000" strike="noStrike" u="none">
              <a:solidFill>
                <a:srgbClr val="ffffff"/>
              </a:solidFill>
              <a:effectLst/>
              <a:uFillTx/>
              <a:latin typeface="Arial"/>
            </a:endParaRPr>
          </a:p>
        </p:txBody>
      </p:sp>
      <p:sp>
        <p:nvSpPr>
          <p:cNvPr id="476" name="Text 10"/>
          <p:cNvSpPr/>
          <p:nvPr/>
        </p:nvSpPr>
        <p:spPr>
          <a:xfrm>
            <a:off x="4837320" y="158184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Explain why you report macro-F1, not micro. "Micro-F1 of 0.81 looks great. But our attorney doesn't care about Governing Law — it's in every contract. They care about Uncapped Liability, which appears in 9%. Macro-F1 makes those equal."</a:t>
            </a:r>
            <a:endParaRPr b="0" lang="en-US" sz="1000" strike="noStrike" u="none">
              <a:solidFill>
                <a:srgbClr val="ffffff"/>
              </a:solidFill>
              <a:effectLst/>
              <a:uFillTx/>
              <a:latin typeface="Arial"/>
            </a:endParaRPr>
          </a:p>
        </p:txBody>
      </p:sp>
      <p:sp>
        <p:nvSpPr>
          <p:cNvPr id="477" name="Shape 11"/>
          <p:cNvSpPr/>
          <p:nvPr/>
        </p:nvSpPr>
        <p:spPr>
          <a:xfrm>
            <a:off x="411480" y="253296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8" name="Shape 12"/>
          <p:cNvSpPr/>
          <p:nvPr/>
        </p:nvSpPr>
        <p:spPr>
          <a:xfrm>
            <a:off x="411480" y="253296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79" name="Text 13"/>
          <p:cNvSpPr/>
          <p:nvPr/>
        </p:nvSpPr>
        <p:spPr>
          <a:xfrm>
            <a:off x="539640" y="262440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Threshold (S.6)</a:t>
            </a:r>
            <a:endParaRPr b="0" lang="en-US" sz="1000" strike="noStrike" u="none">
              <a:solidFill>
                <a:srgbClr val="ffffff"/>
              </a:solidFill>
              <a:effectLst/>
              <a:uFillTx/>
              <a:latin typeface="Arial"/>
            </a:endParaRPr>
          </a:p>
        </p:txBody>
      </p:sp>
      <p:sp>
        <p:nvSpPr>
          <p:cNvPr id="480" name="Text 14"/>
          <p:cNvSpPr/>
          <p:nvPr/>
        </p:nvSpPr>
        <p:spPr>
          <a:xfrm>
            <a:off x="539640" y="288036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Lead with the surprise: the biggest gain came from changing one number, not building a new model. "I didn't add any parameters. I changed the decision boundary from 0.5 to 0.20. That's +0.139 macro-F1."</a:t>
            </a:r>
            <a:endParaRPr b="0" lang="en-US" sz="1000" strike="noStrike" u="none">
              <a:solidFill>
                <a:srgbClr val="ffffff"/>
              </a:solidFill>
              <a:effectLst/>
              <a:uFillTx/>
              <a:latin typeface="Arial"/>
            </a:endParaRPr>
          </a:p>
        </p:txBody>
      </p:sp>
      <p:sp>
        <p:nvSpPr>
          <p:cNvPr id="481" name="Shape 15"/>
          <p:cNvSpPr/>
          <p:nvPr/>
        </p:nvSpPr>
        <p:spPr>
          <a:xfrm>
            <a:off x="4709160" y="253296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2" name="Shape 16"/>
          <p:cNvSpPr/>
          <p:nvPr/>
        </p:nvSpPr>
        <p:spPr>
          <a:xfrm>
            <a:off x="4709160" y="253296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83" name="Text 17"/>
          <p:cNvSpPr/>
          <p:nvPr/>
        </p:nvSpPr>
        <p:spPr>
          <a:xfrm>
            <a:off x="4837320" y="262440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Cap vs Uncapped (S.7)</a:t>
            </a:r>
            <a:endParaRPr b="0" lang="en-US" sz="1000" strike="noStrike" u="none">
              <a:solidFill>
                <a:srgbClr val="ffffff"/>
              </a:solidFill>
              <a:effectLst/>
              <a:uFillTx/>
              <a:latin typeface="Arial"/>
            </a:endParaRPr>
          </a:p>
        </p:txBody>
      </p:sp>
      <p:sp>
        <p:nvSpPr>
          <p:cNvPr id="484" name="Text 18"/>
          <p:cNvSpPr/>
          <p:nvPr/>
        </p:nvSpPr>
        <p:spPr>
          <a:xfrm>
            <a:off x="4837320" y="288036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Read both clause examples out loud. The audience will immediately feel the problem — the text is almost identical, but one is worth $0 and the other could be worth $500K in damages.</a:t>
            </a:r>
            <a:endParaRPr b="0" lang="en-US" sz="1000" strike="noStrike" u="none">
              <a:solidFill>
                <a:srgbClr val="ffffff"/>
              </a:solidFill>
              <a:effectLst/>
              <a:uFillTx/>
              <a:latin typeface="Arial"/>
            </a:endParaRPr>
          </a:p>
        </p:txBody>
      </p:sp>
      <p:sp>
        <p:nvSpPr>
          <p:cNvPr id="485" name="Shape 19"/>
          <p:cNvSpPr/>
          <p:nvPr/>
        </p:nvSpPr>
        <p:spPr>
          <a:xfrm>
            <a:off x="411480" y="383148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6" name="Shape 20"/>
          <p:cNvSpPr/>
          <p:nvPr/>
        </p:nvSpPr>
        <p:spPr>
          <a:xfrm>
            <a:off x="411480" y="383148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87" name="Text 21"/>
          <p:cNvSpPr/>
          <p:nvPr/>
        </p:nvSpPr>
        <p:spPr>
          <a:xfrm>
            <a:off x="539640" y="392292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MLP (S.8)</a:t>
            </a:r>
            <a:endParaRPr b="0" lang="en-US" sz="1000" strike="noStrike" u="none">
              <a:solidFill>
                <a:srgbClr val="ffffff"/>
              </a:solidFill>
              <a:effectLst/>
              <a:uFillTx/>
              <a:latin typeface="Arial"/>
            </a:endParaRPr>
          </a:p>
        </p:txBody>
      </p:sp>
      <p:sp>
        <p:nvSpPr>
          <p:cNvPr id="488" name="Text 22"/>
          <p:cNvSpPr/>
          <p:nvPr/>
        </p:nvSpPr>
        <p:spPr>
          <a:xfrm>
            <a:off x="539640" y="417888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Frame the negative result as information: "I built an MLP to test whether non-linearity would help. It didn't — it was worse by 0.124. That proved the bottleneck was features, not the model. I didn't waste time going deeper. I changed the representation."</a:t>
            </a:r>
            <a:endParaRPr b="0" lang="en-US" sz="1000" strike="noStrike" u="none">
              <a:solidFill>
                <a:srgbClr val="ffffff"/>
              </a:solidFill>
              <a:effectLst/>
              <a:uFillTx/>
              <a:latin typeface="Arial"/>
            </a:endParaRPr>
          </a:p>
        </p:txBody>
      </p:sp>
      <p:sp>
        <p:nvSpPr>
          <p:cNvPr id="489" name="Shape 23"/>
          <p:cNvSpPr/>
          <p:nvPr/>
        </p:nvSpPr>
        <p:spPr>
          <a:xfrm>
            <a:off x="4709160" y="3831480"/>
            <a:ext cx="4022640" cy="116964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0" name="Shape 24"/>
          <p:cNvSpPr/>
          <p:nvPr/>
        </p:nvSpPr>
        <p:spPr>
          <a:xfrm>
            <a:off x="4709160" y="3831480"/>
            <a:ext cx="402264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491" name="Text 25"/>
          <p:cNvSpPr/>
          <p:nvPr/>
        </p:nvSpPr>
        <p:spPr>
          <a:xfrm>
            <a:off x="4837320" y="3922920"/>
            <a:ext cx="37483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0" strike="noStrike" u="none">
                <a:solidFill>
                  <a:srgbClr val="c9933a"/>
                </a:solidFill>
                <a:effectLst/>
                <a:uFillTx/>
                <a:latin typeface="Calibri"/>
                <a:ea typeface="Calibri"/>
              </a:rPr>
              <a:t>RoBERTa (S.9)</a:t>
            </a:r>
            <a:endParaRPr b="0" lang="en-US" sz="1000" strike="noStrike" u="none">
              <a:solidFill>
                <a:srgbClr val="ffffff"/>
              </a:solidFill>
              <a:effectLst/>
              <a:uFillTx/>
              <a:latin typeface="Arial"/>
            </a:endParaRPr>
          </a:p>
        </p:txBody>
      </p:sp>
      <p:sp>
        <p:nvSpPr>
          <p:cNvPr id="492" name="Text 26"/>
          <p:cNvSpPr/>
          <p:nvPr/>
        </p:nvSpPr>
        <p:spPr>
          <a:xfrm>
            <a:off x="4837320" y="4178880"/>
            <a:ext cx="3748320" cy="74916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r>
              <a:rPr b="0" lang="en-US" sz="1000" strike="noStrike" u="none">
                <a:solidFill>
                  <a:srgbClr val="b8ccdf"/>
                </a:solidFill>
                <a:effectLst/>
                <a:uFillTx/>
                <a:latin typeface="Calibri"/>
                <a:ea typeface="Calibri"/>
              </a:rPr>
              <a:t>Explain the architecture in one sentence for a business audience: "Instead of asking 'is there a liability clause?', the model now reads the contract like a search engine — it finds the exact sentence that is the clause and quotes it back to you."</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493"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4" name="Text 1"/>
          <p:cNvSpPr/>
          <p:nvPr/>
        </p:nvSpPr>
        <p:spPr>
          <a:xfrm>
            <a:off x="457200" y="201240"/>
            <a:ext cx="3656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349" strike="noStrike" u="none">
                <a:solidFill>
                  <a:srgbClr val="c9933a"/>
                </a:solidFill>
                <a:effectLst/>
                <a:uFillTx/>
                <a:latin typeface="Calibri"/>
                <a:ea typeface="Calibri"/>
              </a:rPr>
              <a:t>BUSINESS IMPACT</a:t>
            </a:r>
            <a:endParaRPr b="0" lang="en-US" sz="900" strike="noStrike" u="none">
              <a:solidFill>
                <a:srgbClr val="ffffff"/>
              </a:solidFill>
              <a:effectLst/>
              <a:uFillTx/>
              <a:latin typeface="Arial"/>
            </a:endParaRPr>
          </a:p>
        </p:txBody>
      </p:sp>
      <p:sp>
        <p:nvSpPr>
          <p:cNvPr id="495" name="Text 2"/>
          <p:cNvSpPr/>
          <p:nvPr/>
        </p:nvSpPr>
        <p:spPr>
          <a:xfrm>
            <a:off x="457200" y="502920"/>
            <a:ext cx="82288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600" strike="noStrike" u="none">
                <a:solidFill>
                  <a:srgbClr val="f5edd6"/>
                </a:solidFill>
                <a:effectLst/>
                <a:uFillTx/>
                <a:latin typeface="Georgia"/>
                <a:ea typeface="Georgia"/>
              </a:rPr>
              <a:t>The ROI case</a:t>
            </a:r>
            <a:endParaRPr b="0" lang="en-US" sz="3600" strike="noStrike" u="none">
              <a:solidFill>
                <a:srgbClr val="ffffff"/>
              </a:solidFill>
              <a:effectLst/>
              <a:uFillTx/>
              <a:latin typeface="Arial"/>
            </a:endParaRPr>
          </a:p>
        </p:txBody>
      </p:sp>
      <p:sp>
        <p:nvSpPr>
          <p:cNvPr id="496" name="Shape 3"/>
          <p:cNvSpPr/>
          <p:nvPr/>
        </p:nvSpPr>
        <p:spPr>
          <a:xfrm>
            <a:off x="411480" y="1170360"/>
            <a:ext cx="4754160" cy="2212200"/>
          </a:xfrm>
          <a:prstGeom prst="rect">
            <a:avLst/>
          </a:prstGeom>
          <a:solidFill>
            <a:srgbClr val="0f1e35"/>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7" name="Shape 4"/>
          <p:cNvSpPr/>
          <p:nvPr/>
        </p:nvSpPr>
        <p:spPr>
          <a:xfrm>
            <a:off x="411480" y="1170360"/>
            <a:ext cx="4754160" cy="63360"/>
          </a:xfrm>
          <a:prstGeom prst="rect">
            <a:avLst/>
          </a:prstGeom>
          <a:solidFill>
            <a:srgbClr val="c9933a"/>
          </a:solidFill>
          <a:ln w="12700">
            <a:solidFill>
              <a:srgbClr val="c9933a"/>
            </a:solidFill>
            <a:round/>
          </a:ln>
        </p:spPr>
        <p:style>
          <a:lnRef idx="0"/>
          <a:fillRef idx="0"/>
          <a:effectRef idx="0"/>
          <a:fontRef idx="minor"/>
        </p:style>
        <p:txBody>
          <a:bodyPr lIns="90000" rIns="90000" tIns="19080" bIns="19080" anchor="t">
            <a:noAutofit/>
          </a:bodyPr>
          <a:p>
            <a:pPr>
              <a:lnSpc>
                <a:spcPct val="100000"/>
              </a:lnSpc>
            </a:pPr>
            <a:endParaRPr b="0" lang="en-US" sz="1800" strike="noStrike" u="none">
              <a:solidFill>
                <a:srgbClr val="ffffff"/>
              </a:solidFill>
              <a:effectLst/>
              <a:uFillTx/>
              <a:latin typeface="Arial"/>
            </a:endParaRPr>
          </a:p>
        </p:txBody>
      </p:sp>
      <p:sp>
        <p:nvSpPr>
          <p:cNvPr id="498" name="Text 5"/>
          <p:cNvSpPr/>
          <p:nvPr/>
        </p:nvSpPr>
        <p:spPr>
          <a:xfrm>
            <a:off x="567000" y="1298520"/>
            <a:ext cx="438840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b8ccdf"/>
                </a:solidFill>
                <a:effectLst/>
                <a:uFillTx/>
                <a:latin typeface="Calibri"/>
                <a:ea typeface="Calibri"/>
              </a:rPr>
              <a:t>If 40% of contracts auto-clear:</a:t>
            </a:r>
            <a:endParaRPr b="0" lang="en-US" sz="1200" strike="noStrike" u="none">
              <a:solidFill>
                <a:srgbClr val="ffffff"/>
              </a:solidFill>
              <a:effectLst/>
              <a:uFillTx/>
              <a:latin typeface="Arial"/>
            </a:endParaRPr>
          </a:p>
        </p:txBody>
      </p:sp>
      <p:sp>
        <p:nvSpPr>
          <p:cNvPr id="499" name="Text 6"/>
          <p:cNvSpPr/>
          <p:nvPr/>
        </p:nvSpPr>
        <p:spPr>
          <a:xfrm>
            <a:off x="567000" y="1664280"/>
            <a:ext cx="4388400" cy="566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2200" strike="noStrike" u="none">
                <a:solidFill>
                  <a:srgbClr val="c9933a"/>
                </a:solidFill>
                <a:effectLst/>
                <a:uFillTx/>
                <a:latin typeface="Georgia"/>
                <a:ea typeface="Georgia"/>
              </a:rPr>
              <a:t>60+ attorney hours saved per 100 contracts</a:t>
            </a:r>
            <a:endParaRPr b="0" lang="en-US" sz="2200" strike="noStrike" u="none">
              <a:solidFill>
                <a:srgbClr val="ffffff"/>
              </a:solidFill>
              <a:effectLst/>
              <a:uFillTx/>
              <a:latin typeface="Arial"/>
            </a:endParaRPr>
          </a:p>
        </p:txBody>
      </p:sp>
      <p:sp>
        <p:nvSpPr>
          <p:cNvPr id="500" name="Text 7"/>
          <p:cNvSpPr/>
          <p:nvPr/>
        </p:nvSpPr>
        <p:spPr>
          <a:xfrm>
            <a:off x="567000" y="2423160"/>
            <a:ext cx="4388400" cy="566280"/>
          </a:xfrm>
          <a:prstGeom prst="rect">
            <a:avLst/>
          </a:prstGeom>
          <a:noFill/>
          <a:ln w="0">
            <a:noFill/>
          </a:ln>
        </p:spPr>
        <p:style>
          <a:lnRef idx="0"/>
          <a:fillRef idx="0"/>
          <a:effectRef idx="0"/>
          <a:fontRef idx="minor"/>
        </p:style>
        <p:txBody>
          <a:bodyPr lIns="0" rIns="0" tIns="0" bIns="0" anchor="ctr">
            <a:noAutofit/>
          </a:bodyPr>
          <a:p>
            <a:pPr defTabSz="914400">
              <a:lnSpc>
                <a:spcPct val="140000"/>
              </a:lnSpc>
              <a:tabLst>
                <a:tab algn="l" pos="0"/>
              </a:tabLst>
            </a:pPr>
            <a:r>
              <a:rPr b="0" lang="en-US" sz="1100" strike="noStrike" u="none">
                <a:solidFill>
                  <a:srgbClr val="b8ccdf"/>
                </a:solidFill>
                <a:effectLst/>
                <a:uFillTx/>
                <a:latin typeface="Calibri"/>
                <a:ea typeface="Calibri"/>
              </a:rPr>
              <a:t>$18,000–$48,000 annual savings</a:t>
            </a:r>
            <a:endParaRPr b="0" lang="en-US" sz="1100" strike="noStrike" u="none">
              <a:solidFill>
                <a:srgbClr val="ffffff"/>
              </a:solidFill>
              <a:effectLst/>
              <a:uFillTx/>
              <a:latin typeface="Arial"/>
            </a:endParaRPr>
          </a:p>
          <a:p>
            <a:pPr defTabSz="914400">
              <a:lnSpc>
                <a:spcPct val="140000"/>
              </a:lnSpc>
              <a:tabLst>
                <a:tab algn="l" pos="0"/>
              </a:tabLst>
            </a:pPr>
            <a:r>
              <a:rPr b="0" lang="en-US" sz="1100" strike="noStrike" u="none">
                <a:solidFill>
                  <a:srgbClr val="b8ccdf"/>
                </a:solidFill>
                <a:effectLst/>
                <a:uFillTx/>
                <a:latin typeface="Calibri"/>
                <a:ea typeface="Calibri"/>
              </a:rPr>
              <a:t>for a company signing 300 contracts/year</a:t>
            </a:r>
            <a:endParaRPr b="0" lang="en-US" sz="1100" strike="noStrike" u="none">
              <a:solidFill>
                <a:srgbClr val="ffffff"/>
              </a:solidFill>
              <a:effectLst/>
              <a:uFillTx/>
              <a:latin typeface="Arial"/>
            </a:endParaRPr>
          </a:p>
          <a:p>
            <a:pPr defTabSz="914400">
              <a:lnSpc>
                <a:spcPct val="140000"/>
              </a:lnSpc>
              <a:tabLst>
                <a:tab algn="l" pos="0"/>
              </a:tabLst>
            </a:pPr>
            <a:r>
              <a:rPr b="0" lang="en-US" sz="1100" strike="noStrike" u="none">
                <a:solidFill>
                  <a:srgbClr val="b8ccdf"/>
                </a:solidFill>
                <a:effectLst/>
                <a:uFillTx/>
                <a:latin typeface="Calibri"/>
                <a:ea typeface="Calibri"/>
              </a:rPr>
              <a:t>at $300–$800/hr attorney rate</a:t>
            </a:r>
            <a:endParaRPr b="0" lang="en-US" sz="1100" strike="noStrike" u="none">
              <a:solidFill>
                <a:srgbClr val="ffffff"/>
              </a:solidFill>
              <a:effectLst/>
              <a:uFillTx/>
              <a:latin typeface="Arial"/>
            </a:endParaRPr>
          </a:p>
        </p:txBody>
      </p:sp>
      <p:sp>
        <p:nvSpPr>
          <p:cNvPr id="501" name="Shape 8"/>
          <p:cNvSpPr/>
          <p:nvPr/>
        </p:nvSpPr>
        <p:spPr>
          <a:xfrm>
            <a:off x="5349240" y="1170360"/>
            <a:ext cx="3382560" cy="69408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2" name="Shape 9"/>
          <p:cNvSpPr/>
          <p:nvPr/>
        </p:nvSpPr>
        <p:spPr>
          <a:xfrm>
            <a:off x="5349240" y="1170360"/>
            <a:ext cx="54000" cy="69408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3" name="Text 10"/>
          <p:cNvSpPr/>
          <p:nvPr/>
        </p:nvSpPr>
        <p:spPr>
          <a:xfrm>
            <a:off x="5577840" y="1144080"/>
            <a:ext cx="30168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Risk reduction</a:t>
            </a:r>
            <a:endParaRPr b="0" lang="en-US" sz="1200" strike="noStrike" u="none">
              <a:solidFill>
                <a:srgbClr val="ffffff"/>
              </a:solidFill>
              <a:effectLst/>
              <a:uFillTx/>
              <a:latin typeface="Arial"/>
            </a:endParaRPr>
          </a:p>
        </p:txBody>
      </p:sp>
      <p:sp>
        <p:nvSpPr>
          <p:cNvPr id="504" name="Text 11"/>
          <p:cNvSpPr/>
          <p:nvPr/>
        </p:nvSpPr>
        <p:spPr>
          <a:xfrm>
            <a:off x="5577840" y="1391040"/>
            <a:ext cx="301680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00" strike="noStrike" u="none">
                <a:solidFill>
                  <a:srgbClr val="b8ccdf"/>
                </a:solidFill>
                <a:effectLst/>
                <a:uFillTx/>
                <a:latin typeface="Calibri"/>
                <a:ea typeface="Calibri"/>
              </a:rPr>
              <a:t>Every missed Uncapped Liability clause is a potential $200K+ exposure. Auto-flagging before signature eliminates the risk of oversight.</a:t>
            </a:r>
            <a:endParaRPr b="0" lang="en-US" sz="900" strike="noStrike" u="none">
              <a:solidFill>
                <a:srgbClr val="ffffff"/>
              </a:solidFill>
              <a:effectLst/>
              <a:uFillTx/>
              <a:latin typeface="Arial"/>
            </a:endParaRPr>
          </a:p>
        </p:txBody>
      </p:sp>
      <p:sp>
        <p:nvSpPr>
          <p:cNvPr id="505" name="Shape 12"/>
          <p:cNvSpPr/>
          <p:nvPr/>
        </p:nvSpPr>
        <p:spPr>
          <a:xfrm>
            <a:off x="5349240" y="1974960"/>
            <a:ext cx="3382560" cy="69408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6" name="Shape 13"/>
          <p:cNvSpPr/>
          <p:nvPr/>
        </p:nvSpPr>
        <p:spPr>
          <a:xfrm>
            <a:off x="5349240" y="1974960"/>
            <a:ext cx="54000" cy="69408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7" name="Text 14"/>
          <p:cNvSpPr/>
          <p:nvPr/>
        </p:nvSpPr>
        <p:spPr>
          <a:xfrm>
            <a:off x="5577840" y="2020680"/>
            <a:ext cx="30168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Throughput increase</a:t>
            </a:r>
            <a:endParaRPr b="0" lang="en-US" sz="1200" strike="noStrike" u="none">
              <a:solidFill>
                <a:srgbClr val="ffffff"/>
              </a:solidFill>
              <a:effectLst/>
              <a:uFillTx/>
              <a:latin typeface="Arial"/>
            </a:endParaRPr>
          </a:p>
        </p:txBody>
      </p:sp>
      <p:sp>
        <p:nvSpPr>
          <p:cNvPr id="508" name="Text 15"/>
          <p:cNvSpPr/>
          <p:nvPr/>
        </p:nvSpPr>
        <p:spPr>
          <a:xfrm>
            <a:off x="5577840" y="2267640"/>
            <a:ext cx="301680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00" strike="noStrike" u="none">
                <a:solidFill>
                  <a:srgbClr val="b8ccdf"/>
                </a:solidFill>
                <a:effectLst/>
                <a:uFillTx/>
                <a:latin typeface="Calibri"/>
                <a:ea typeface="Calibri"/>
              </a:rPr>
              <a:t>Legal team reviews 400 contracts/yr with fixed headcount. Same team, better triage = more contracts reviewed at same quality.</a:t>
            </a:r>
            <a:endParaRPr b="0" lang="en-US" sz="900" strike="noStrike" u="none">
              <a:solidFill>
                <a:srgbClr val="ffffff"/>
              </a:solidFill>
              <a:effectLst/>
              <a:uFillTx/>
              <a:latin typeface="Arial"/>
            </a:endParaRPr>
          </a:p>
        </p:txBody>
      </p:sp>
      <p:sp>
        <p:nvSpPr>
          <p:cNvPr id="509" name="Shape 16"/>
          <p:cNvSpPr/>
          <p:nvPr/>
        </p:nvSpPr>
        <p:spPr>
          <a:xfrm>
            <a:off x="5349240" y="2779920"/>
            <a:ext cx="3382560" cy="69408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0" name="Shape 17"/>
          <p:cNvSpPr/>
          <p:nvPr/>
        </p:nvSpPr>
        <p:spPr>
          <a:xfrm>
            <a:off x="5349240" y="2779920"/>
            <a:ext cx="54000" cy="694080"/>
          </a:xfrm>
          <a:prstGeom prst="rect">
            <a:avLst/>
          </a:prstGeom>
          <a:solidFill>
            <a:srgbClr val="c9933a"/>
          </a:solidFill>
          <a:ln w="12700">
            <a:solidFill>
              <a:srgbClr val="c9933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1" name="Text 18"/>
          <p:cNvSpPr/>
          <p:nvPr/>
        </p:nvSpPr>
        <p:spPr>
          <a:xfrm>
            <a:off x="5577840" y="2825640"/>
            <a:ext cx="301680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5edd6"/>
                </a:solidFill>
                <a:effectLst/>
                <a:uFillTx/>
                <a:latin typeface="Calibri"/>
                <a:ea typeface="Calibri"/>
              </a:rPr>
              <a:t>Audit trail</a:t>
            </a:r>
            <a:endParaRPr b="0" lang="en-US" sz="1200" strike="noStrike" u="none">
              <a:solidFill>
                <a:srgbClr val="ffffff"/>
              </a:solidFill>
              <a:effectLst/>
              <a:uFillTx/>
              <a:latin typeface="Arial"/>
            </a:endParaRPr>
          </a:p>
        </p:txBody>
      </p:sp>
      <p:sp>
        <p:nvSpPr>
          <p:cNvPr id="512" name="Text 19"/>
          <p:cNvSpPr/>
          <p:nvPr/>
        </p:nvSpPr>
        <p:spPr>
          <a:xfrm>
            <a:off x="5577840" y="3072240"/>
            <a:ext cx="3016800" cy="34668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900" strike="noStrike" u="none">
                <a:solidFill>
                  <a:srgbClr val="b8ccdf"/>
                </a:solidFill>
                <a:effectLst/>
                <a:uFillTx/>
                <a:latin typeface="Calibri"/>
                <a:ea typeface="Calibri"/>
              </a:rPr>
              <a:t>Every prediction is logged with the extracted clause text and confidence score. Creates a reviewable record for compliance.</a:t>
            </a:r>
            <a:endParaRPr b="0" lang="en-US" sz="900" strike="noStrike" u="none">
              <a:solidFill>
                <a:srgbClr val="ffffff"/>
              </a:solidFill>
              <a:effectLst/>
              <a:uFillTx/>
              <a:latin typeface="Arial"/>
            </a:endParaRPr>
          </a:p>
        </p:txBody>
      </p:sp>
      <p:sp>
        <p:nvSpPr>
          <p:cNvPr id="513" name="Shape 20"/>
          <p:cNvSpPr/>
          <p:nvPr/>
        </p:nvSpPr>
        <p:spPr>
          <a:xfrm>
            <a:off x="411480" y="3520440"/>
            <a:ext cx="8320320" cy="502200"/>
          </a:xfrm>
          <a:prstGeom prst="rect">
            <a:avLst/>
          </a:prstGeom>
          <a:solidFill>
            <a:srgbClr val="0a1628"/>
          </a:solidFill>
          <a:ln w="9525">
            <a:solidFill>
              <a:srgbClr val="1e305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4" name="Text 21"/>
          <p:cNvSpPr/>
          <p:nvPr/>
        </p:nvSpPr>
        <p:spPr>
          <a:xfrm>
            <a:off x="567000" y="3547800"/>
            <a:ext cx="155376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b87332"/>
                </a:solidFill>
                <a:effectLst/>
                <a:uFillTx/>
                <a:latin typeface="Calibri"/>
                <a:ea typeface="Calibri"/>
              </a:rPr>
              <a:t>⚠  Not legal advice.  </a:t>
            </a:r>
            <a:endParaRPr b="0" lang="en-US" sz="1050" strike="noStrike" u="none">
              <a:solidFill>
                <a:srgbClr val="ffffff"/>
              </a:solidFill>
              <a:effectLst/>
              <a:uFillTx/>
              <a:latin typeface="Arial"/>
            </a:endParaRPr>
          </a:p>
        </p:txBody>
      </p:sp>
      <p:sp>
        <p:nvSpPr>
          <p:cNvPr id="515" name="Text 22"/>
          <p:cNvSpPr/>
          <p:nvPr/>
        </p:nvSpPr>
        <p:spPr>
          <a:xfrm>
            <a:off x="2057400" y="3547800"/>
            <a:ext cx="6537240" cy="438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trike="noStrike" u="none">
                <a:solidFill>
                  <a:srgbClr val="8ca0bb"/>
                </a:solidFill>
                <a:effectLst/>
                <a:uFillTx/>
                <a:latin typeface="Calibri"/>
                <a:ea typeface="Calibri"/>
              </a:rPr>
              <a:t>This system flags clauses for attorney review — it reduces the volume requiring review, not the need for review. Every contract still requires human sign-off before execution.</a:t>
            </a:r>
            <a:endParaRPr b="0" lang="en-US" sz="1050" strike="noStrike" u="none">
              <a:solidFill>
                <a:srgbClr val="ffffff"/>
              </a:solidFill>
              <a:effectLst/>
              <a:uFillTx/>
              <a:latin typeface="Arial"/>
            </a:endParaRPr>
          </a:p>
        </p:txBody>
      </p:sp>
      <p:sp>
        <p:nvSpPr>
          <p:cNvPr id="516" name="Text 23"/>
          <p:cNvSpPr/>
          <p:nvPr/>
        </p:nvSpPr>
        <p:spPr>
          <a:xfrm>
            <a:off x="411480" y="4160520"/>
            <a:ext cx="1370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01" strike="noStrike" u="none">
                <a:solidFill>
                  <a:srgbClr val="c9933a"/>
                </a:solidFill>
                <a:effectLst/>
                <a:uFillTx/>
                <a:latin typeface="Calibri"/>
                <a:ea typeface="Calibri"/>
              </a:rPr>
              <a:t>Next steps</a:t>
            </a:r>
            <a:endParaRPr b="0" lang="en-US" sz="1050" strike="noStrike" u="none">
              <a:solidFill>
                <a:srgbClr val="ffffff"/>
              </a:solidFill>
              <a:effectLst/>
              <a:uFillTx/>
              <a:latin typeface="Arial"/>
            </a:endParaRPr>
          </a:p>
        </p:txBody>
      </p:sp>
      <p:sp>
        <p:nvSpPr>
          <p:cNvPr id="517" name="Text 24"/>
          <p:cNvSpPr/>
          <p:nvPr/>
        </p:nvSpPr>
        <p:spPr>
          <a:xfrm>
            <a:off x="411480" y="4462200"/>
            <a:ext cx="8320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Validate LegalBERT hypothesis: Uncapped Liability F1 ≥ 0.60 (currently 0.000 for all classical models)</a:t>
            </a:r>
            <a:endParaRPr b="0" lang="en-US" sz="1050" strike="noStrike" u="none">
              <a:solidFill>
                <a:srgbClr val="ffffff"/>
              </a:solidFill>
              <a:effectLst/>
              <a:uFillTx/>
              <a:latin typeface="Arial"/>
            </a:endParaRPr>
          </a:p>
        </p:txBody>
      </p:sp>
      <p:sp>
        <p:nvSpPr>
          <p:cNvPr id="518" name="Text 25"/>
          <p:cNvSpPr/>
          <p:nvPr/>
        </p:nvSpPr>
        <p:spPr>
          <a:xfrm>
            <a:off x="411480" y="4700160"/>
            <a:ext cx="8320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Augment training with CourtListener private company contracts to address Fortune 500 selection bias</a:t>
            </a:r>
            <a:endParaRPr b="0" lang="en-US" sz="1050" strike="noStrike" u="none">
              <a:solidFill>
                <a:srgbClr val="ffffff"/>
              </a:solidFill>
              <a:effectLst/>
              <a:uFillTx/>
              <a:latin typeface="Arial"/>
            </a:endParaRPr>
          </a:p>
        </p:txBody>
      </p:sp>
      <p:sp>
        <p:nvSpPr>
          <p:cNvPr id="519" name="Text 26"/>
          <p:cNvSpPr/>
          <p:nvPr/>
        </p:nvSpPr>
        <p:spPr>
          <a:xfrm>
            <a:off x="411480" y="4937760"/>
            <a:ext cx="832032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c9933a"/>
                </a:solidFill>
                <a:effectLst/>
                <a:uFillTx/>
                <a:latin typeface="Calibri"/>
                <a:ea typeface="Calibri"/>
              </a:rPr>
              <a:t>→  </a:t>
            </a:r>
            <a:r>
              <a:rPr b="0" lang="en-US" sz="1050" strike="noStrike" u="none">
                <a:solidFill>
                  <a:srgbClr val="b8ccdf"/>
                </a:solidFill>
                <a:effectLst/>
                <a:uFillTx/>
                <a:latin typeface="Calibri"/>
                <a:ea typeface="Calibri"/>
              </a:rPr>
              <a:t>Connect Next.js frontend to trained RoBERTa model backend for live demo</a:t>
            </a:r>
            <a:endParaRPr b="0" lang="en-US" sz="10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c1a"/>
        </a:solidFill>
      </p:bgPr>
    </p:bg>
    <p:spTree>
      <p:nvGrpSpPr>
        <p:cNvPr id="1" name=""/>
        <p:cNvGrpSpPr/>
        <p:nvPr/>
      </p:nvGrpSpPr>
      <p:grpSpPr>
        <a:xfrm>
          <a:off x="0" y="0"/>
          <a:ext cx="0" cy="0"/>
          <a:chOff x="0" y="0"/>
          <a:chExt cx="0" cy="0"/>
        </a:xfrm>
      </p:grpSpPr>
      <p:sp>
        <p:nvSpPr>
          <p:cNvPr id="520" name="Shape 0"/>
          <p:cNvSpPr/>
          <p:nvPr/>
        </p:nvSpPr>
        <p:spPr>
          <a:xfrm>
            <a:off x="6858000" y="-1371600"/>
            <a:ext cx="3656880" cy="3656880"/>
          </a:xfrm>
          <a:prstGeom prst="ellipse">
            <a:avLst/>
          </a:prstGeom>
          <a:solidFill>
            <a:srgbClr val="c9933a">
              <a:alpha val="6000"/>
            </a:srgbClr>
          </a:solidFill>
          <a:ln w="12700">
            <a:solidFill>
              <a:srgbClr val="c9933a">
                <a:alpha val="6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1" name="Shape 1"/>
          <p:cNvSpPr/>
          <p:nvPr/>
        </p:nvSpPr>
        <p:spPr>
          <a:xfrm>
            <a:off x="-457200" y="1371600"/>
            <a:ext cx="4571280" cy="4571280"/>
          </a:xfrm>
          <a:prstGeom prst="ellipse">
            <a:avLst/>
          </a:prstGeom>
          <a:solidFill>
            <a:srgbClr val="c9933a">
              <a:alpha val="5000"/>
            </a:srgbClr>
          </a:solidFill>
          <a:ln w="12700">
            <a:solidFill>
              <a:srgbClr val="c9933a">
                <a:alpha val="8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2" name="Shape 2"/>
          <p:cNvSpPr/>
          <p:nvPr/>
        </p:nvSpPr>
        <p:spPr>
          <a:xfrm>
            <a:off x="6858000" y="-457200"/>
            <a:ext cx="3199680" cy="3199680"/>
          </a:xfrm>
          <a:prstGeom prst="ellipse">
            <a:avLst/>
          </a:prstGeom>
          <a:solidFill>
            <a:srgbClr val="c9933a">
              <a:alpha val="8000"/>
            </a:srgbClr>
          </a:solidFill>
          <a:ln w="12700">
            <a:solidFill>
              <a:srgbClr val="c9933a">
                <a:alpha val="1000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3" name="Text 3"/>
          <p:cNvSpPr/>
          <p:nvPr/>
        </p:nvSpPr>
        <p:spPr>
          <a:xfrm>
            <a:off x="502920" y="777240"/>
            <a:ext cx="45712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300" strike="noStrike" u="none">
                <a:solidFill>
                  <a:srgbClr val="c9933a"/>
                </a:solidFill>
                <a:effectLst/>
                <a:uFillTx/>
                <a:latin typeface="Calibri"/>
                <a:ea typeface="Calibri"/>
              </a:rPr>
              <a:t>The work</a:t>
            </a:r>
            <a:endParaRPr b="0" lang="en-US" sz="1400" strike="noStrike" u="none">
              <a:solidFill>
                <a:srgbClr val="ffffff"/>
              </a:solidFill>
              <a:effectLst/>
              <a:uFillTx/>
              <a:latin typeface="Arial"/>
            </a:endParaRPr>
          </a:p>
        </p:txBody>
      </p:sp>
      <p:sp>
        <p:nvSpPr>
          <p:cNvPr id="524" name="Text 4"/>
          <p:cNvSpPr/>
          <p:nvPr/>
        </p:nvSpPr>
        <p:spPr>
          <a:xfrm>
            <a:off x="502920" y="1234440"/>
            <a:ext cx="6857280" cy="12794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4600" strike="noStrike" u="none">
                <a:solidFill>
                  <a:srgbClr val="f5edd6"/>
                </a:solidFill>
                <a:effectLst/>
                <a:uFillTx/>
                <a:latin typeface="Georgia"/>
                <a:ea typeface="Georgia"/>
              </a:rPr>
              <a:t>5 model iterations.</a:t>
            </a:r>
            <a:endParaRPr b="0" lang="en-US" sz="4600" strike="noStrike" u="none">
              <a:solidFill>
                <a:srgbClr val="ffffff"/>
              </a:solidFill>
              <a:effectLst/>
              <a:uFillTx/>
              <a:latin typeface="Arial"/>
            </a:endParaRPr>
          </a:p>
          <a:p>
            <a:pPr defTabSz="914400">
              <a:lnSpc>
                <a:spcPct val="110000"/>
              </a:lnSpc>
              <a:tabLst>
                <a:tab algn="l" pos="0"/>
              </a:tabLst>
            </a:pPr>
            <a:r>
              <a:rPr b="1" lang="en-US" sz="4600" strike="noStrike" u="none">
                <a:solidFill>
                  <a:srgbClr val="f5edd6"/>
                </a:solidFill>
                <a:effectLst/>
                <a:uFillTx/>
                <a:latin typeface="Georgia"/>
                <a:ea typeface="Georgia"/>
              </a:rPr>
              <a:t>1 clear direction.</a:t>
            </a:r>
            <a:endParaRPr b="0" lang="en-US" sz="4600" strike="noStrike" u="none">
              <a:solidFill>
                <a:srgbClr val="ffffff"/>
              </a:solidFill>
              <a:effectLst/>
              <a:uFillTx/>
              <a:latin typeface="Arial"/>
            </a:endParaRPr>
          </a:p>
        </p:txBody>
      </p:sp>
      <p:sp>
        <p:nvSpPr>
          <p:cNvPr id="525" name="Shape 5"/>
          <p:cNvSpPr/>
          <p:nvPr/>
        </p:nvSpPr>
        <p:spPr>
          <a:xfrm>
            <a:off x="502920" y="2633400"/>
            <a:ext cx="1828080" cy="49680"/>
          </a:xfrm>
          <a:prstGeom prst="rect">
            <a:avLst/>
          </a:prstGeom>
          <a:solidFill>
            <a:srgbClr val="c9933a"/>
          </a:solidFill>
          <a:ln w="12700">
            <a:solidFill>
              <a:srgbClr val="c9933a"/>
            </a:solidFill>
            <a:round/>
          </a:ln>
        </p:spPr>
        <p:style>
          <a:lnRef idx="0"/>
          <a:fillRef idx="0"/>
          <a:effectRef idx="0"/>
          <a:fontRef idx="minor"/>
        </p:style>
        <p:txBody>
          <a:bodyPr lIns="90000" rIns="90000" tIns="5400" bIns="5400" anchor="t">
            <a:noAutofit/>
          </a:bodyPr>
          <a:p>
            <a:pPr>
              <a:lnSpc>
                <a:spcPct val="100000"/>
              </a:lnSpc>
            </a:pPr>
            <a:endParaRPr b="0" lang="en-US" sz="1800" strike="noStrike" u="none">
              <a:solidFill>
                <a:srgbClr val="ffffff"/>
              </a:solidFill>
              <a:effectLst/>
              <a:uFillTx/>
              <a:latin typeface="Arial"/>
            </a:endParaRPr>
          </a:p>
        </p:txBody>
      </p:sp>
      <p:sp>
        <p:nvSpPr>
          <p:cNvPr id="526" name="Text 6"/>
          <p:cNvSpPr/>
          <p:nvPr/>
        </p:nvSpPr>
        <p:spPr>
          <a:xfrm>
            <a:off x="502920" y="2788920"/>
            <a:ext cx="2651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50" strike="noStrike" u="none">
                <a:solidFill>
                  <a:srgbClr val="c9933a"/>
                </a:solidFill>
                <a:effectLst/>
                <a:uFillTx/>
                <a:latin typeface="Calibri"/>
                <a:ea typeface="Calibri"/>
              </a:rPr>
              <a:t>What was built</a:t>
            </a:r>
            <a:endParaRPr b="0" lang="en-US" sz="1050" strike="noStrike" u="none">
              <a:solidFill>
                <a:srgbClr val="ffffff"/>
              </a:solidFill>
              <a:effectLst/>
              <a:uFillTx/>
              <a:latin typeface="Arial"/>
            </a:endParaRPr>
          </a:p>
        </p:txBody>
      </p:sp>
      <p:sp>
        <p:nvSpPr>
          <p:cNvPr id="527" name="Text 7"/>
          <p:cNvSpPr/>
          <p:nvPr/>
        </p:nvSpPr>
        <p:spPr>
          <a:xfrm>
            <a:off x="502920" y="312732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LR + TF-IDF baseline with iterative stratification</a:t>
            </a:r>
            <a:endParaRPr b="0" lang="en-US" sz="1000" strike="noStrike" u="none">
              <a:solidFill>
                <a:srgbClr val="ffffff"/>
              </a:solidFill>
              <a:effectLst/>
              <a:uFillTx/>
              <a:latin typeface="Arial"/>
            </a:endParaRPr>
          </a:p>
        </p:txBody>
      </p:sp>
      <p:sp>
        <p:nvSpPr>
          <p:cNvPr id="528" name="Text 8"/>
          <p:cNvSpPr/>
          <p:nvPr/>
        </p:nvSpPr>
        <p:spPr>
          <a:xfrm>
            <a:off x="502920" y="349308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RF with 4 controlled ablations — threshold tuning as key lever</a:t>
            </a:r>
            <a:endParaRPr b="0" lang="en-US" sz="1000" strike="noStrike" u="none">
              <a:solidFill>
                <a:srgbClr val="ffffff"/>
              </a:solidFill>
              <a:effectLst/>
              <a:uFillTx/>
              <a:latin typeface="Arial"/>
            </a:endParaRPr>
          </a:p>
        </p:txBody>
      </p:sp>
      <p:sp>
        <p:nvSpPr>
          <p:cNvPr id="529" name="Text 9"/>
          <p:cNvSpPr/>
          <p:nvPr/>
        </p:nvSpPr>
        <p:spPr>
          <a:xfrm>
            <a:off x="502920" y="385884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MLP cross-check proving representation is the bottleneck</a:t>
            </a:r>
            <a:endParaRPr b="0" lang="en-US" sz="1000" strike="noStrike" u="none">
              <a:solidFill>
                <a:srgbClr val="ffffff"/>
              </a:solidFill>
              <a:effectLst/>
              <a:uFillTx/>
              <a:latin typeface="Arial"/>
            </a:endParaRPr>
          </a:p>
        </p:txBody>
      </p:sp>
      <p:sp>
        <p:nvSpPr>
          <p:cNvPr id="530" name="Text 10"/>
          <p:cNvSpPr/>
          <p:nvPr/>
        </p:nvSpPr>
        <p:spPr>
          <a:xfrm>
            <a:off x="502920" y="422460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RoBERTa extractive QA on real CUAD data</a:t>
            </a:r>
            <a:endParaRPr b="0" lang="en-US" sz="1000" strike="noStrike" u="none">
              <a:solidFill>
                <a:srgbClr val="ffffff"/>
              </a:solidFill>
              <a:effectLst/>
              <a:uFillTx/>
              <a:latin typeface="Arial"/>
            </a:endParaRPr>
          </a:p>
        </p:txBody>
      </p:sp>
      <p:sp>
        <p:nvSpPr>
          <p:cNvPr id="531" name="Text 11"/>
          <p:cNvSpPr/>
          <p:nvPr/>
        </p:nvSpPr>
        <p:spPr>
          <a:xfrm>
            <a:off x="502920" y="459036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Next.js frontend + Python scoring backend</a:t>
            </a:r>
            <a:endParaRPr b="0" lang="en-US" sz="1000" strike="noStrike" u="none">
              <a:solidFill>
                <a:srgbClr val="ffffff"/>
              </a:solidFill>
              <a:effectLst/>
              <a:uFillTx/>
              <a:latin typeface="Arial"/>
            </a:endParaRPr>
          </a:p>
        </p:txBody>
      </p:sp>
      <p:sp>
        <p:nvSpPr>
          <p:cNvPr id="532" name="Text 12"/>
          <p:cNvSpPr/>
          <p:nvPr/>
        </p:nvSpPr>
        <p:spPr>
          <a:xfrm>
            <a:off x="3383280" y="2788920"/>
            <a:ext cx="2651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50" strike="noStrike" u="none">
                <a:solidFill>
                  <a:srgbClr val="c9933a"/>
                </a:solidFill>
                <a:effectLst/>
                <a:uFillTx/>
                <a:latin typeface="Calibri"/>
                <a:ea typeface="Calibri"/>
              </a:rPr>
              <a:t>What was learned</a:t>
            </a:r>
            <a:endParaRPr b="0" lang="en-US" sz="1050" strike="noStrike" u="none">
              <a:solidFill>
                <a:srgbClr val="ffffff"/>
              </a:solidFill>
              <a:effectLst/>
              <a:uFillTx/>
              <a:latin typeface="Arial"/>
            </a:endParaRPr>
          </a:p>
        </p:txBody>
      </p:sp>
      <p:sp>
        <p:nvSpPr>
          <p:cNvPr id="533" name="Text 13"/>
          <p:cNvSpPr/>
          <p:nvPr/>
        </p:nvSpPr>
        <p:spPr>
          <a:xfrm>
            <a:off x="3383280" y="312732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Macro-F1 &gt; micro-F1 for imbalanced multi-label tasks</a:t>
            </a:r>
            <a:endParaRPr b="0" lang="en-US" sz="1000" strike="noStrike" u="none">
              <a:solidFill>
                <a:srgbClr val="ffffff"/>
              </a:solidFill>
              <a:effectLst/>
              <a:uFillTx/>
              <a:latin typeface="Arial"/>
            </a:endParaRPr>
          </a:p>
        </p:txBody>
      </p:sp>
      <p:sp>
        <p:nvSpPr>
          <p:cNvPr id="534" name="Text 14"/>
          <p:cNvSpPr/>
          <p:nvPr/>
        </p:nvSpPr>
        <p:spPr>
          <a:xfrm>
            <a:off x="3383280" y="349308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Threshold tuning is the highest-ROI optimization</a:t>
            </a:r>
            <a:endParaRPr b="0" lang="en-US" sz="1000" strike="noStrike" u="none">
              <a:solidFill>
                <a:srgbClr val="ffffff"/>
              </a:solidFill>
              <a:effectLst/>
              <a:uFillTx/>
              <a:latin typeface="Arial"/>
            </a:endParaRPr>
          </a:p>
        </p:txBody>
      </p:sp>
      <p:sp>
        <p:nvSpPr>
          <p:cNvPr id="535" name="Text 15"/>
          <p:cNvSpPr/>
          <p:nvPr/>
        </p:nvSpPr>
        <p:spPr>
          <a:xfrm>
            <a:off x="3383280" y="385884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Negative results (MLP) are as informative as positive ones</a:t>
            </a:r>
            <a:endParaRPr b="0" lang="en-US" sz="1000" strike="noStrike" u="none">
              <a:solidFill>
                <a:srgbClr val="ffffff"/>
              </a:solidFill>
              <a:effectLst/>
              <a:uFillTx/>
              <a:latin typeface="Arial"/>
            </a:endParaRPr>
          </a:p>
        </p:txBody>
      </p:sp>
      <p:sp>
        <p:nvSpPr>
          <p:cNvPr id="536" name="Text 16"/>
          <p:cNvSpPr/>
          <p:nvPr/>
        </p:nvSpPr>
        <p:spPr>
          <a:xfrm>
            <a:off x="3383280" y="422460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Architecture should follow data format, not convention</a:t>
            </a:r>
            <a:endParaRPr b="0" lang="en-US" sz="1000" strike="noStrike" u="none">
              <a:solidFill>
                <a:srgbClr val="ffffff"/>
              </a:solidFill>
              <a:effectLst/>
              <a:uFillTx/>
              <a:latin typeface="Arial"/>
            </a:endParaRPr>
          </a:p>
        </p:txBody>
      </p:sp>
      <p:sp>
        <p:nvSpPr>
          <p:cNvPr id="537" name="Text 17"/>
          <p:cNvSpPr/>
          <p:nvPr/>
        </p:nvSpPr>
        <p:spPr>
          <a:xfrm>
            <a:off x="3383280" y="459036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Colab engineering issues are real and require specific fixes</a:t>
            </a:r>
            <a:endParaRPr b="0" lang="en-US" sz="1000" strike="noStrike" u="none">
              <a:solidFill>
                <a:srgbClr val="ffffff"/>
              </a:solidFill>
              <a:effectLst/>
              <a:uFillTx/>
              <a:latin typeface="Arial"/>
            </a:endParaRPr>
          </a:p>
        </p:txBody>
      </p:sp>
      <p:sp>
        <p:nvSpPr>
          <p:cNvPr id="538" name="Text 18"/>
          <p:cNvSpPr/>
          <p:nvPr/>
        </p:nvSpPr>
        <p:spPr>
          <a:xfrm>
            <a:off x="6263640" y="2788920"/>
            <a:ext cx="26510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50" strike="noStrike" u="none">
                <a:solidFill>
                  <a:srgbClr val="c9933a"/>
                </a:solidFill>
                <a:effectLst/>
                <a:uFillTx/>
                <a:latin typeface="Calibri"/>
                <a:ea typeface="Calibri"/>
              </a:rPr>
              <a:t>Business result</a:t>
            </a:r>
            <a:endParaRPr b="0" lang="en-US" sz="1050" strike="noStrike" u="none">
              <a:solidFill>
                <a:srgbClr val="ffffff"/>
              </a:solidFill>
              <a:effectLst/>
              <a:uFillTx/>
              <a:latin typeface="Arial"/>
            </a:endParaRPr>
          </a:p>
        </p:txBody>
      </p:sp>
      <p:sp>
        <p:nvSpPr>
          <p:cNvPr id="539" name="Text 19"/>
          <p:cNvSpPr/>
          <p:nvPr/>
        </p:nvSpPr>
        <p:spPr>
          <a:xfrm>
            <a:off x="6263640" y="312732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40% auto-clear target — measurable attorney time saved</a:t>
            </a:r>
            <a:endParaRPr b="0" lang="en-US" sz="1000" strike="noStrike" u="none">
              <a:solidFill>
                <a:srgbClr val="ffffff"/>
              </a:solidFill>
              <a:effectLst/>
              <a:uFillTx/>
              <a:latin typeface="Arial"/>
            </a:endParaRPr>
          </a:p>
        </p:txBody>
      </p:sp>
      <p:sp>
        <p:nvSpPr>
          <p:cNvPr id="540" name="Text 20"/>
          <p:cNvSpPr/>
          <p:nvPr/>
        </p:nvSpPr>
        <p:spPr>
          <a:xfrm>
            <a:off x="6263640" y="349308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Exact clause text extraction, not just binary flags</a:t>
            </a:r>
            <a:endParaRPr b="0" lang="en-US" sz="1000" strike="noStrike" u="none">
              <a:solidFill>
                <a:srgbClr val="ffffff"/>
              </a:solidFill>
              <a:effectLst/>
              <a:uFillTx/>
              <a:latin typeface="Arial"/>
            </a:endParaRPr>
          </a:p>
        </p:txBody>
      </p:sp>
      <p:sp>
        <p:nvSpPr>
          <p:cNvPr id="541" name="Text 21"/>
          <p:cNvSpPr/>
          <p:nvPr/>
        </p:nvSpPr>
        <p:spPr>
          <a:xfrm>
            <a:off x="6263640" y="385884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Risk score 0–100 with three-tier triage</a:t>
            </a:r>
            <a:endParaRPr b="0" lang="en-US" sz="1000" strike="noStrike" u="none">
              <a:solidFill>
                <a:srgbClr val="ffffff"/>
              </a:solidFill>
              <a:effectLst/>
              <a:uFillTx/>
              <a:latin typeface="Arial"/>
            </a:endParaRPr>
          </a:p>
        </p:txBody>
      </p:sp>
      <p:sp>
        <p:nvSpPr>
          <p:cNvPr id="542" name="Text 22"/>
          <p:cNvSpPr/>
          <p:nvPr/>
        </p:nvSpPr>
        <p:spPr>
          <a:xfrm>
            <a:off x="6263640" y="422460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Fairness and robustness documented for real deployment</a:t>
            </a:r>
            <a:endParaRPr b="0" lang="en-US" sz="1000" strike="noStrike" u="none">
              <a:solidFill>
                <a:srgbClr val="ffffff"/>
              </a:solidFill>
              <a:effectLst/>
              <a:uFillTx/>
              <a:latin typeface="Arial"/>
            </a:endParaRPr>
          </a:p>
        </p:txBody>
      </p:sp>
      <p:sp>
        <p:nvSpPr>
          <p:cNvPr id="543" name="Text 23"/>
          <p:cNvSpPr/>
          <p:nvPr/>
        </p:nvSpPr>
        <p:spPr>
          <a:xfrm>
            <a:off x="6263640" y="4590360"/>
            <a:ext cx="2651040" cy="32832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1" lang="en-US" sz="1000" strike="noStrike" u="none">
                <a:solidFill>
                  <a:srgbClr val="c9933a"/>
                </a:solidFill>
                <a:effectLst/>
                <a:uFillTx/>
                <a:latin typeface="Calibri"/>
                <a:ea typeface="Calibri"/>
              </a:rPr>
              <a:t>· </a:t>
            </a:r>
            <a:r>
              <a:rPr b="0" lang="en-US" sz="1000" strike="noStrike" u="none">
                <a:solidFill>
                  <a:srgbClr val="b8ccdf"/>
                </a:solidFill>
                <a:effectLst/>
                <a:uFillTx/>
                <a:latin typeface="Calibri"/>
                <a:ea typeface="Calibri"/>
              </a:rPr>
              <a:t>Not legal advice — augments, doesn't replace, attorneys</a:t>
            </a:r>
            <a:endParaRPr b="0" lang="en-US" sz="1000" strike="noStrike" u="none">
              <a:solidFill>
                <a:srgbClr val="ffffff"/>
              </a:solidFill>
              <a:effectLst/>
              <a:uFillTx/>
              <a:latin typeface="Arial"/>
            </a:endParaRPr>
          </a:p>
        </p:txBody>
      </p:sp>
      <p:sp>
        <p:nvSpPr>
          <p:cNvPr id="544" name="Text 24"/>
          <p:cNvSpPr/>
          <p:nvPr/>
        </p:nvSpPr>
        <p:spPr>
          <a:xfrm>
            <a:off x="502920" y="4846320"/>
            <a:ext cx="813744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trike="noStrike" u="none">
                <a:solidFill>
                  <a:srgbClr val="2a4060"/>
                </a:solidFill>
                <a:effectLst/>
                <a:uFillTx/>
                <a:latin typeface="Calibri"/>
                <a:ea typeface="Calibri"/>
              </a:rPr>
              <a:t>Fresnel Fabian  ·  MPS Applied Machine Intelligence  ·  Northeastern Roux Institute  ·  2026</a:t>
            </a:r>
            <a:endParaRPr b="0" lang="en-US" sz="9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688</TotalTime>
  <Application>LibreOffice/25.2.7.2$Linux_X86_64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2026-03-23T22:47:12Z</dcterms:created>
  <dc:creator>Fresnel Fabian</dc:creator>
  <dc:description/>
  <dc:language>en-US</dc:language>
  <cp:lastModifiedBy/>
  <dcterms:modified xsi:type="dcterms:W3CDTF">2026-03-24T08:23:28Z</dcterms:modified>
  <cp:revision>3</cp:revision>
  <dc:subject>PptxGenJS Presentation</dc:subject>
  <dc:title>Contract Risk Scoring Engine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